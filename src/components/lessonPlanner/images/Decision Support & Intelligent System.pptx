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Lst>
  <p:sldSz cx="18288000" cy="10287000"/>
  <p:notesSz cx="6858000" cy="9144000"/>
  <p:embeddedFontLst>
    <p:embeddedFont>
      <p:font typeface="Montserrat Bold" charset="1" panose="00000800000000000000"/>
      <p:regular r:id="rId70"/>
    </p:embeddedFont>
    <p:embeddedFont>
      <p:font typeface="Montserrat" charset="1" panose="00000500000000000000"/>
      <p:regular r:id="rId71"/>
    </p:embeddedFont>
    <p:embeddedFont>
      <p:font typeface="HK Modular" charset="1" panose="00000800000000000000"/>
      <p:regular r:id="rId72"/>
    </p:embeddedFont>
    <p:embeddedFont>
      <p:font typeface="Ovo" charset="1" panose="02020502070400060406"/>
      <p:regular r:id="rId7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fonts/font70.fntdata" Type="http://schemas.openxmlformats.org/officeDocument/2006/relationships/font"/><Relationship Id="rId71" Target="fonts/font71.fntdata" Type="http://schemas.openxmlformats.org/officeDocument/2006/relationships/font"/><Relationship Id="rId72" Target="fonts/font72.fntdata" Type="http://schemas.openxmlformats.org/officeDocument/2006/relationships/font"/><Relationship Id="rId73" Target="fonts/font73.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VAE8UEIRJxs.mp4" Type="http://schemas.openxmlformats.org/officeDocument/2006/relationships/video"/><Relationship Id="rId4" Target="../media/VAE8UEIRJxs.mp4" Type="http://schemas.microsoft.com/office/2007/relationships/media"/><Relationship Id="rId5" Target="../media/image2.png" Type="http://schemas.openxmlformats.org/officeDocument/2006/relationships/image"/><Relationship Id="rId6"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devx.com/terms/decision-support-system/" TargetMode="External" Type="http://schemas.openxmlformats.org/officeDocument/2006/relationships/hyperlink"/><Relationship Id="rId3" Target="https://www.devx.com/terms/cognos/" TargetMode="External" Type="http://schemas.openxmlformats.org/officeDocument/2006/relationships/hyperlink"/></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https://www.simplilearn.com/tutorials/mba-preparation-tutorial/what-is-decision-making-explained" TargetMode="External" Type="http://schemas.openxmlformats.org/officeDocument/2006/relationships/hyperlink"/></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https://www.ibm.com/topics/machine-learning" TargetMode="External" Type="http://schemas.openxmlformats.org/officeDocument/2006/relationships/hyperlink"/></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https://www.ibm.com/topics/artificial-intelligence" TargetMode="External" Type="http://schemas.openxmlformats.org/officeDocument/2006/relationships/hyperlink"/><Relationship Id="rId4" Target="https://www.ibm.com/topics/deep-learning" TargetMode="External" Type="http://schemas.openxmlformats.org/officeDocument/2006/relationships/hyperlink"/></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14:trim st="0.0000" end="13958.3333"/>
                </p14:media>
              </p:ext>
            </p:extLst>
          </p:nvPr>
        </p:nvPicPr>
        <p:blipFill>
          <a:blip r:embed="rId2"/>
          <a:srcRect l="0" t="657" r="0" b="657"/>
          <a:stretch>
            <a:fillRect/>
          </a:stretch>
        </p:blipFill>
        <p:spPr>
          <a:xfrm flipH="false" flipV="false">
            <a:off x="0" y="0"/>
            <a:ext cx="18288000" cy="10287000"/>
          </a:xfrm>
          <a:prstGeom prst="rect">
            <a:avLst/>
          </a:prstGeom>
        </p:spPr>
      </p:pic>
      <p:sp>
        <p:nvSpPr>
          <p:cNvPr name="Freeform 3" id="3"/>
          <p:cNvSpPr/>
          <p:nvPr/>
        </p:nvSpPr>
        <p:spPr>
          <a:xfrm flipH="false" flipV="false" rot="0">
            <a:off x="296292" y="174192"/>
            <a:ext cx="2163313" cy="1709017"/>
          </a:xfrm>
          <a:custGeom>
            <a:avLst/>
            <a:gdLst/>
            <a:ahLst/>
            <a:cxnLst/>
            <a:rect r="r" b="b" t="t" l="l"/>
            <a:pathLst>
              <a:path h="1709017" w="2163313">
                <a:moveTo>
                  <a:pt x="0" y="0"/>
                </a:moveTo>
                <a:lnTo>
                  <a:pt x="2163313" y="0"/>
                </a:lnTo>
                <a:lnTo>
                  <a:pt x="2163313" y="1709016"/>
                </a:lnTo>
                <a:lnTo>
                  <a:pt x="0" y="17090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2959593" y="1073979"/>
            <a:ext cx="8378242" cy="3615712"/>
          </a:xfrm>
          <a:prstGeom prst="rect">
            <a:avLst/>
          </a:prstGeom>
        </p:spPr>
        <p:txBody>
          <a:bodyPr anchor="t" rtlCol="false" tIns="0" lIns="0" bIns="0" rIns="0">
            <a:spAutoFit/>
          </a:bodyPr>
          <a:lstStyle/>
          <a:p>
            <a:pPr algn="l">
              <a:lnSpc>
                <a:spcPts val="9658"/>
              </a:lnSpc>
            </a:pPr>
            <a:r>
              <a:rPr lang="en-US" sz="6899" b="true">
                <a:solidFill>
                  <a:srgbClr val="FFFFFF"/>
                </a:solidFill>
                <a:latin typeface="Montserrat Bold"/>
                <a:ea typeface="Montserrat Bold"/>
                <a:cs typeface="Montserrat Bold"/>
                <a:sym typeface="Montserrat Bold"/>
              </a:rPr>
              <a:t>Decision Support and Intelligent System</a:t>
            </a:r>
          </a:p>
        </p:txBody>
      </p:sp>
      <p:sp>
        <p:nvSpPr>
          <p:cNvPr name="TextBox 5" id="5"/>
          <p:cNvSpPr txBox="true"/>
          <p:nvPr/>
        </p:nvSpPr>
        <p:spPr>
          <a:xfrm rot="0">
            <a:off x="2959593" y="5599527"/>
            <a:ext cx="8378242" cy="752496"/>
          </a:xfrm>
          <a:prstGeom prst="rect">
            <a:avLst/>
          </a:prstGeom>
        </p:spPr>
        <p:txBody>
          <a:bodyPr anchor="t" rtlCol="false" tIns="0" lIns="0" bIns="0" rIns="0">
            <a:spAutoFit/>
          </a:bodyPr>
          <a:lstStyle/>
          <a:p>
            <a:pPr algn="l">
              <a:lnSpc>
                <a:spcPts val="6298"/>
              </a:lnSpc>
            </a:pPr>
            <a:r>
              <a:rPr lang="en-US" sz="4499" b="true">
                <a:solidFill>
                  <a:srgbClr val="FFFFFF"/>
                </a:solidFill>
                <a:latin typeface="Montserrat Bold"/>
                <a:ea typeface="Montserrat Bold"/>
                <a:cs typeface="Montserrat Bold"/>
                <a:sym typeface="Montserrat Bold"/>
              </a:rPr>
              <a:t>Presented By :</a:t>
            </a:r>
          </a:p>
        </p:txBody>
      </p:sp>
      <p:sp>
        <p:nvSpPr>
          <p:cNvPr name="TextBox 6" id="6"/>
          <p:cNvSpPr txBox="true"/>
          <p:nvPr/>
        </p:nvSpPr>
        <p:spPr>
          <a:xfrm rot="0">
            <a:off x="2959593" y="6496160"/>
            <a:ext cx="8378242" cy="752496"/>
          </a:xfrm>
          <a:prstGeom prst="rect">
            <a:avLst/>
          </a:prstGeom>
        </p:spPr>
        <p:txBody>
          <a:bodyPr anchor="t" rtlCol="false" tIns="0" lIns="0" bIns="0" rIns="0">
            <a:spAutoFit/>
          </a:bodyPr>
          <a:lstStyle/>
          <a:p>
            <a:pPr algn="l">
              <a:lnSpc>
                <a:spcPts val="6298"/>
              </a:lnSpc>
            </a:pPr>
            <a:r>
              <a:rPr lang="en-US" sz="4499">
                <a:solidFill>
                  <a:srgbClr val="FFFFFF"/>
                </a:solidFill>
                <a:latin typeface="Montserrat"/>
                <a:ea typeface="Montserrat"/>
                <a:cs typeface="Montserrat"/>
                <a:sym typeface="Montserrat"/>
              </a:rPr>
              <a:t>Gagan Pradhan</a:t>
            </a:r>
          </a:p>
        </p:txBody>
      </p:sp>
      <p:sp>
        <p:nvSpPr>
          <p:cNvPr name="TextBox 7" id="7"/>
          <p:cNvSpPr txBox="true"/>
          <p:nvPr/>
        </p:nvSpPr>
        <p:spPr>
          <a:xfrm rot="0">
            <a:off x="2959593" y="7391530"/>
            <a:ext cx="8378242" cy="752496"/>
          </a:xfrm>
          <a:prstGeom prst="rect">
            <a:avLst/>
          </a:prstGeom>
        </p:spPr>
        <p:txBody>
          <a:bodyPr anchor="t" rtlCol="false" tIns="0" lIns="0" bIns="0" rIns="0">
            <a:spAutoFit/>
          </a:bodyPr>
          <a:lstStyle/>
          <a:p>
            <a:pPr algn="l">
              <a:lnSpc>
                <a:spcPts val="6298"/>
              </a:lnSpc>
            </a:pPr>
            <a:r>
              <a:rPr lang="en-US" sz="4499">
                <a:solidFill>
                  <a:srgbClr val="FFFFFF"/>
                </a:solidFill>
                <a:latin typeface="Montserrat"/>
                <a:ea typeface="Montserrat"/>
                <a:cs typeface="Montserrat"/>
                <a:sym typeface="Montserrat"/>
              </a:rPr>
              <a:t>Rekha Angdembe</a:t>
            </a:r>
          </a:p>
        </p:txBody>
      </p:sp>
      <p:sp>
        <p:nvSpPr>
          <p:cNvPr name="TextBox 8" id="8"/>
          <p:cNvSpPr txBox="true"/>
          <p:nvPr/>
        </p:nvSpPr>
        <p:spPr>
          <a:xfrm rot="0">
            <a:off x="2959593" y="8296426"/>
            <a:ext cx="8378242" cy="669945"/>
          </a:xfrm>
          <a:prstGeom prst="rect">
            <a:avLst/>
          </a:prstGeom>
        </p:spPr>
        <p:txBody>
          <a:bodyPr anchor="t" rtlCol="false" tIns="0" lIns="0" bIns="0" rIns="0">
            <a:spAutoFit/>
          </a:bodyPr>
          <a:lstStyle/>
          <a:p>
            <a:pPr algn="l">
              <a:lnSpc>
                <a:spcPts val="5598"/>
              </a:lnSpc>
            </a:pPr>
            <a:r>
              <a:rPr lang="en-US" sz="3999">
                <a:solidFill>
                  <a:srgbClr val="FFFFFF"/>
                </a:solidFill>
                <a:latin typeface="Montserrat"/>
                <a:ea typeface="Montserrat"/>
                <a:cs typeface="Montserrat"/>
                <a:sym typeface="Montserrat"/>
              </a:rPr>
              <a:t>Sanish Regmi</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8790015">
            <a:off x="15016223" y="482590"/>
            <a:ext cx="3857190" cy="3047180"/>
          </a:xfrm>
          <a:custGeom>
            <a:avLst/>
            <a:gdLst/>
            <a:ahLst/>
            <a:cxnLst/>
            <a:rect r="r" b="b" t="t" l="l"/>
            <a:pathLst>
              <a:path h="3047180" w="3857190">
                <a:moveTo>
                  <a:pt x="0" y="0"/>
                </a:moveTo>
                <a:lnTo>
                  <a:pt x="3857190" y="0"/>
                </a:lnTo>
                <a:lnTo>
                  <a:pt x="3857190" y="3047181"/>
                </a:lnTo>
                <a:lnTo>
                  <a:pt x="0" y="3047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030832">
            <a:off x="14929935" y="8650521"/>
            <a:ext cx="2923794" cy="2533955"/>
          </a:xfrm>
          <a:custGeom>
            <a:avLst/>
            <a:gdLst/>
            <a:ahLst/>
            <a:cxnLst/>
            <a:rect r="r" b="b" t="t" l="l"/>
            <a:pathLst>
              <a:path h="2533955" w="2923794">
                <a:moveTo>
                  <a:pt x="0" y="0"/>
                </a:moveTo>
                <a:lnTo>
                  <a:pt x="2923795" y="0"/>
                </a:lnTo>
                <a:lnTo>
                  <a:pt x="2923795" y="2533955"/>
                </a:lnTo>
                <a:lnTo>
                  <a:pt x="0" y="2533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477790" y="369080"/>
            <a:ext cx="10888386" cy="829020"/>
          </a:xfrm>
          <a:prstGeom prst="rect">
            <a:avLst/>
          </a:prstGeom>
        </p:spPr>
        <p:txBody>
          <a:bodyPr anchor="t" rtlCol="false" tIns="0" lIns="0" bIns="0" rIns="0">
            <a:spAutoFit/>
          </a:bodyPr>
          <a:lstStyle/>
          <a:p>
            <a:pPr algn="l">
              <a:lnSpc>
                <a:spcPts val="6879"/>
              </a:lnSpc>
            </a:pPr>
            <a:r>
              <a:rPr lang="en-US" b="true" sz="4984" spc="279">
                <a:solidFill>
                  <a:srgbClr val="FFFFFF"/>
                </a:solidFill>
                <a:latin typeface="Montserrat Bold"/>
                <a:ea typeface="Montserrat Bold"/>
                <a:cs typeface="Montserrat Bold"/>
                <a:sym typeface="Montserrat Bold"/>
              </a:rPr>
              <a:t>Contents</a:t>
            </a:r>
          </a:p>
        </p:txBody>
      </p:sp>
      <p:sp>
        <p:nvSpPr>
          <p:cNvPr name="TextBox 5" id="5"/>
          <p:cNvSpPr txBox="true"/>
          <p:nvPr/>
        </p:nvSpPr>
        <p:spPr>
          <a:xfrm rot="0">
            <a:off x="2698084" y="1757544"/>
            <a:ext cx="9463170" cy="551701"/>
          </a:xfrm>
          <a:prstGeom prst="rect">
            <a:avLst/>
          </a:prstGeom>
        </p:spPr>
        <p:txBody>
          <a:bodyPr anchor="t" rtlCol="false" tIns="0" lIns="0" bIns="0" rIns="0">
            <a:spAutoFit/>
          </a:bodyPr>
          <a:lstStyle/>
          <a:p>
            <a:pPr algn="l">
              <a:lnSpc>
                <a:spcPts val="4407"/>
              </a:lnSpc>
            </a:pPr>
            <a:r>
              <a:rPr lang="en-US" sz="3543" spc="474">
                <a:solidFill>
                  <a:srgbClr val="FFFFFF"/>
                </a:solidFill>
                <a:latin typeface="Montserrat"/>
                <a:ea typeface="Montserrat"/>
                <a:cs typeface="Montserrat"/>
                <a:sym typeface="Montserrat"/>
              </a:rPr>
              <a:t>Dss,operations search models</a:t>
            </a:r>
          </a:p>
        </p:txBody>
      </p:sp>
      <p:sp>
        <p:nvSpPr>
          <p:cNvPr name="TextBox 6" id="6"/>
          <p:cNvSpPr txBox="true"/>
          <p:nvPr/>
        </p:nvSpPr>
        <p:spPr>
          <a:xfrm rot="0">
            <a:off x="2698084" y="3563506"/>
            <a:ext cx="14396451" cy="551701"/>
          </a:xfrm>
          <a:prstGeom prst="rect">
            <a:avLst/>
          </a:prstGeom>
        </p:spPr>
        <p:txBody>
          <a:bodyPr anchor="t" rtlCol="false" tIns="0" lIns="0" bIns="0" rIns="0">
            <a:spAutoFit/>
          </a:bodyPr>
          <a:lstStyle/>
          <a:p>
            <a:pPr algn="l">
              <a:lnSpc>
                <a:spcPts val="4407"/>
              </a:lnSpc>
            </a:pPr>
            <a:r>
              <a:rPr lang="en-US" sz="3543" spc="474">
                <a:solidFill>
                  <a:srgbClr val="FFFFFF"/>
                </a:solidFill>
                <a:latin typeface="Montserrat"/>
                <a:ea typeface="Montserrat"/>
                <a:cs typeface="Montserrat"/>
                <a:sym typeface="Montserrat"/>
              </a:rPr>
              <a:t>Enterprise and executive decision support system</a:t>
            </a:r>
          </a:p>
        </p:txBody>
      </p:sp>
      <p:sp>
        <p:nvSpPr>
          <p:cNvPr name="TextBox 7" id="7"/>
          <p:cNvSpPr txBox="true"/>
          <p:nvPr/>
        </p:nvSpPr>
        <p:spPr>
          <a:xfrm rot="0">
            <a:off x="2698084" y="2545113"/>
            <a:ext cx="9463170" cy="551701"/>
          </a:xfrm>
          <a:prstGeom prst="rect">
            <a:avLst/>
          </a:prstGeom>
        </p:spPr>
        <p:txBody>
          <a:bodyPr anchor="t" rtlCol="false" tIns="0" lIns="0" bIns="0" rIns="0">
            <a:spAutoFit/>
          </a:bodyPr>
          <a:lstStyle/>
          <a:p>
            <a:pPr algn="l">
              <a:lnSpc>
                <a:spcPts val="4407"/>
              </a:lnSpc>
            </a:pPr>
            <a:r>
              <a:rPr lang="en-US" sz="3543" spc="474">
                <a:solidFill>
                  <a:srgbClr val="FFFFFF"/>
                </a:solidFill>
                <a:latin typeface="Montserrat"/>
                <a:ea typeface="Montserrat"/>
                <a:cs typeface="Montserrat"/>
                <a:sym typeface="Montserrat"/>
              </a:rPr>
              <a:t>Group decision support system</a:t>
            </a:r>
          </a:p>
        </p:txBody>
      </p:sp>
      <p:sp>
        <p:nvSpPr>
          <p:cNvPr name="TextBox 8" id="8"/>
          <p:cNvSpPr txBox="true"/>
          <p:nvPr/>
        </p:nvSpPr>
        <p:spPr>
          <a:xfrm rot="0">
            <a:off x="2645579" y="5867025"/>
            <a:ext cx="14448955" cy="1104151"/>
          </a:xfrm>
          <a:prstGeom prst="rect">
            <a:avLst/>
          </a:prstGeom>
        </p:spPr>
        <p:txBody>
          <a:bodyPr anchor="t" rtlCol="false" tIns="0" lIns="0" bIns="0" rIns="0">
            <a:spAutoFit/>
          </a:bodyPr>
          <a:lstStyle/>
          <a:p>
            <a:pPr algn="l">
              <a:lnSpc>
                <a:spcPts val="4407"/>
              </a:lnSpc>
            </a:pPr>
            <a:r>
              <a:rPr lang="en-US" sz="3543" spc="474">
                <a:solidFill>
                  <a:srgbClr val="FFFFFF"/>
                </a:solidFill>
                <a:latin typeface="Montserrat"/>
                <a:ea typeface="Montserrat"/>
                <a:cs typeface="Montserrat"/>
                <a:sym typeface="Montserrat"/>
              </a:rPr>
              <a:t>AI , Neural Networks, Virtual reality, Intelligent agents</a:t>
            </a:r>
          </a:p>
        </p:txBody>
      </p:sp>
      <p:sp>
        <p:nvSpPr>
          <p:cNvPr name="TextBox 9" id="9"/>
          <p:cNvSpPr txBox="true"/>
          <p:nvPr/>
        </p:nvSpPr>
        <p:spPr>
          <a:xfrm rot="0">
            <a:off x="1477790" y="3675551"/>
            <a:ext cx="685783" cy="478223"/>
          </a:xfrm>
          <a:prstGeom prst="rect">
            <a:avLst/>
          </a:prstGeom>
        </p:spPr>
        <p:txBody>
          <a:bodyPr anchor="t" rtlCol="false" tIns="0" lIns="0" bIns="0" rIns="0">
            <a:spAutoFit/>
          </a:bodyPr>
          <a:lstStyle/>
          <a:p>
            <a:pPr algn="ctr">
              <a:lnSpc>
                <a:spcPts val="3801"/>
              </a:lnSpc>
            </a:pPr>
            <a:r>
              <a:rPr lang="en-US" b="true" sz="3055">
                <a:solidFill>
                  <a:srgbClr val="FFFFFF"/>
                </a:solidFill>
                <a:latin typeface="HK Modular"/>
                <a:ea typeface="HK Modular"/>
                <a:cs typeface="HK Modular"/>
                <a:sym typeface="HK Modular"/>
              </a:rPr>
              <a:t>3</a:t>
            </a:r>
          </a:p>
        </p:txBody>
      </p:sp>
      <p:sp>
        <p:nvSpPr>
          <p:cNvPr name="TextBox 10" id="10"/>
          <p:cNvSpPr txBox="true"/>
          <p:nvPr/>
        </p:nvSpPr>
        <p:spPr>
          <a:xfrm rot="0">
            <a:off x="1477790" y="4693476"/>
            <a:ext cx="685783" cy="478223"/>
          </a:xfrm>
          <a:prstGeom prst="rect">
            <a:avLst/>
          </a:prstGeom>
        </p:spPr>
        <p:txBody>
          <a:bodyPr anchor="t" rtlCol="false" tIns="0" lIns="0" bIns="0" rIns="0">
            <a:spAutoFit/>
          </a:bodyPr>
          <a:lstStyle/>
          <a:p>
            <a:pPr algn="ctr">
              <a:lnSpc>
                <a:spcPts val="3801"/>
              </a:lnSpc>
            </a:pPr>
            <a:r>
              <a:rPr lang="en-US" b="true" sz="3055">
                <a:solidFill>
                  <a:srgbClr val="FFFFFF"/>
                </a:solidFill>
                <a:latin typeface="HK Modular"/>
                <a:ea typeface="HK Modular"/>
                <a:cs typeface="HK Modular"/>
                <a:sym typeface="HK Modular"/>
              </a:rPr>
              <a:t>4</a:t>
            </a:r>
          </a:p>
        </p:txBody>
      </p:sp>
      <p:sp>
        <p:nvSpPr>
          <p:cNvPr name="TextBox 11" id="11"/>
          <p:cNvSpPr txBox="true"/>
          <p:nvPr/>
        </p:nvSpPr>
        <p:spPr>
          <a:xfrm rot="0">
            <a:off x="1477790" y="5993684"/>
            <a:ext cx="621141" cy="434942"/>
          </a:xfrm>
          <a:prstGeom prst="rect">
            <a:avLst/>
          </a:prstGeom>
        </p:spPr>
        <p:txBody>
          <a:bodyPr anchor="t" rtlCol="false" tIns="0" lIns="0" bIns="0" rIns="0">
            <a:spAutoFit/>
          </a:bodyPr>
          <a:lstStyle/>
          <a:p>
            <a:pPr algn="ctr">
              <a:lnSpc>
                <a:spcPts val="3443"/>
              </a:lnSpc>
            </a:pPr>
            <a:r>
              <a:rPr lang="en-US" b="true" sz="2767">
                <a:solidFill>
                  <a:srgbClr val="FFFFFF"/>
                </a:solidFill>
                <a:latin typeface="HK Modular"/>
                <a:ea typeface="HK Modular"/>
                <a:cs typeface="HK Modular"/>
                <a:sym typeface="HK Modular"/>
              </a:rPr>
              <a:t>5</a:t>
            </a:r>
          </a:p>
        </p:txBody>
      </p:sp>
      <p:sp>
        <p:nvSpPr>
          <p:cNvPr name="TextBox 12" id="12"/>
          <p:cNvSpPr txBox="true"/>
          <p:nvPr/>
        </p:nvSpPr>
        <p:spPr>
          <a:xfrm rot="0">
            <a:off x="1445469" y="7416813"/>
            <a:ext cx="685783" cy="478223"/>
          </a:xfrm>
          <a:prstGeom prst="rect">
            <a:avLst/>
          </a:prstGeom>
        </p:spPr>
        <p:txBody>
          <a:bodyPr anchor="t" rtlCol="false" tIns="0" lIns="0" bIns="0" rIns="0">
            <a:spAutoFit/>
          </a:bodyPr>
          <a:lstStyle/>
          <a:p>
            <a:pPr algn="ctr">
              <a:lnSpc>
                <a:spcPts val="3801"/>
              </a:lnSpc>
            </a:pPr>
            <a:r>
              <a:rPr lang="en-US" b="true" sz="3055">
                <a:solidFill>
                  <a:srgbClr val="FFFFFF"/>
                </a:solidFill>
                <a:latin typeface="HK Modular"/>
                <a:ea typeface="HK Modular"/>
                <a:cs typeface="HK Modular"/>
                <a:sym typeface="HK Modular"/>
              </a:rPr>
              <a:t>6</a:t>
            </a:r>
          </a:p>
        </p:txBody>
      </p:sp>
      <p:sp>
        <p:nvSpPr>
          <p:cNvPr name="TextBox 13" id="13"/>
          <p:cNvSpPr txBox="true"/>
          <p:nvPr/>
        </p:nvSpPr>
        <p:spPr>
          <a:xfrm rot="0">
            <a:off x="1413147" y="8336585"/>
            <a:ext cx="685783" cy="478223"/>
          </a:xfrm>
          <a:prstGeom prst="rect">
            <a:avLst/>
          </a:prstGeom>
        </p:spPr>
        <p:txBody>
          <a:bodyPr anchor="t" rtlCol="false" tIns="0" lIns="0" bIns="0" rIns="0">
            <a:spAutoFit/>
          </a:bodyPr>
          <a:lstStyle/>
          <a:p>
            <a:pPr algn="ctr">
              <a:lnSpc>
                <a:spcPts val="3801"/>
              </a:lnSpc>
            </a:pPr>
            <a:r>
              <a:rPr lang="en-US" b="true" sz="3055">
                <a:solidFill>
                  <a:srgbClr val="FFFFFF"/>
                </a:solidFill>
                <a:latin typeface="HK Modular"/>
                <a:ea typeface="HK Modular"/>
                <a:cs typeface="HK Modular"/>
                <a:sym typeface="HK Modular"/>
              </a:rPr>
              <a:t>7</a:t>
            </a:r>
          </a:p>
        </p:txBody>
      </p:sp>
      <p:sp>
        <p:nvSpPr>
          <p:cNvPr name="TextBox 14" id="14"/>
          <p:cNvSpPr txBox="true"/>
          <p:nvPr/>
        </p:nvSpPr>
        <p:spPr>
          <a:xfrm rot="0">
            <a:off x="2698084" y="4553324"/>
            <a:ext cx="13830039" cy="1104151"/>
          </a:xfrm>
          <a:prstGeom prst="rect">
            <a:avLst/>
          </a:prstGeom>
        </p:spPr>
        <p:txBody>
          <a:bodyPr anchor="t" rtlCol="false" tIns="0" lIns="0" bIns="0" rIns="0">
            <a:spAutoFit/>
          </a:bodyPr>
          <a:lstStyle/>
          <a:p>
            <a:pPr algn="l">
              <a:lnSpc>
                <a:spcPts val="4407"/>
              </a:lnSpc>
            </a:pPr>
            <a:r>
              <a:rPr lang="en-US" sz="3543" spc="474">
                <a:solidFill>
                  <a:srgbClr val="FFFFFF"/>
                </a:solidFill>
                <a:latin typeface="Montserrat"/>
                <a:ea typeface="Montserrat"/>
                <a:cs typeface="Montserrat"/>
                <a:sym typeface="Montserrat"/>
              </a:rPr>
              <a:t>Knowledge management , Knowledge based expert system</a:t>
            </a:r>
          </a:p>
        </p:txBody>
      </p:sp>
      <p:sp>
        <p:nvSpPr>
          <p:cNvPr name="TextBox 15" id="15"/>
          <p:cNvSpPr txBox="true"/>
          <p:nvPr/>
        </p:nvSpPr>
        <p:spPr>
          <a:xfrm rot="0">
            <a:off x="2698084" y="7343335"/>
            <a:ext cx="13333473" cy="551701"/>
          </a:xfrm>
          <a:prstGeom prst="rect">
            <a:avLst/>
          </a:prstGeom>
        </p:spPr>
        <p:txBody>
          <a:bodyPr anchor="t" rtlCol="false" tIns="0" lIns="0" bIns="0" rIns="0">
            <a:spAutoFit/>
          </a:bodyPr>
          <a:lstStyle/>
          <a:p>
            <a:pPr algn="l">
              <a:lnSpc>
                <a:spcPts val="4407"/>
              </a:lnSpc>
            </a:pPr>
            <a:r>
              <a:rPr lang="en-US" sz="3543" spc="474">
                <a:solidFill>
                  <a:srgbClr val="FFFFFF"/>
                </a:solidFill>
                <a:latin typeface="Montserrat"/>
                <a:ea typeface="Montserrat"/>
                <a:cs typeface="Montserrat"/>
                <a:sym typeface="Montserrat"/>
              </a:rPr>
              <a:t>Data mining , data ware housing , OLAP ,OLTP</a:t>
            </a:r>
          </a:p>
        </p:txBody>
      </p:sp>
      <p:sp>
        <p:nvSpPr>
          <p:cNvPr name="TextBox 16" id="16"/>
          <p:cNvSpPr txBox="true"/>
          <p:nvPr/>
        </p:nvSpPr>
        <p:spPr>
          <a:xfrm rot="0">
            <a:off x="2698084" y="8299846"/>
            <a:ext cx="10170803" cy="551701"/>
          </a:xfrm>
          <a:prstGeom prst="rect">
            <a:avLst/>
          </a:prstGeom>
        </p:spPr>
        <p:txBody>
          <a:bodyPr anchor="t" rtlCol="false" tIns="0" lIns="0" bIns="0" rIns="0">
            <a:spAutoFit/>
          </a:bodyPr>
          <a:lstStyle/>
          <a:p>
            <a:pPr algn="l">
              <a:lnSpc>
                <a:spcPts val="4407"/>
              </a:lnSpc>
            </a:pPr>
            <a:r>
              <a:rPr lang="en-US" sz="3543" spc="474">
                <a:solidFill>
                  <a:srgbClr val="FFFFFF"/>
                </a:solidFill>
                <a:latin typeface="Montserrat"/>
                <a:ea typeface="Montserrat"/>
                <a:cs typeface="Montserrat"/>
                <a:sym typeface="Montserrat"/>
              </a:rPr>
              <a:t>Anomaly and fraud detection</a:t>
            </a:r>
          </a:p>
        </p:txBody>
      </p:sp>
      <p:sp>
        <p:nvSpPr>
          <p:cNvPr name="TextBox 17" id="17"/>
          <p:cNvSpPr txBox="true"/>
          <p:nvPr/>
        </p:nvSpPr>
        <p:spPr>
          <a:xfrm rot="0">
            <a:off x="1477790" y="2635353"/>
            <a:ext cx="685783" cy="478223"/>
          </a:xfrm>
          <a:prstGeom prst="rect">
            <a:avLst/>
          </a:prstGeom>
        </p:spPr>
        <p:txBody>
          <a:bodyPr anchor="t" rtlCol="false" tIns="0" lIns="0" bIns="0" rIns="0">
            <a:spAutoFit/>
          </a:bodyPr>
          <a:lstStyle/>
          <a:p>
            <a:pPr algn="ctr">
              <a:lnSpc>
                <a:spcPts val="3801"/>
              </a:lnSpc>
            </a:pPr>
            <a:r>
              <a:rPr lang="en-US" b="true" sz="3055">
                <a:solidFill>
                  <a:srgbClr val="FFFFFF"/>
                </a:solidFill>
                <a:latin typeface="HK Modular"/>
                <a:ea typeface="HK Modular"/>
                <a:cs typeface="HK Modular"/>
                <a:sym typeface="HK Modular"/>
              </a:rPr>
              <a:t>2</a:t>
            </a:r>
          </a:p>
        </p:txBody>
      </p:sp>
      <p:sp>
        <p:nvSpPr>
          <p:cNvPr name="TextBox 18" id="18"/>
          <p:cNvSpPr txBox="true"/>
          <p:nvPr/>
        </p:nvSpPr>
        <p:spPr>
          <a:xfrm rot="0">
            <a:off x="1477790" y="1757544"/>
            <a:ext cx="685783" cy="478223"/>
          </a:xfrm>
          <a:prstGeom prst="rect">
            <a:avLst/>
          </a:prstGeom>
        </p:spPr>
        <p:txBody>
          <a:bodyPr anchor="t" rtlCol="false" tIns="0" lIns="0" bIns="0" rIns="0">
            <a:spAutoFit/>
          </a:bodyPr>
          <a:lstStyle/>
          <a:p>
            <a:pPr algn="ctr">
              <a:lnSpc>
                <a:spcPts val="3801"/>
              </a:lnSpc>
            </a:pPr>
            <a:r>
              <a:rPr lang="en-US" b="true" sz="3055">
                <a:solidFill>
                  <a:srgbClr val="FFFFFF"/>
                </a:solidFill>
                <a:latin typeface="HK Modular"/>
                <a:ea typeface="HK Modular"/>
                <a:cs typeface="HK Modular"/>
                <a:sym typeface="HK Modular"/>
              </a:rPr>
              <a:t>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8790015">
            <a:off x="13183187" y="1502103"/>
            <a:ext cx="4850718" cy="3832067"/>
          </a:xfrm>
          <a:custGeom>
            <a:avLst/>
            <a:gdLst/>
            <a:ahLst/>
            <a:cxnLst/>
            <a:rect r="r" b="b" t="t" l="l"/>
            <a:pathLst>
              <a:path h="3832067" w="4850718">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030832">
            <a:off x="-659981" y="7991322"/>
            <a:ext cx="2923794" cy="2533955"/>
          </a:xfrm>
          <a:custGeom>
            <a:avLst/>
            <a:gdLst/>
            <a:ahLst/>
            <a:cxnLst/>
            <a:rect r="r" b="b" t="t" l="l"/>
            <a:pathLst>
              <a:path h="2533955" w="2923794">
                <a:moveTo>
                  <a:pt x="0" y="0"/>
                </a:moveTo>
                <a:lnTo>
                  <a:pt x="2923794" y="0"/>
                </a:lnTo>
                <a:lnTo>
                  <a:pt x="2923794" y="2533956"/>
                </a:lnTo>
                <a:lnTo>
                  <a:pt x="0" y="2533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2357502" y="952500"/>
            <a:ext cx="11050755" cy="805016"/>
          </a:xfrm>
          <a:prstGeom prst="rect">
            <a:avLst/>
          </a:prstGeom>
        </p:spPr>
        <p:txBody>
          <a:bodyPr anchor="t" rtlCol="false" tIns="0" lIns="0" bIns="0" rIns="0">
            <a:spAutoFit/>
          </a:bodyPr>
          <a:lstStyle/>
          <a:p>
            <a:pPr algn="l">
              <a:lnSpc>
                <a:spcPts val="6603"/>
              </a:lnSpc>
            </a:pPr>
            <a:r>
              <a:rPr lang="en-US" b="true" sz="4784" spc="267">
                <a:solidFill>
                  <a:srgbClr val="FFFFFF"/>
                </a:solidFill>
                <a:latin typeface="Montserrat Bold"/>
                <a:ea typeface="Montserrat Bold"/>
                <a:cs typeface="Montserrat Bold"/>
                <a:sym typeface="Montserrat Bold"/>
              </a:rPr>
              <a:t>Decision</a:t>
            </a:r>
          </a:p>
        </p:txBody>
      </p:sp>
      <p:sp>
        <p:nvSpPr>
          <p:cNvPr name="TextBox 5" id="5"/>
          <p:cNvSpPr txBox="true"/>
          <p:nvPr/>
        </p:nvSpPr>
        <p:spPr>
          <a:xfrm rot="0">
            <a:off x="4641876" y="2606133"/>
            <a:ext cx="4705819" cy="1604958"/>
          </a:xfrm>
          <a:prstGeom prst="rect">
            <a:avLst/>
          </a:prstGeom>
        </p:spPr>
        <p:txBody>
          <a:bodyPr anchor="t" rtlCol="false" tIns="0" lIns="0" bIns="0" rIns="0">
            <a:spAutoFit/>
          </a:bodyPr>
          <a:lstStyle/>
          <a:p>
            <a:pPr algn="just">
              <a:lnSpc>
                <a:spcPts val="3181"/>
              </a:lnSpc>
            </a:pPr>
            <a:r>
              <a:rPr lang="en-US" sz="2557">
                <a:solidFill>
                  <a:srgbClr val="FFFFFF"/>
                </a:solidFill>
                <a:latin typeface="Ovo"/>
                <a:ea typeface="Ovo"/>
                <a:cs typeface="Ovo"/>
                <a:sym typeface="Ovo"/>
              </a:rPr>
              <a:t>The act of choosing a course of action from several alternatives to achieve a specific objective or solve a problem.</a:t>
            </a:r>
          </a:p>
        </p:txBody>
      </p:sp>
      <p:sp>
        <p:nvSpPr>
          <p:cNvPr name="TextBox 6" id="6"/>
          <p:cNvSpPr txBox="true"/>
          <p:nvPr/>
        </p:nvSpPr>
        <p:spPr>
          <a:xfrm rot="0">
            <a:off x="6791091" y="5357959"/>
            <a:ext cx="5371644" cy="2405058"/>
          </a:xfrm>
          <a:prstGeom prst="rect">
            <a:avLst/>
          </a:prstGeom>
        </p:spPr>
        <p:txBody>
          <a:bodyPr anchor="t" rtlCol="false" tIns="0" lIns="0" bIns="0" rIns="0">
            <a:spAutoFit/>
          </a:bodyPr>
          <a:lstStyle/>
          <a:p>
            <a:pPr algn="just">
              <a:lnSpc>
                <a:spcPts val="3181"/>
              </a:lnSpc>
            </a:pPr>
            <a:r>
              <a:rPr lang="en-US" sz="2557">
                <a:solidFill>
                  <a:srgbClr val="FFFFFF"/>
                </a:solidFill>
                <a:latin typeface="Ovo"/>
                <a:ea typeface="Ovo"/>
                <a:cs typeface="Ovo"/>
                <a:sym typeface="Ovo"/>
              </a:rPr>
              <a:t>In the context of information systems, it is the outcome of analyzing and interpreting data to determine the best course of action or solve a problem using technology and computational tools.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8790015">
            <a:off x="13183187" y="1502103"/>
            <a:ext cx="4850718" cy="3832067"/>
          </a:xfrm>
          <a:custGeom>
            <a:avLst/>
            <a:gdLst/>
            <a:ahLst/>
            <a:cxnLst/>
            <a:rect r="r" b="b" t="t" l="l"/>
            <a:pathLst>
              <a:path h="3832067" w="4850718">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030832">
            <a:off x="-659981" y="7991322"/>
            <a:ext cx="2923794" cy="2533955"/>
          </a:xfrm>
          <a:custGeom>
            <a:avLst/>
            <a:gdLst/>
            <a:ahLst/>
            <a:cxnLst/>
            <a:rect r="r" b="b" t="t" l="l"/>
            <a:pathLst>
              <a:path h="2533955" w="2923794">
                <a:moveTo>
                  <a:pt x="0" y="0"/>
                </a:moveTo>
                <a:lnTo>
                  <a:pt x="2923794" y="0"/>
                </a:lnTo>
                <a:lnTo>
                  <a:pt x="2923794" y="2533956"/>
                </a:lnTo>
                <a:lnTo>
                  <a:pt x="0" y="2533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2357502" y="952500"/>
            <a:ext cx="11050755" cy="805016"/>
          </a:xfrm>
          <a:prstGeom prst="rect">
            <a:avLst/>
          </a:prstGeom>
        </p:spPr>
        <p:txBody>
          <a:bodyPr anchor="t" rtlCol="false" tIns="0" lIns="0" bIns="0" rIns="0">
            <a:spAutoFit/>
          </a:bodyPr>
          <a:lstStyle/>
          <a:p>
            <a:pPr algn="l">
              <a:lnSpc>
                <a:spcPts val="6603"/>
              </a:lnSpc>
            </a:pPr>
            <a:r>
              <a:rPr lang="en-US" b="true" sz="4784" spc="267">
                <a:solidFill>
                  <a:srgbClr val="FFFFFF"/>
                </a:solidFill>
                <a:latin typeface="Montserrat Bold"/>
                <a:ea typeface="Montserrat Bold"/>
                <a:cs typeface="Montserrat Bold"/>
                <a:sym typeface="Montserrat Bold"/>
              </a:rPr>
              <a:t>Decision Making</a:t>
            </a:r>
          </a:p>
        </p:txBody>
      </p:sp>
      <p:sp>
        <p:nvSpPr>
          <p:cNvPr name="TextBox 5" id="5"/>
          <p:cNvSpPr txBox="true"/>
          <p:nvPr/>
        </p:nvSpPr>
        <p:spPr>
          <a:xfrm rot="0">
            <a:off x="4438181" y="3162559"/>
            <a:ext cx="7169600" cy="4883601"/>
          </a:xfrm>
          <a:prstGeom prst="rect">
            <a:avLst/>
          </a:prstGeom>
        </p:spPr>
        <p:txBody>
          <a:bodyPr anchor="t" rtlCol="false" tIns="0" lIns="0" bIns="0" rIns="0">
            <a:spAutoFit/>
          </a:bodyPr>
          <a:lstStyle/>
          <a:p>
            <a:pPr algn="just">
              <a:lnSpc>
                <a:spcPts val="4847"/>
              </a:lnSpc>
            </a:pPr>
            <a:r>
              <a:rPr lang="en-US" sz="3896">
                <a:solidFill>
                  <a:srgbClr val="FFFFFF"/>
                </a:solidFill>
                <a:latin typeface="Ovo"/>
                <a:ea typeface="Ovo"/>
                <a:cs typeface="Ovo"/>
                <a:sym typeface="Ovo"/>
              </a:rPr>
              <a:t>Four different stages in decision-making:</a:t>
            </a:r>
          </a:p>
          <a:p>
            <a:pPr algn="just">
              <a:lnSpc>
                <a:spcPts val="4847"/>
              </a:lnSpc>
            </a:pPr>
          </a:p>
          <a:p>
            <a:pPr algn="just" marL="841268" indent="-420634" lvl="1">
              <a:lnSpc>
                <a:spcPts val="4847"/>
              </a:lnSpc>
              <a:buFont typeface="Arial"/>
              <a:buChar char="•"/>
            </a:pPr>
            <a:r>
              <a:rPr lang="en-US" sz="3896">
                <a:solidFill>
                  <a:srgbClr val="FFFFFF"/>
                </a:solidFill>
                <a:latin typeface="Ovo"/>
                <a:ea typeface="Ovo"/>
                <a:cs typeface="Ovo"/>
                <a:sym typeface="Ovo"/>
              </a:rPr>
              <a:t>Intelligence</a:t>
            </a:r>
          </a:p>
          <a:p>
            <a:pPr algn="just" marL="841268" indent="-420634" lvl="1">
              <a:lnSpc>
                <a:spcPts val="4847"/>
              </a:lnSpc>
              <a:buFont typeface="Arial"/>
              <a:buChar char="•"/>
            </a:pPr>
            <a:r>
              <a:rPr lang="en-US" sz="3896">
                <a:solidFill>
                  <a:srgbClr val="FFFFFF"/>
                </a:solidFill>
                <a:latin typeface="Ovo"/>
                <a:ea typeface="Ovo"/>
                <a:cs typeface="Ovo"/>
                <a:sym typeface="Ovo"/>
              </a:rPr>
              <a:t>Design</a:t>
            </a:r>
          </a:p>
          <a:p>
            <a:pPr algn="just" marL="841268" indent="-420634" lvl="1">
              <a:lnSpc>
                <a:spcPts val="4847"/>
              </a:lnSpc>
              <a:buFont typeface="Arial"/>
              <a:buChar char="•"/>
            </a:pPr>
            <a:r>
              <a:rPr lang="en-US" sz="3896">
                <a:solidFill>
                  <a:srgbClr val="FFFFFF"/>
                </a:solidFill>
                <a:latin typeface="Ovo"/>
                <a:ea typeface="Ovo"/>
                <a:cs typeface="Ovo"/>
                <a:sym typeface="Ovo"/>
              </a:rPr>
              <a:t>Choice</a:t>
            </a:r>
          </a:p>
          <a:p>
            <a:pPr algn="just" marL="841268" indent="-420634" lvl="1">
              <a:lnSpc>
                <a:spcPts val="4847"/>
              </a:lnSpc>
              <a:buFont typeface="Arial"/>
              <a:buChar char="•"/>
            </a:pPr>
            <a:r>
              <a:rPr lang="en-US" sz="3896">
                <a:solidFill>
                  <a:srgbClr val="FFFFFF"/>
                </a:solidFill>
                <a:latin typeface="Ovo"/>
                <a:ea typeface="Ovo"/>
                <a:cs typeface="Ovo"/>
                <a:sym typeface="Ovo"/>
              </a:rPr>
              <a:t>Implement</a:t>
            </a:r>
          </a:p>
          <a:p>
            <a:pPr algn="just">
              <a:lnSpc>
                <a:spcPts val="4847"/>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5351316" y="2518330"/>
            <a:ext cx="7585368" cy="6049331"/>
          </a:xfrm>
          <a:custGeom>
            <a:avLst/>
            <a:gdLst/>
            <a:ahLst/>
            <a:cxnLst/>
            <a:rect r="r" b="b" t="t" l="l"/>
            <a:pathLst>
              <a:path h="6049331" w="7585368">
                <a:moveTo>
                  <a:pt x="0" y="0"/>
                </a:moveTo>
                <a:lnTo>
                  <a:pt x="7585368" y="0"/>
                </a:lnTo>
                <a:lnTo>
                  <a:pt x="7585368" y="6049331"/>
                </a:lnTo>
                <a:lnTo>
                  <a:pt x="0" y="6049331"/>
                </a:lnTo>
                <a:lnTo>
                  <a:pt x="0" y="0"/>
                </a:lnTo>
                <a:close/>
              </a:path>
            </a:pathLst>
          </a:custGeom>
          <a:blipFill>
            <a:blip r:embed="rId2"/>
            <a:stretch>
              <a:fillRect l="0" t="0" r="0" b="0"/>
            </a:stretch>
          </a:blipFill>
        </p:spPr>
      </p:sp>
      <p:sp>
        <p:nvSpPr>
          <p:cNvPr name="TextBox 3" id="3"/>
          <p:cNvSpPr txBox="true"/>
          <p:nvPr/>
        </p:nvSpPr>
        <p:spPr>
          <a:xfrm rot="0">
            <a:off x="2357502" y="952500"/>
            <a:ext cx="11050755" cy="805016"/>
          </a:xfrm>
          <a:prstGeom prst="rect">
            <a:avLst/>
          </a:prstGeom>
        </p:spPr>
        <p:txBody>
          <a:bodyPr anchor="t" rtlCol="false" tIns="0" lIns="0" bIns="0" rIns="0">
            <a:spAutoFit/>
          </a:bodyPr>
          <a:lstStyle/>
          <a:p>
            <a:pPr algn="l">
              <a:lnSpc>
                <a:spcPts val="6603"/>
              </a:lnSpc>
            </a:pPr>
            <a:r>
              <a:rPr lang="en-US" b="true" sz="4784" spc="267">
                <a:solidFill>
                  <a:srgbClr val="FFFFFF"/>
                </a:solidFill>
                <a:latin typeface="Montserrat Bold"/>
                <a:ea typeface="Montserrat Bold"/>
                <a:cs typeface="Montserrat Bold"/>
                <a:sym typeface="Montserrat Bold"/>
              </a:rPr>
              <a:t>Decision Making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9030832">
            <a:off x="-659981" y="7991322"/>
            <a:ext cx="2923794" cy="2533955"/>
          </a:xfrm>
          <a:custGeom>
            <a:avLst/>
            <a:gdLst/>
            <a:ahLst/>
            <a:cxnLst/>
            <a:rect r="r" b="b" t="t" l="l"/>
            <a:pathLst>
              <a:path h="2533955" w="2923794">
                <a:moveTo>
                  <a:pt x="0" y="0"/>
                </a:moveTo>
                <a:lnTo>
                  <a:pt x="2923794" y="0"/>
                </a:lnTo>
                <a:lnTo>
                  <a:pt x="2923794" y="2533956"/>
                </a:lnTo>
                <a:lnTo>
                  <a:pt x="0" y="2533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2357502" y="952500"/>
            <a:ext cx="11716580"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Decision Support System (DSS)</a:t>
            </a:r>
          </a:p>
        </p:txBody>
      </p:sp>
      <p:sp>
        <p:nvSpPr>
          <p:cNvPr name="TextBox 4" id="4"/>
          <p:cNvSpPr txBox="true"/>
          <p:nvPr/>
        </p:nvSpPr>
        <p:spPr>
          <a:xfrm rot="0">
            <a:off x="2107793" y="2763346"/>
            <a:ext cx="12462911" cy="5618702"/>
          </a:xfrm>
          <a:prstGeom prst="rect">
            <a:avLst/>
          </a:prstGeom>
        </p:spPr>
        <p:txBody>
          <a:bodyPr anchor="t" rtlCol="false" tIns="0" lIns="0" bIns="0" rIns="0">
            <a:spAutoFit/>
          </a:bodyPr>
          <a:lstStyle/>
          <a:p>
            <a:pPr algn="just" marL="776500" indent="-388250" lvl="1">
              <a:lnSpc>
                <a:spcPts val="4474"/>
              </a:lnSpc>
              <a:buFont typeface="Arial"/>
              <a:buChar char="•"/>
            </a:pPr>
            <a:r>
              <a:rPr lang="en-US" sz="3596">
                <a:solidFill>
                  <a:srgbClr val="FFFFFF"/>
                </a:solidFill>
                <a:latin typeface="Ovo"/>
                <a:ea typeface="Ovo"/>
                <a:cs typeface="Ovo"/>
                <a:sym typeface="Ovo"/>
              </a:rPr>
              <a:t>A computer-based information system that helps individuals or organizations make informed decisions.</a:t>
            </a:r>
          </a:p>
          <a:p>
            <a:pPr algn="just" marL="776500" indent="-388250" lvl="1">
              <a:lnSpc>
                <a:spcPts val="4474"/>
              </a:lnSpc>
              <a:buFont typeface="Arial"/>
              <a:buChar char="•"/>
            </a:pPr>
            <a:r>
              <a:rPr lang="en-US" sz="3596">
                <a:solidFill>
                  <a:srgbClr val="FFFFFF"/>
                </a:solidFill>
                <a:latin typeface="Ovo"/>
                <a:ea typeface="Ovo"/>
                <a:cs typeface="Ovo"/>
                <a:sym typeface="Ovo"/>
              </a:rPr>
              <a:t>a collection of integrated software applications and hardware</a:t>
            </a:r>
          </a:p>
          <a:p>
            <a:pPr algn="just" marL="776500" indent="-388250" lvl="1">
              <a:lnSpc>
                <a:spcPts val="4474"/>
              </a:lnSpc>
              <a:buFont typeface="Arial"/>
              <a:buChar char="•"/>
            </a:pPr>
            <a:r>
              <a:rPr lang="en-US" sz="3596">
                <a:solidFill>
                  <a:srgbClr val="FFFFFF"/>
                </a:solidFill>
                <a:latin typeface="Ovo"/>
                <a:ea typeface="Ovo"/>
                <a:cs typeface="Ovo"/>
                <a:sym typeface="Ovo"/>
              </a:rPr>
              <a:t>DSS serve the management, operations, and planning levels of an organization</a:t>
            </a:r>
          </a:p>
          <a:p>
            <a:pPr algn="just" marL="776500" indent="-388250" lvl="1">
              <a:lnSpc>
                <a:spcPts val="4474"/>
              </a:lnSpc>
              <a:buFont typeface="Arial"/>
              <a:buChar char="•"/>
            </a:pPr>
            <a:r>
              <a:rPr lang="en-US" sz="3596">
                <a:solidFill>
                  <a:srgbClr val="FFFFFF"/>
                </a:solidFill>
                <a:latin typeface="Ovo"/>
                <a:ea typeface="Ovo"/>
                <a:cs typeface="Ovo"/>
                <a:sym typeface="Ovo"/>
              </a:rPr>
              <a:t>DSS are used to collect data, analyze and shape the data that is collected, and make sound decisions</a:t>
            </a:r>
          </a:p>
          <a:p>
            <a:pPr algn="just" marL="776500" indent="-388250" lvl="1">
              <a:lnSpc>
                <a:spcPts val="4474"/>
              </a:lnSpc>
              <a:buFont typeface="Arial"/>
              <a:buChar char="•"/>
            </a:pPr>
            <a:r>
              <a:rPr lang="en-US" sz="3596">
                <a:solidFill>
                  <a:srgbClr val="FFFFFF"/>
                </a:solidFill>
                <a:latin typeface="Ovo"/>
                <a:ea typeface="Ovo"/>
                <a:cs typeface="Ovo"/>
                <a:sym typeface="Ovo"/>
              </a:rPr>
              <a:t>It uses data, analytical tools, and models to solve problems, evaluate alternatives, and predict outcomes</a:t>
            </a:r>
          </a:p>
        </p:txBody>
      </p:sp>
    </p:spTree>
  </p:cSld>
  <p:clrMapOvr>
    <a:masterClrMapping/>
  </p:clrMapOvr>
</p:sld>
</file>

<file path=ppt/slides/slide7.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357502" y="952500"/>
            <a:ext cx="11716580"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Characteristics of  DSS</a:t>
            </a:r>
          </a:p>
        </p:txBody>
      </p:sp>
      <p:sp>
        <p:nvSpPr>
          <p:cNvPr name="TextBox 3" id="3"/>
          <p:cNvSpPr txBox="true"/>
          <p:nvPr/>
        </p:nvSpPr>
        <p:spPr>
          <a:xfrm rot="0">
            <a:off x="1028700" y="2753821"/>
            <a:ext cx="15612477" cy="5834634"/>
          </a:xfrm>
          <a:prstGeom prst="rect">
            <a:avLst/>
          </a:prstGeom>
        </p:spPr>
        <p:txBody>
          <a:bodyPr anchor="t" rtlCol="false" tIns="0" lIns="0" bIns="0" rIns="0">
            <a:spAutoFit/>
          </a:bodyPr>
          <a:lstStyle/>
          <a:p>
            <a:pPr algn="just" marL="897958" indent="-448979" lvl="1">
              <a:lnSpc>
                <a:spcPts val="5173"/>
              </a:lnSpc>
              <a:buFont typeface="Arial"/>
              <a:buChar char="•"/>
            </a:pPr>
            <a:r>
              <a:rPr lang="en-US" sz="4159">
                <a:solidFill>
                  <a:srgbClr val="FFDE59"/>
                </a:solidFill>
                <a:latin typeface="Ovo"/>
                <a:ea typeface="Ovo"/>
                <a:cs typeface="Ovo"/>
                <a:sym typeface="Ovo"/>
              </a:rPr>
              <a:t>Facilitation: </a:t>
            </a:r>
            <a:r>
              <a:rPr lang="en-US" sz="4159">
                <a:solidFill>
                  <a:srgbClr val="FFFFFF"/>
                </a:solidFill>
                <a:latin typeface="Ovo"/>
                <a:ea typeface="Ovo"/>
                <a:cs typeface="Ovo"/>
                <a:sym typeface="Ovo"/>
              </a:rPr>
              <a:t>It </a:t>
            </a:r>
            <a:r>
              <a:rPr lang="en-US" sz="4159">
                <a:solidFill>
                  <a:srgbClr val="FFFFFF"/>
                </a:solidFill>
                <a:latin typeface="Ovo"/>
                <a:ea typeface="Ovo"/>
                <a:cs typeface="Ovo"/>
                <a:sym typeface="Ovo"/>
              </a:rPr>
              <a:t>helps and supports specific decision-making activities and processes by providing useful tools and insights.</a:t>
            </a:r>
          </a:p>
          <a:p>
            <a:pPr algn="just" marL="897958" indent="-448979" lvl="1">
              <a:lnSpc>
                <a:spcPts val="5173"/>
              </a:lnSpc>
              <a:buFont typeface="Arial"/>
              <a:buChar char="•"/>
            </a:pPr>
            <a:r>
              <a:rPr lang="en-US" sz="4159">
                <a:solidFill>
                  <a:srgbClr val="FFDE59"/>
                </a:solidFill>
                <a:latin typeface="Ovo"/>
                <a:ea typeface="Ovo"/>
                <a:cs typeface="Ovo"/>
                <a:sym typeface="Ovo"/>
              </a:rPr>
              <a:t>Interactive Use</a:t>
            </a:r>
            <a:r>
              <a:rPr lang="en-US" sz="4159">
                <a:solidFill>
                  <a:srgbClr val="FFDE59"/>
                </a:solidFill>
                <a:latin typeface="Ovo"/>
                <a:ea typeface="Ovo"/>
                <a:cs typeface="Ovo"/>
                <a:sym typeface="Ovo"/>
              </a:rPr>
              <a:t>:</a:t>
            </a:r>
            <a:r>
              <a:rPr lang="en-US" sz="4159">
                <a:solidFill>
                  <a:srgbClr val="FFFFFF"/>
                </a:solidFill>
                <a:latin typeface="Ovo"/>
                <a:ea typeface="Ovo"/>
                <a:cs typeface="Ovo"/>
                <a:sym typeface="Ovo"/>
              </a:rPr>
              <a:t> DSS is designed to be interactive, allowing decision-makers or staff to control how the system is used and what operations are performed.</a:t>
            </a:r>
          </a:p>
          <a:p>
            <a:pPr algn="just" marL="897958" indent="-448979" lvl="1">
              <a:lnSpc>
                <a:spcPts val="5173"/>
              </a:lnSpc>
              <a:buFont typeface="Arial"/>
              <a:buChar char="•"/>
            </a:pPr>
            <a:r>
              <a:rPr lang="en-US" sz="4159">
                <a:solidFill>
                  <a:srgbClr val="FFDE59"/>
                </a:solidFill>
                <a:latin typeface="Ovo"/>
                <a:ea typeface="Ovo"/>
                <a:cs typeface="Ovo"/>
                <a:sym typeface="Ovo"/>
              </a:rPr>
              <a:t>For Regular and Occasional Use</a:t>
            </a:r>
            <a:r>
              <a:rPr lang="en-US" sz="4159">
                <a:solidFill>
                  <a:srgbClr val="FFDE59"/>
                </a:solidFill>
                <a:latin typeface="Ovo"/>
                <a:ea typeface="Ovo"/>
                <a:cs typeface="Ovo"/>
                <a:sym typeface="Ovo"/>
              </a:rPr>
              <a:t>:</a:t>
            </a:r>
            <a:r>
              <a:rPr lang="en-US" sz="4159">
                <a:solidFill>
                  <a:srgbClr val="FFFFFF"/>
                </a:solidFill>
                <a:latin typeface="Ovo"/>
                <a:ea typeface="Ovo"/>
                <a:cs typeface="Ovo"/>
                <a:sym typeface="Ovo"/>
              </a:rPr>
              <a:t> DSS can be used repeatedly, either as part of routine decision-making or for solving unique, one-time problems.</a:t>
            </a:r>
          </a:p>
          <a:p>
            <a:pPr algn="just">
              <a:lnSpc>
                <a:spcPts val="5173"/>
              </a:lnSpc>
            </a:pPr>
          </a:p>
        </p:txBody>
      </p:sp>
    </p:spTree>
  </p:cSld>
  <p:clrMapOvr>
    <a:masterClrMapping/>
  </p:clrMapOvr>
</p:sld>
</file>

<file path=ppt/slides/slide8.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357502" y="952500"/>
            <a:ext cx="11716580"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Characteristics of  DSS</a:t>
            </a:r>
          </a:p>
        </p:txBody>
      </p:sp>
      <p:sp>
        <p:nvSpPr>
          <p:cNvPr name="TextBox 3" id="3"/>
          <p:cNvSpPr txBox="true"/>
          <p:nvPr/>
        </p:nvSpPr>
        <p:spPr>
          <a:xfrm rot="0">
            <a:off x="2053018" y="2078731"/>
            <a:ext cx="14181963" cy="7656060"/>
          </a:xfrm>
          <a:prstGeom prst="rect">
            <a:avLst/>
          </a:prstGeom>
        </p:spPr>
        <p:txBody>
          <a:bodyPr anchor="t" rtlCol="false" tIns="0" lIns="0" bIns="0" rIns="0">
            <a:spAutoFit/>
          </a:bodyPr>
          <a:lstStyle/>
          <a:p>
            <a:pPr algn="just" marL="815682" indent="-407841" lvl="1">
              <a:lnSpc>
                <a:spcPts val="4699"/>
              </a:lnSpc>
              <a:buFont typeface="Arial"/>
              <a:buChar char="•"/>
            </a:pPr>
            <a:r>
              <a:rPr lang="en-US" sz="3778">
                <a:solidFill>
                  <a:srgbClr val="FFDE59"/>
                </a:solidFill>
                <a:latin typeface="Ovo"/>
                <a:ea typeface="Ovo"/>
                <a:cs typeface="Ovo"/>
                <a:sym typeface="Ovo"/>
              </a:rPr>
              <a:t>Task-Focused</a:t>
            </a:r>
            <a:r>
              <a:rPr lang="en-US" sz="3778">
                <a:solidFill>
                  <a:srgbClr val="FFDE59"/>
                </a:solidFill>
                <a:latin typeface="Ovo"/>
                <a:ea typeface="Ovo"/>
                <a:cs typeface="Ovo"/>
                <a:sym typeface="Ovo"/>
              </a:rPr>
              <a:t>:</a:t>
            </a:r>
            <a:r>
              <a:rPr lang="en-US" sz="3778">
                <a:solidFill>
                  <a:srgbClr val="FFFFFF"/>
                </a:solidFill>
                <a:latin typeface="Ovo"/>
                <a:ea typeface="Ovo"/>
                <a:cs typeface="Ovo"/>
                <a:sym typeface="Ovo"/>
              </a:rPr>
              <a:t> Supports specific tasks in decision-making, such as analyzing data, identifying options, comparing alternatives, and implementing decisions.</a:t>
            </a:r>
          </a:p>
          <a:p>
            <a:pPr algn="just" marL="815682" indent="-407841" lvl="1">
              <a:lnSpc>
                <a:spcPts val="4699"/>
              </a:lnSpc>
              <a:buFont typeface="Arial"/>
              <a:buChar char="•"/>
            </a:pPr>
            <a:r>
              <a:rPr lang="en-US" sz="3778">
                <a:solidFill>
                  <a:srgbClr val="FFDE59"/>
                </a:solidFill>
                <a:latin typeface="Ovo"/>
                <a:ea typeface="Ovo"/>
                <a:cs typeface="Ovo"/>
                <a:sym typeface="Ovo"/>
              </a:rPr>
              <a:t>Improves Decisions</a:t>
            </a:r>
            <a:r>
              <a:rPr lang="en-US" sz="3778">
                <a:solidFill>
                  <a:srgbClr val="FFDE59"/>
                </a:solidFill>
                <a:latin typeface="Ovo"/>
                <a:ea typeface="Ovo"/>
                <a:cs typeface="Ovo"/>
                <a:sym typeface="Ovo"/>
              </a:rPr>
              <a:t>:</a:t>
            </a:r>
            <a:r>
              <a:rPr lang="en-US" sz="3778">
                <a:solidFill>
                  <a:srgbClr val="FFFFFF"/>
                </a:solidFill>
                <a:latin typeface="Ovo"/>
                <a:ea typeface="Ovo"/>
                <a:cs typeface="Ovo"/>
                <a:sym typeface="Ovo"/>
              </a:rPr>
              <a:t> Aims to make decisions more accurate, timely, and effective, improving overall quality and outcomes.</a:t>
            </a:r>
          </a:p>
          <a:p>
            <a:pPr algn="just" marL="815682" indent="-407841" lvl="1">
              <a:lnSpc>
                <a:spcPts val="4699"/>
              </a:lnSpc>
              <a:buFont typeface="Arial"/>
              <a:buChar char="•"/>
            </a:pPr>
            <a:r>
              <a:rPr lang="en-US" sz="3778">
                <a:solidFill>
                  <a:srgbClr val="FFDE59"/>
                </a:solidFill>
                <a:latin typeface="Ovo"/>
                <a:ea typeface="Ovo"/>
                <a:cs typeface="Ovo"/>
                <a:sym typeface="Ovo"/>
              </a:rPr>
              <a:t>Supports Individuals and Teams</a:t>
            </a:r>
            <a:r>
              <a:rPr lang="en-US" sz="3778">
                <a:solidFill>
                  <a:srgbClr val="FFDE59"/>
                </a:solidFill>
                <a:latin typeface="Ovo"/>
                <a:ea typeface="Ovo"/>
                <a:cs typeface="Ovo"/>
                <a:sym typeface="Ovo"/>
              </a:rPr>
              <a:t>: </a:t>
            </a:r>
            <a:r>
              <a:rPr lang="en-US" sz="3778">
                <a:solidFill>
                  <a:srgbClr val="FFFFFF"/>
                </a:solidFill>
                <a:latin typeface="Ovo"/>
                <a:ea typeface="Ovo"/>
                <a:cs typeface="Ovo"/>
                <a:sym typeface="Ovo"/>
              </a:rPr>
              <a:t>Provides a shared platform where everyone can access the same data while allowing users to customize reports or analyses for their specific needs.</a:t>
            </a:r>
          </a:p>
          <a:p>
            <a:pPr algn="just" marL="815682" indent="-407841" lvl="1">
              <a:lnSpc>
                <a:spcPts val="4699"/>
              </a:lnSpc>
              <a:buFont typeface="Arial"/>
              <a:buChar char="•"/>
            </a:pPr>
            <a:r>
              <a:rPr lang="en-US" sz="3778">
                <a:solidFill>
                  <a:srgbClr val="FFDE59"/>
                </a:solidFill>
                <a:latin typeface="Ovo"/>
                <a:ea typeface="Ovo"/>
                <a:cs typeface="Ovo"/>
                <a:sym typeface="Ovo"/>
              </a:rPr>
              <a:t>Access to Diverse Data</a:t>
            </a:r>
            <a:r>
              <a:rPr lang="en-US" sz="3778">
                <a:solidFill>
                  <a:srgbClr val="FFDE59"/>
                </a:solidFill>
                <a:latin typeface="Ovo"/>
                <a:ea typeface="Ovo"/>
                <a:cs typeface="Ovo"/>
                <a:sym typeface="Ovo"/>
              </a:rPr>
              <a:t>:</a:t>
            </a:r>
            <a:r>
              <a:rPr lang="en-US" sz="3778">
                <a:solidFill>
                  <a:srgbClr val="FFFFFF"/>
                </a:solidFill>
                <a:latin typeface="Ovo"/>
                <a:ea typeface="Ovo"/>
                <a:cs typeface="Ovo"/>
                <a:sym typeface="Ovo"/>
              </a:rPr>
              <a:t> Enables users to access data from multiple sources at the same time, giving organizations the flexibility to use the best data warehouse for their needs.</a:t>
            </a:r>
          </a:p>
          <a:p>
            <a:pPr algn="just">
              <a:lnSpc>
                <a:spcPts val="4699"/>
              </a:lnSpc>
            </a:pPr>
          </a:p>
          <a:p>
            <a:pPr algn="just">
              <a:lnSpc>
                <a:spcPts val="469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357502" y="952500"/>
            <a:ext cx="11716580"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Objective of  DSS</a:t>
            </a:r>
          </a:p>
        </p:txBody>
      </p:sp>
      <p:sp>
        <p:nvSpPr>
          <p:cNvPr name="TextBox 3" id="3"/>
          <p:cNvSpPr txBox="true"/>
          <p:nvPr/>
        </p:nvSpPr>
        <p:spPr>
          <a:xfrm rot="0">
            <a:off x="1621660" y="2920025"/>
            <a:ext cx="13188263" cy="4459864"/>
          </a:xfrm>
          <a:prstGeom prst="rect">
            <a:avLst/>
          </a:prstGeom>
        </p:spPr>
        <p:txBody>
          <a:bodyPr anchor="t" rtlCol="false" tIns="0" lIns="0" bIns="0" rIns="0">
            <a:spAutoFit/>
          </a:bodyPr>
          <a:lstStyle/>
          <a:p>
            <a:pPr algn="just" marL="1020424" indent="-510212" lvl="1">
              <a:lnSpc>
                <a:spcPts val="5879"/>
              </a:lnSpc>
              <a:buFont typeface="Arial"/>
              <a:buChar char="•"/>
            </a:pPr>
            <a:r>
              <a:rPr lang="en-US" sz="4726">
                <a:solidFill>
                  <a:srgbClr val="FFFFFF"/>
                </a:solidFill>
                <a:latin typeface="Ovo"/>
                <a:ea typeface="Ovo"/>
                <a:cs typeface="Ovo"/>
                <a:sym typeface="Ovo"/>
              </a:rPr>
              <a:t>Supports</a:t>
            </a:r>
            <a:r>
              <a:rPr lang="en-US" sz="4726">
                <a:solidFill>
                  <a:srgbClr val="FFFFFF"/>
                </a:solidFill>
                <a:latin typeface="Ovo"/>
                <a:ea typeface="Ovo"/>
                <a:cs typeface="Ovo"/>
                <a:sym typeface="Ovo"/>
              </a:rPr>
              <a:t> the manager in the decision-making process but does not replace it.</a:t>
            </a:r>
          </a:p>
          <a:p>
            <a:pPr algn="just" marL="1020424" indent="-510212" lvl="1">
              <a:lnSpc>
                <a:spcPts val="5879"/>
              </a:lnSpc>
              <a:buFont typeface="Arial"/>
              <a:buChar char="•"/>
            </a:pPr>
            <a:r>
              <a:rPr lang="en-US" sz="4726">
                <a:solidFill>
                  <a:srgbClr val="FFFFFF"/>
                </a:solidFill>
                <a:latin typeface="Ovo"/>
                <a:ea typeface="Ovo"/>
                <a:cs typeface="Ovo"/>
                <a:sym typeface="Ovo"/>
              </a:rPr>
              <a:t>Increase the effectiveness of the managers decision- making process.</a:t>
            </a:r>
          </a:p>
          <a:p>
            <a:pPr algn="just" marL="1020424" indent="-510212" lvl="1">
              <a:lnSpc>
                <a:spcPts val="5879"/>
              </a:lnSpc>
              <a:buFont typeface="Arial"/>
              <a:buChar char="•"/>
            </a:pPr>
            <a:r>
              <a:rPr lang="en-US" sz="4726">
                <a:solidFill>
                  <a:srgbClr val="FFFFFF"/>
                </a:solidFill>
                <a:latin typeface="Ovo"/>
                <a:ea typeface="Ovo"/>
                <a:cs typeface="Ovo"/>
                <a:sym typeface="Ovo"/>
              </a:rPr>
              <a:t>Support Complex Problem-Solving</a:t>
            </a:r>
          </a:p>
          <a:p>
            <a:pPr algn="just" marL="1020424" indent="-510212" lvl="1">
              <a:lnSpc>
                <a:spcPts val="5879"/>
              </a:lnSpc>
              <a:buFont typeface="Arial"/>
              <a:buChar char="•"/>
            </a:pPr>
            <a:r>
              <a:rPr lang="en-US" sz="4726">
                <a:solidFill>
                  <a:srgbClr val="FFFFFF"/>
                </a:solidFill>
                <a:latin typeface="Ovo"/>
                <a:ea typeface="Ovo"/>
                <a:cs typeface="Ovo"/>
                <a:sym typeface="Ovo"/>
              </a:rPr>
              <a:t>Increase Decision Quality</a:t>
            </a:r>
          </a:p>
        </p:txBody>
      </p:sp>
      <p:sp>
        <p:nvSpPr>
          <p:cNvPr name="Freeform 4" id="4"/>
          <p:cNvSpPr/>
          <p:nvPr/>
        </p:nvSpPr>
        <p:spPr>
          <a:xfrm flipH="false" flipV="false" rot="-8790015">
            <a:off x="14281799" y="-151278"/>
            <a:ext cx="4850718" cy="3832067"/>
          </a:xfrm>
          <a:custGeom>
            <a:avLst/>
            <a:gdLst/>
            <a:ahLst/>
            <a:cxnLst/>
            <a:rect r="r" b="b" t="t" l="l"/>
            <a:pathLst>
              <a:path h="3832067" w="4850718">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357502" y="952500"/>
            <a:ext cx="11716580"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DSS Components</a:t>
            </a:r>
          </a:p>
        </p:txBody>
      </p:sp>
      <p:sp>
        <p:nvSpPr>
          <p:cNvPr name="TextBox 3" id="3"/>
          <p:cNvSpPr txBox="true"/>
          <p:nvPr/>
        </p:nvSpPr>
        <p:spPr>
          <a:xfrm rot="0">
            <a:off x="1621660" y="2920025"/>
            <a:ext cx="13188263" cy="5945764"/>
          </a:xfrm>
          <a:prstGeom prst="rect">
            <a:avLst/>
          </a:prstGeom>
        </p:spPr>
        <p:txBody>
          <a:bodyPr anchor="t" rtlCol="false" tIns="0" lIns="0" bIns="0" rIns="0">
            <a:spAutoFit/>
          </a:bodyPr>
          <a:lstStyle/>
          <a:p>
            <a:pPr algn="just" marL="1020424" indent="-510212" lvl="1">
              <a:lnSpc>
                <a:spcPts val="5879"/>
              </a:lnSpc>
              <a:buFont typeface="Arial"/>
              <a:buChar char="•"/>
            </a:pPr>
            <a:r>
              <a:rPr lang="en-US" sz="4726">
                <a:solidFill>
                  <a:srgbClr val="FFDE59"/>
                </a:solidFill>
                <a:latin typeface="Ovo"/>
                <a:ea typeface="Ovo"/>
                <a:cs typeface="Ovo"/>
                <a:sym typeface="Ovo"/>
              </a:rPr>
              <a:t>Inputs: </a:t>
            </a:r>
            <a:r>
              <a:rPr lang="en-US" sz="4726">
                <a:solidFill>
                  <a:srgbClr val="FFFFFF"/>
                </a:solidFill>
                <a:latin typeface="Ovo"/>
                <a:ea typeface="Ovo"/>
                <a:cs typeface="Ovo"/>
                <a:sym typeface="Ovo"/>
              </a:rPr>
              <a:t>Factors, numbers, and characteristics to </a:t>
            </a:r>
            <a:r>
              <a:rPr lang="en-US" sz="4726">
                <a:solidFill>
                  <a:srgbClr val="FFFFFF"/>
                </a:solidFill>
                <a:latin typeface="Ovo"/>
                <a:ea typeface="Ovo"/>
                <a:cs typeface="Ovo"/>
                <a:sym typeface="Ovo"/>
              </a:rPr>
              <a:t>analyze.</a:t>
            </a:r>
          </a:p>
          <a:p>
            <a:pPr algn="just" marL="1020424" indent="-510212" lvl="1">
              <a:lnSpc>
                <a:spcPts val="5879"/>
              </a:lnSpc>
              <a:buFont typeface="Arial"/>
              <a:buChar char="•"/>
            </a:pPr>
            <a:r>
              <a:rPr lang="en-US" sz="4726">
                <a:solidFill>
                  <a:srgbClr val="FFDE59"/>
                </a:solidFill>
                <a:latin typeface="Ovo"/>
                <a:ea typeface="Ovo"/>
                <a:cs typeface="Ovo"/>
                <a:sym typeface="Ovo"/>
              </a:rPr>
              <a:t>User</a:t>
            </a:r>
            <a:r>
              <a:rPr lang="en-US" sz="4726">
                <a:solidFill>
                  <a:srgbClr val="FFDE59"/>
                </a:solidFill>
                <a:latin typeface="Ovo"/>
                <a:ea typeface="Ovo"/>
                <a:cs typeface="Ovo"/>
                <a:sym typeface="Ovo"/>
              </a:rPr>
              <a:t> Knowledge and Expertise : </a:t>
            </a:r>
            <a:r>
              <a:rPr lang="en-US" sz="4726">
                <a:solidFill>
                  <a:srgbClr val="FFFFFF"/>
                </a:solidFill>
                <a:latin typeface="Ovo"/>
                <a:ea typeface="Ovo"/>
                <a:cs typeface="Ovo"/>
                <a:sym typeface="Ovo"/>
              </a:rPr>
              <a:t>Inputs requiring manual analysis by the user.</a:t>
            </a:r>
          </a:p>
          <a:p>
            <a:pPr algn="just" marL="1020424" indent="-510212" lvl="1">
              <a:lnSpc>
                <a:spcPts val="5879"/>
              </a:lnSpc>
              <a:buFont typeface="Arial"/>
              <a:buChar char="•"/>
            </a:pPr>
            <a:r>
              <a:rPr lang="en-US" sz="4726">
                <a:solidFill>
                  <a:srgbClr val="FFDE59"/>
                </a:solidFill>
                <a:latin typeface="Ovo"/>
                <a:ea typeface="Ovo"/>
                <a:cs typeface="Ovo"/>
                <a:sym typeface="Ovo"/>
              </a:rPr>
              <a:t>Outputs</a:t>
            </a:r>
            <a:r>
              <a:rPr lang="en-US" sz="4726">
                <a:solidFill>
                  <a:srgbClr val="FFDE59"/>
                </a:solidFill>
                <a:latin typeface="Ovo"/>
                <a:ea typeface="Ovo"/>
                <a:cs typeface="Ovo"/>
                <a:sym typeface="Ovo"/>
              </a:rPr>
              <a:t> :</a:t>
            </a:r>
            <a:r>
              <a:rPr lang="en-US" sz="4726">
                <a:solidFill>
                  <a:srgbClr val="FFFFFF"/>
                </a:solidFill>
                <a:latin typeface="Ovo"/>
                <a:ea typeface="Ovo"/>
                <a:cs typeface="Ovo"/>
                <a:sym typeface="Ovo"/>
              </a:rPr>
              <a:t> Transformed data from which DSS "decisions" are generated.</a:t>
            </a:r>
          </a:p>
          <a:p>
            <a:pPr algn="just" marL="1020424" indent="-510212" lvl="1">
              <a:lnSpc>
                <a:spcPts val="5879"/>
              </a:lnSpc>
              <a:buFont typeface="Arial"/>
              <a:buChar char="•"/>
            </a:pPr>
            <a:r>
              <a:rPr lang="en-US" sz="4726">
                <a:solidFill>
                  <a:srgbClr val="FFDE59"/>
                </a:solidFill>
                <a:latin typeface="Ovo"/>
                <a:ea typeface="Ovo"/>
                <a:cs typeface="Ovo"/>
                <a:sym typeface="Ovo"/>
              </a:rPr>
              <a:t>Decisions</a:t>
            </a:r>
            <a:r>
              <a:rPr lang="en-US" sz="4726">
                <a:solidFill>
                  <a:srgbClr val="FFDE59"/>
                </a:solidFill>
                <a:latin typeface="Ovo"/>
                <a:ea typeface="Ovo"/>
                <a:cs typeface="Ovo"/>
                <a:sym typeface="Ovo"/>
              </a:rPr>
              <a:t> : </a:t>
            </a:r>
            <a:r>
              <a:rPr lang="en-US" sz="4726">
                <a:solidFill>
                  <a:srgbClr val="FFFFFF"/>
                </a:solidFill>
                <a:latin typeface="Ovo"/>
                <a:ea typeface="Ovo"/>
                <a:cs typeface="Ovo"/>
                <a:sym typeface="Ovo"/>
              </a:rPr>
              <a:t>Results generated by the DSS based on user criteria.</a:t>
            </a:r>
          </a:p>
        </p:txBody>
      </p:sp>
      <p:sp>
        <p:nvSpPr>
          <p:cNvPr name="Freeform 4" id="4"/>
          <p:cNvSpPr/>
          <p:nvPr/>
        </p:nvSpPr>
        <p:spPr>
          <a:xfrm flipH="false" flipV="false" rot="-8790015">
            <a:off x="14281799" y="-151278"/>
            <a:ext cx="4850718" cy="3832067"/>
          </a:xfrm>
          <a:custGeom>
            <a:avLst/>
            <a:gdLst/>
            <a:ahLst/>
            <a:cxnLst/>
            <a:rect r="r" b="b" t="t" l="l"/>
            <a:pathLst>
              <a:path h="3832067" w="4850718">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357502" y="952500"/>
            <a:ext cx="11716580"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DSS Advantages</a:t>
            </a:r>
          </a:p>
        </p:txBody>
      </p:sp>
      <p:sp>
        <p:nvSpPr>
          <p:cNvPr name="TextBox 3" id="3"/>
          <p:cNvSpPr txBox="true"/>
          <p:nvPr/>
        </p:nvSpPr>
        <p:spPr>
          <a:xfrm rot="0">
            <a:off x="1621660" y="2920025"/>
            <a:ext cx="13188263" cy="5202814"/>
          </a:xfrm>
          <a:prstGeom prst="rect">
            <a:avLst/>
          </a:prstGeom>
        </p:spPr>
        <p:txBody>
          <a:bodyPr anchor="t" rtlCol="false" tIns="0" lIns="0" bIns="0" rIns="0">
            <a:spAutoFit/>
          </a:bodyPr>
          <a:lstStyle/>
          <a:p>
            <a:pPr algn="just" marL="1020424" indent="-510212" lvl="1">
              <a:lnSpc>
                <a:spcPts val="5879"/>
              </a:lnSpc>
              <a:buFont typeface="Arial"/>
              <a:buChar char="•"/>
            </a:pPr>
            <a:r>
              <a:rPr lang="en-US" sz="4726">
                <a:solidFill>
                  <a:srgbClr val="FFFFFF"/>
                </a:solidFill>
                <a:latin typeface="Ovo"/>
                <a:ea typeface="Ovo"/>
                <a:cs typeface="Ovo"/>
                <a:sym typeface="Ovo"/>
              </a:rPr>
              <a:t>Time savings</a:t>
            </a:r>
          </a:p>
          <a:p>
            <a:pPr algn="just" marL="1020424" indent="-510212" lvl="1">
              <a:lnSpc>
                <a:spcPts val="5879"/>
              </a:lnSpc>
              <a:buFont typeface="Arial"/>
              <a:buChar char="•"/>
            </a:pPr>
            <a:r>
              <a:rPr lang="en-US" sz="4726">
                <a:solidFill>
                  <a:srgbClr val="FFFFFF"/>
                </a:solidFill>
                <a:latin typeface="Ovo"/>
                <a:ea typeface="Ovo"/>
                <a:cs typeface="Ovo"/>
                <a:sym typeface="Ovo"/>
              </a:rPr>
              <a:t>Enhance effectiveness</a:t>
            </a:r>
          </a:p>
          <a:p>
            <a:pPr algn="just" marL="1020424" indent="-510212" lvl="1">
              <a:lnSpc>
                <a:spcPts val="5879"/>
              </a:lnSpc>
              <a:buFont typeface="Arial"/>
              <a:buChar char="•"/>
            </a:pPr>
            <a:r>
              <a:rPr lang="en-US" sz="4726">
                <a:solidFill>
                  <a:srgbClr val="FFFFFF"/>
                </a:solidFill>
                <a:latin typeface="Ovo"/>
                <a:ea typeface="Ovo"/>
                <a:cs typeface="Ovo"/>
                <a:sym typeface="Ovo"/>
              </a:rPr>
              <a:t>Competitive advantage</a:t>
            </a:r>
          </a:p>
          <a:p>
            <a:pPr algn="just" marL="1020424" indent="-510212" lvl="1">
              <a:lnSpc>
                <a:spcPts val="5879"/>
              </a:lnSpc>
              <a:buFont typeface="Arial"/>
              <a:buChar char="•"/>
            </a:pPr>
            <a:r>
              <a:rPr lang="en-US" sz="4726">
                <a:solidFill>
                  <a:srgbClr val="FFFFFF"/>
                </a:solidFill>
                <a:latin typeface="Ovo"/>
                <a:ea typeface="Ovo"/>
                <a:cs typeface="Ovo"/>
                <a:sym typeface="Ovo"/>
              </a:rPr>
              <a:t>Cost reduction</a:t>
            </a:r>
          </a:p>
          <a:p>
            <a:pPr algn="just" marL="1020424" indent="-510212" lvl="1">
              <a:lnSpc>
                <a:spcPts val="5879"/>
              </a:lnSpc>
              <a:buFont typeface="Arial"/>
              <a:buChar char="•"/>
            </a:pPr>
            <a:r>
              <a:rPr lang="en-US" sz="4726">
                <a:solidFill>
                  <a:srgbClr val="FFFFFF"/>
                </a:solidFill>
                <a:latin typeface="Ovo"/>
                <a:ea typeface="Ovo"/>
                <a:cs typeface="Ovo"/>
                <a:sym typeface="Ovo"/>
              </a:rPr>
              <a:t>Increase decision-maker satisfaction</a:t>
            </a:r>
          </a:p>
          <a:p>
            <a:pPr algn="just" marL="1020424" indent="-510212" lvl="1">
              <a:lnSpc>
                <a:spcPts val="5879"/>
              </a:lnSpc>
              <a:buFont typeface="Arial"/>
              <a:buChar char="•"/>
            </a:pPr>
            <a:r>
              <a:rPr lang="en-US" sz="4726">
                <a:solidFill>
                  <a:srgbClr val="FFFFFF"/>
                </a:solidFill>
                <a:latin typeface="Ovo"/>
                <a:ea typeface="Ovo"/>
                <a:cs typeface="Ovo"/>
                <a:sym typeface="Ovo"/>
              </a:rPr>
              <a:t>Promote learning</a:t>
            </a:r>
          </a:p>
          <a:p>
            <a:pPr algn="just" marL="1020424" indent="-510212" lvl="1">
              <a:lnSpc>
                <a:spcPts val="5879"/>
              </a:lnSpc>
              <a:buFont typeface="Arial"/>
              <a:buChar char="•"/>
            </a:pPr>
            <a:r>
              <a:rPr lang="en-US" sz="4726">
                <a:solidFill>
                  <a:srgbClr val="FFFFFF"/>
                </a:solidFill>
                <a:latin typeface="Ovo"/>
                <a:ea typeface="Ovo"/>
                <a:cs typeface="Ovo"/>
                <a:sym typeface="Ovo"/>
              </a:rPr>
              <a:t>Improves personal efficiency</a:t>
            </a:r>
          </a:p>
        </p:txBody>
      </p:sp>
      <p:sp>
        <p:nvSpPr>
          <p:cNvPr name="Freeform 4" id="4"/>
          <p:cNvSpPr/>
          <p:nvPr/>
        </p:nvSpPr>
        <p:spPr>
          <a:xfrm flipH="false" flipV="false" rot="-8790015">
            <a:off x="14281799" y="-151278"/>
            <a:ext cx="4850718" cy="3832067"/>
          </a:xfrm>
          <a:custGeom>
            <a:avLst/>
            <a:gdLst/>
            <a:ahLst/>
            <a:cxnLst/>
            <a:rect r="r" b="b" t="t" l="l"/>
            <a:pathLst>
              <a:path h="3832067" w="4850718">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357502" y="952500"/>
            <a:ext cx="11716580"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DSS Applications</a:t>
            </a:r>
          </a:p>
        </p:txBody>
      </p:sp>
      <p:sp>
        <p:nvSpPr>
          <p:cNvPr name="TextBox 3" id="3"/>
          <p:cNvSpPr txBox="true"/>
          <p:nvPr/>
        </p:nvSpPr>
        <p:spPr>
          <a:xfrm rot="0">
            <a:off x="1621660" y="2920025"/>
            <a:ext cx="13188263" cy="7431664"/>
          </a:xfrm>
          <a:prstGeom prst="rect">
            <a:avLst/>
          </a:prstGeom>
        </p:spPr>
        <p:txBody>
          <a:bodyPr anchor="t" rtlCol="false" tIns="0" lIns="0" bIns="0" rIns="0">
            <a:spAutoFit/>
          </a:bodyPr>
          <a:lstStyle/>
          <a:p>
            <a:pPr algn="just" marL="1020424" indent="-510212" lvl="1">
              <a:lnSpc>
                <a:spcPts val="5879"/>
              </a:lnSpc>
              <a:buFont typeface="Arial"/>
              <a:buChar char="•"/>
            </a:pPr>
            <a:r>
              <a:rPr lang="en-US" sz="4726">
                <a:solidFill>
                  <a:srgbClr val="FFFFFF"/>
                </a:solidFill>
                <a:latin typeface="Ovo"/>
                <a:ea typeface="Ovo"/>
                <a:cs typeface="Ovo"/>
                <a:sym typeface="Ovo"/>
              </a:rPr>
              <a:t>Medical diagnosis</a:t>
            </a:r>
          </a:p>
          <a:p>
            <a:pPr algn="just" marL="1020424" indent="-510212" lvl="1">
              <a:lnSpc>
                <a:spcPts val="5879"/>
              </a:lnSpc>
              <a:buFont typeface="Arial"/>
              <a:buChar char="•"/>
            </a:pPr>
            <a:r>
              <a:rPr lang="en-US" sz="4726">
                <a:solidFill>
                  <a:srgbClr val="FFFFFF"/>
                </a:solidFill>
                <a:latin typeface="Ovo"/>
                <a:ea typeface="Ovo"/>
                <a:cs typeface="Ovo"/>
                <a:sym typeface="Ovo"/>
              </a:rPr>
              <a:t>Business and Management</a:t>
            </a:r>
          </a:p>
          <a:p>
            <a:pPr algn="just" marL="1020424" indent="-510212" lvl="1">
              <a:lnSpc>
                <a:spcPts val="5879"/>
              </a:lnSpc>
              <a:buFont typeface="Arial"/>
              <a:buChar char="•"/>
            </a:pPr>
            <a:r>
              <a:rPr lang="en-US" sz="4726">
                <a:solidFill>
                  <a:srgbClr val="FFFFFF"/>
                </a:solidFill>
                <a:latin typeface="Ovo"/>
                <a:ea typeface="Ovo"/>
                <a:cs typeface="Ovo"/>
                <a:sym typeface="Ovo"/>
              </a:rPr>
              <a:t>Agricultural production</a:t>
            </a:r>
          </a:p>
          <a:p>
            <a:pPr algn="just" marL="1020424" indent="-510212" lvl="1">
              <a:lnSpc>
                <a:spcPts val="5879"/>
              </a:lnSpc>
              <a:buFont typeface="Arial"/>
              <a:buChar char="•"/>
            </a:pPr>
            <a:r>
              <a:rPr lang="en-US" sz="4726">
                <a:solidFill>
                  <a:srgbClr val="FFFFFF"/>
                </a:solidFill>
                <a:latin typeface="Ovo"/>
                <a:ea typeface="Ovo"/>
                <a:cs typeface="Ovo"/>
                <a:sym typeface="Ovo"/>
              </a:rPr>
              <a:t> Transportation</a:t>
            </a:r>
          </a:p>
          <a:p>
            <a:pPr algn="just" marL="1020424" indent="-510212" lvl="1">
              <a:lnSpc>
                <a:spcPts val="5879"/>
              </a:lnSpc>
              <a:buFont typeface="Arial"/>
              <a:buChar char="•"/>
            </a:pPr>
            <a:r>
              <a:rPr lang="en-US" sz="4726">
                <a:solidFill>
                  <a:srgbClr val="FFFFFF"/>
                </a:solidFill>
                <a:latin typeface="Ovo"/>
                <a:ea typeface="Ovo"/>
                <a:cs typeface="Ovo"/>
                <a:sym typeface="Ovo"/>
              </a:rPr>
              <a:t>Military</a:t>
            </a:r>
          </a:p>
          <a:p>
            <a:pPr algn="just" marL="1020424" indent="-510212" lvl="1">
              <a:lnSpc>
                <a:spcPts val="5879"/>
              </a:lnSpc>
              <a:buFont typeface="Arial"/>
              <a:buChar char="•"/>
            </a:pPr>
            <a:r>
              <a:rPr lang="en-US" sz="4726">
                <a:solidFill>
                  <a:srgbClr val="FFFFFF"/>
                </a:solidFill>
                <a:latin typeface="Ovo"/>
                <a:ea typeface="Ovo"/>
                <a:cs typeface="Ovo"/>
                <a:sym typeface="Ovo"/>
              </a:rPr>
              <a:t>Aviation</a:t>
            </a:r>
          </a:p>
          <a:p>
            <a:pPr algn="just" marL="1020424" indent="-510212" lvl="1">
              <a:lnSpc>
                <a:spcPts val="5879"/>
              </a:lnSpc>
              <a:buFont typeface="Arial"/>
              <a:buChar char="•"/>
            </a:pPr>
            <a:r>
              <a:rPr lang="en-US" sz="4726">
                <a:solidFill>
                  <a:srgbClr val="FFFFFF"/>
                </a:solidFill>
                <a:latin typeface="Ovo"/>
                <a:ea typeface="Ovo"/>
                <a:cs typeface="Ovo"/>
                <a:sym typeface="Ovo"/>
              </a:rPr>
              <a:t> Customer profile monitoring in banks</a:t>
            </a:r>
          </a:p>
          <a:p>
            <a:pPr algn="just">
              <a:lnSpc>
                <a:spcPts val="5879"/>
              </a:lnSpc>
            </a:pPr>
          </a:p>
          <a:p>
            <a:pPr algn="just">
              <a:lnSpc>
                <a:spcPts val="5879"/>
              </a:lnSpc>
            </a:pPr>
          </a:p>
          <a:p>
            <a:pPr algn="just">
              <a:lnSpc>
                <a:spcPts val="5879"/>
              </a:lnSpc>
            </a:pPr>
          </a:p>
        </p:txBody>
      </p:sp>
      <p:sp>
        <p:nvSpPr>
          <p:cNvPr name="Freeform 4" id="4"/>
          <p:cNvSpPr/>
          <p:nvPr/>
        </p:nvSpPr>
        <p:spPr>
          <a:xfrm flipH="false" flipV="false" rot="-8790015">
            <a:off x="14281799" y="-151278"/>
            <a:ext cx="4850718" cy="3832067"/>
          </a:xfrm>
          <a:custGeom>
            <a:avLst/>
            <a:gdLst/>
            <a:ahLst/>
            <a:cxnLst/>
            <a:rect r="r" b="b" t="t" l="l"/>
            <a:pathLst>
              <a:path h="3832067" w="4850718">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357502" y="952500"/>
            <a:ext cx="11716580"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TYPES OF DECISIONS</a:t>
            </a:r>
          </a:p>
        </p:txBody>
      </p:sp>
      <p:sp>
        <p:nvSpPr>
          <p:cNvPr name="Freeform 3" id="3"/>
          <p:cNvSpPr/>
          <p:nvPr/>
        </p:nvSpPr>
        <p:spPr>
          <a:xfrm flipH="false" flipV="false" rot="-8790015">
            <a:off x="14281799" y="-151278"/>
            <a:ext cx="4850718" cy="3832067"/>
          </a:xfrm>
          <a:custGeom>
            <a:avLst/>
            <a:gdLst/>
            <a:ahLst/>
            <a:cxnLst/>
            <a:rect r="r" b="b" t="t" l="l"/>
            <a:pathLst>
              <a:path h="3832067" w="4850718">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356875"/>
            <a:ext cx="12598456" cy="1631031"/>
          </a:xfrm>
          <a:prstGeom prst="rect">
            <a:avLst/>
          </a:prstGeom>
        </p:spPr>
        <p:txBody>
          <a:bodyPr anchor="t" rtlCol="false" tIns="0" lIns="0" bIns="0" rIns="0">
            <a:spAutoFit/>
          </a:bodyPr>
          <a:lstStyle/>
          <a:p>
            <a:pPr algn="ctr">
              <a:lnSpc>
                <a:spcPts val="6536"/>
              </a:lnSpc>
            </a:pPr>
            <a:r>
              <a:rPr lang="en-US" sz="4736" spc="265">
                <a:solidFill>
                  <a:srgbClr val="FFDE59"/>
                </a:solidFill>
                <a:latin typeface="Ovo"/>
                <a:ea typeface="Ovo"/>
                <a:cs typeface="Ovo"/>
                <a:sym typeface="Ovo"/>
              </a:rPr>
              <a:t>Structured/programmed</a:t>
            </a:r>
            <a:r>
              <a:rPr lang="en-US" sz="4736" spc="265">
                <a:solidFill>
                  <a:srgbClr val="FFDE59"/>
                </a:solidFill>
                <a:latin typeface="Ovo"/>
                <a:ea typeface="Ovo"/>
                <a:cs typeface="Ovo"/>
                <a:sym typeface="Ovo"/>
              </a:rPr>
              <a:t> Decision</a:t>
            </a:r>
          </a:p>
          <a:p>
            <a:pPr algn="ctr">
              <a:lnSpc>
                <a:spcPts val="6536"/>
              </a:lnSpc>
              <a:spcBef>
                <a:spcPct val="0"/>
              </a:spcBef>
            </a:pPr>
          </a:p>
        </p:txBody>
      </p:sp>
      <p:sp>
        <p:nvSpPr>
          <p:cNvPr name="TextBox 5" id="5"/>
          <p:cNvSpPr txBox="true"/>
          <p:nvPr/>
        </p:nvSpPr>
        <p:spPr>
          <a:xfrm rot="0">
            <a:off x="2357502" y="3555212"/>
            <a:ext cx="12992213" cy="4074377"/>
          </a:xfrm>
          <a:prstGeom prst="rect">
            <a:avLst/>
          </a:prstGeom>
        </p:spPr>
        <p:txBody>
          <a:bodyPr anchor="t" rtlCol="false" tIns="0" lIns="0" bIns="0" rIns="0">
            <a:spAutoFit/>
          </a:bodyPr>
          <a:lstStyle/>
          <a:p>
            <a:pPr algn="just" marL="1011477" indent="-505739" lvl="1">
              <a:lnSpc>
                <a:spcPts val="6465"/>
              </a:lnSpc>
              <a:buFont typeface="Arial"/>
              <a:buChar char="•"/>
            </a:pPr>
            <a:r>
              <a:rPr lang="en-US" sz="4684" spc="262">
                <a:solidFill>
                  <a:srgbClr val="FFFFFF"/>
                </a:solidFill>
                <a:latin typeface="Ovo"/>
                <a:ea typeface="Ovo"/>
                <a:cs typeface="Ovo"/>
                <a:sym typeface="Ovo"/>
              </a:rPr>
              <a:t>Schedule decisions</a:t>
            </a:r>
          </a:p>
          <a:p>
            <a:pPr algn="just" marL="1011477" indent="-505739" lvl="1">
              <a:lnSpc>
                <a:spcPts val="6465"/>
              </a:lnSpc>
              <a:buFont typeface="Arial"/>
              <a:buChar char="•"/>
            </a:pPr>
            <a:r>
              <a:rPr lang="en-US" sz="4684" spc="262">
                <a:solidFill>
                  <a:srgbClr val="FFFFFF"/>
                </a:solidFill>
                <a:latin typeface="Ovo"/>
                <a:ea typeface="Ovo"/>
                <a:cs typeface="Ovo"/>
                <a:sym typeface="Ovo"/>
              </a:rPr>
              <a:t>Organization develops specific process handling </a:t>
            </a:r>
          </a:p>
          <a:p>
            <a:pPr algn="just" marL="1011477" indent="-505739" lvl="1">
              <a:lnSpc>
                <a:spcPts val="6465"/>
              </a:lnSpc>
              <a:buFont typeface="Arial"/>
              <a:buChar char="•"/>
            </a:pPr>
            <a:r>
              <a:rPr lang="en-US" sz="4684" spc="262">
                <a:solidFill>
                  <a:srgbClr val="FFFFFF"/>
                </a:solidFill>
                <a:latin typeface="Ovo"/>
                <a:ea typeface="Ovo"/>
                <a:cs typeface="Ovo"/>
                <a:sym typeface="Ovo"/>
              </a:rPr>
              <a:t>Rules of decision making system are predefined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357502" y="952500"/>
            <a:ext cx="11716580"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TYPES OF DECISIONS</a:t>
            </a:r>
          </a:p>
        </p:txBody>
      </p:sp>
      <p:sp>
        <p:nvSpPr>
          <p:cNvPr name="Freeform 3" id="3"/>
          <p:cNvSpPr/>
          <p:nvPr/>
        </p:nvSpPr>
        <p:spPr>
          <a:xfrm flipH="false" flipV="false" rot="-8790015">
            <a:off x="14281799" y="-151278"/>
            <a:ext cx="4850718" cy="3832067"/>
          </a:xfrm>
          <a:custGeom>
            <a:avLst/>
            <a:gdLst/>
            <a:ahLst/>
            <a:cxnLst/>
            <a:rect r="r" b="b" t="t" l="l"/>
            <a:pathLst>
              <a:path h="3832067" w="4850718">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356875"/>
            <a:ext cx="13763650" cy="808998"/>
          </a:xfrm>
          <a:prstGeom prst="rect">
            <a:avLst/>
          </a:prstGeom>
        </p:spPr>
        <p:txBody>
          <a:bodyPr anchor="t" rtlCol="false" tIns="0" lIns="0" bIns="0" rIns="0">
            <a:spAutoFit/>
          </a:bodyPr>
          <a:lstStyle/>
          <a:p>
            <a:pPr algn="ctr">
              <a:lnSpc>
                <a:spcPts val="6536"/>
              </a:lnSpc>
              <a:spcBef>
                <a:spcPct val="0"/>
              </a:spcBef>
            </a:pPr>
            <a:r>
              <a:rPr lang="en-US" sz="4736" spc="265">
                <a:solidFill>
                  <a:srgbClr val="FFDE59"/>
                </a:solidFill>
                <a:latin typeface="Ovo"/>
                <a:ea typeface="Ovo"/>
                <a:cs typeface="Ovo"/>
                <a:sym typeface="Ovo"/>
              </a:rPr>
              <a:t>Unstructured / Non-programmed Decisions</a:t>
            </a:r>
          </a:p>
        </p:txBody>
      </p:sp>
      <p:sp>
        <p:nvSpPr>
          <p:cNvPr name="TextBox 5" id="5"/>
          <p:cNvSpPr txBox="true"/>
          <p:nvPr/>
        </p:nvSpPr>
        <p:spPr>
          <a:xfrm rot="0">
            <a:off x="2357502" y="3545687"/>
            <a:ext cx="12992213" cy="5591138"/>
          </a:xfrm>
          <a:prstGeom prst="rect">
            <a:avLst/>
          </a:prstGeom>
        </p:spPr>
        <p:txBody>
          <a:bodyPr anchor="t" rtlCol="false" tIns="0" lIns="0" bIns="0" rIns="0">
            <a:spAutoFit/>
          </a:bodyPr>
          <a:lstStyle/>
          <a:p>
            <a:pPr algn="l" marL="989888" indent="-494944" lvl="1">
              <a:lnSpc>
                <a:spcPts val="6327"/>
              </a:lnSpc>
              <a:buFont typeface="Arial"/>
              <a:buChar char="•"/>
            </a:pPr>
            <a:r>
              <a:rPr lang="en-US" sz="4584" spc="256">
                <a:solidFill>
                  <a:srgbClr val="FFFFFF"/>
                </a:solidFill>
                <a:latin typeface="Ovo"/>
                <a:ea typeface="Ovo"/>
                <a:cs typeface="Ovo"/>
                <a:sym typeface="Ovo"/>
              </a:rPr>
              <a:t>Repetitive decisions</a:t>
            </a:r>
          </a:p>
          <a:p>
            <a:pPr algn="l" marL="989888" indent="-494944" lvl="1">
              <a:lnSpc>
                <a:spcPts val="6327"/>
              </a:lnSpc>
              <a:buFont typeface="Arial"/>
              <a:buChar char="•"/>
            </a:pPr>
            <a:r>
              <a:rPr lang="en-US" sz="4584" spc="256">
                <a:solidFill>
                  <a:srgbClr val="FFFFFF"/>
                </a:solidFill>
                <a:latin typeface="Ovo"/>
                <a:ea typeface="Ovo"/>
                <a:cs typeface="Ovo"/>
                <a:sym typeface="Ovo"/>
              </a:rPr>
              <a:t>Handled by general problem solving process</a:t>
            </a:r>
          </a:p>
          <a:p>
            <a:pPr algn="l" marL="989888" indent="-494944" lvl="1">
              <a:lnSpc>
                <a:spcPts val="6327"/>
              </a:lnSpc>
              <a:buFont typeface="Arial"/>
              <a:buChar char="•"/>
            </a:pPr>
            <a:r>
              <a:rPr lang="en-US" sz="4584" spc="256">
                <a:solidFill>
                  <a:srgbClr val="FFFFFF"/>
                </a:solidFill>
                <a:latin typeface="Ovo"/>
                <a:ea typeface="Ovo"/>
                <a:cs typeface="Ovo"/>
                <a:sym typeface="Ovo"/>
              </a:rPr>
              <a:t>Decision taken by Decision Support Systems</a:t>
            </a:r>
          </a:p>
          <a:p>
            <a:pPr algn="l" marL="989888" indent="-494944" lvl="1">
              <a:lnSpc>
                <a:spcPts val="6327"/>
              </a:lnSpc>
              <a:buFont typeface="Arial"/>
              <a:buChar char="•"/>
            </a:pPr>
            <a:r>
              <a:rPr lang="en-US" sz="4584" spc="256">
                <a:solidFill>
                  <a:srgbClr val="FFFFFF"/>
                </a:solidFill>
                <a:latin typeface="Ovo"/>
                <a:ea typeface="Ovo"/>
                <a:cs typeface="Ovo"/>
                <a:sym typeface="Ovo"/>
              </a:rPr>
              <a:t>Rules of decision making system are not fixed or predetermined</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357502" y="952500"/>
            <a:ext cx="11716580"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TYPES OF DECISIONS</a:t>
            </a:r>
          </a:p>
        </p:txBody>
      </p:sp>
      <p:sp>
        <p:nvSpPr>
          <p:cNvPr name="Freeform 3" id="3"/>
          <p:cNvSpPr/>
          <p:nvPr/>
        </p:nvSpPr>
        <p:spPr>
          <a:xfrm flipH="false" flipV="false" rot="-8790015">
            <a:off x="14281799" y="-151278"/>
            <a:ext cx="4850718" cy="3832067"/>
          </a:xfrm>
          <a:custGeom>
            <a:avLst/>
            <a:gdLst/>
            <a:ahLst/>
            <a:cxnLst/>
            <a:rect r="r" b="b" t="t" l="l"/>
            <a:pathLst>
              <a:path h="3832067" w="4850718">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356875"/>
            <a:ext cx="13763650" cy="808998"/>
          </a:xfrm>
          <a:prstGeom prst="rect">
            <a:avLst/>
          </a:prstGeom>
        </p:spPr>
        <p:txBody>
          <a:bodyPr anchor="t" rtlCol="false" tIns="0" lIns="0" bIns="0" rIns="0">
            <a:spAutoFit/>
          </a:bodyPr>
          <a:lstStyle/>
          <a:p>
            <a:pPr algn="ctr">
              <a:lnSpc>
                <a:spcPts val="6536"/>
              </a:lnSpc>
              <a:spcBef>
                <a:spcPct val="0"/>
              </a:spcBef>
            </a:pPr>
            <a:r>
              <a:rPr lang="en-US" sz="4736" spc="265">
                <a:solidFill>
                  <a:srgbClr val="FFDE59"/>
                </a:solidFill>
                <a:latin typeface="Ovo"/>
                <a:ea typeface="Ovo"/>
                <a:cs typeface="Ovo"/>
                <a:sym typeface="Ovo"/>
              </a:rPr>
              <a:t>Semistructured Decisions:</a:t>
            </a:r>
          </a:p>
        </p:txBody>
      </p:sp>
      <p:sp>
        <p:nvSpPr>
          <p:cNvPr name="TextBox 5" id="5"/>
          <p:cNvSpPr txBox="true"/>
          <p:nvPr/>
        </p:nvSpPr>
        <p:spPr>
          <a:xfrm rot="0">
            <a:off x="2357502" y="3545687"/>
            <a:ext cx="12992213" cy="2390738"/>
          </a:xfrm>
          <a:prstGeom prst="rect">
            <a:avLst/>
          </a:prstGeom>
        </p:spPr>
        <p:txBody>
          <a:bodyPr anchor="t" rtlCol="false" tIns="0" lIns="0" bIns="0" rIns="0">
            <a:spAutoFit/>
          </a:bodyPr>
          <a:lstStyle/>
          <a:p>
            <a:pPr algn="l" marL="989888" indent="-494944" lvl="1">
              <a:lnSpc>
                <a:spcPts val="6327"/>
              </a:lnSpc>
              <a:buFont typeface="Arial"/>
              <a:buChar char="•"/>
            </a:pPr>
            <a:r>
              <a:rPr lang="en-US" sz="4584" spc="256">
                <a:solidFill>
                  <a:srgbClr val="FFFFFF"/>
                </a:solidFill>
                <a:latin typeface="Ovo"/>
                <a:ea typeface="Ovo"/>
                <a:cs typeface="Ovo"/>
                <a:sym typeface="Ovo"/>
              </a:rPr>
              <a:t>Some decision procedures can be specified </a:t>
            </a:r>
            <a:r>
              <a:rPr lang="en-US" sz="4584" spc="256">
                <a:solidFill>
                  <a:srgbClr val="FFFFFF"/>
                </a:solidFill>
                <a:latin typeface="Ovo"/>
                <a:ea typeface="Ovo"/>
                <a:cs typeface="Ovo"/>
                <a:sym typeface="Ovo"/>
              </a:rPr>
              <a:t>in advance, but not enough to lead to a definite recommended decision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765677" y="2231916"/>
            <a:ext cx="8756645" cy="5823169"/>
          </a:xfrm>
          <a:custGeom>
            <a:avLst/>
            <a:gdLst/>
            <a:ahLst/>
            <a:cxnLst/>
            <a:rect r="r" b="b" t="t" l="l"/>
            <a:pathLst>
              <a:path h="5823169" w="8756645">
                <a:moveTo>
                  <a:pt x="0" y="0"/>
                </a:moveTo>
                <a:lnTo>
                  <a:pt x="8756646" y="0"/>
                </a:lnTo>
                <a:lnTo>
                  <a:pt x="8756646" y="5823168"/>
                </a:lnTo>
                <a:lnTo>
                  <a:pt x="0" y="5823168"/>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357502" y="952500"/>
            <a:ext cx="12116075"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Decision Support System Models</a:t>
            </a:r>
          </a:p>
        </p:txBody>
      </p:sp>
      <p:sp>
        <p:nvSpPr>
          <p:cNvPr name="Freeform 3" id="3"/>
          <p:cNvSpPr/>
          <p:nvPr/>
        </p:nvSpPr>
        <p:spPr>
          <a:xfrm flipH="false" flipV="false" rot="-8790015">
            <a:off x="14281799" y="-151278"/>
            <a:ext cx="4850718" cy="3832067"/>
          </a:xfrm>
          <a:custGeom>
            <a:avLst/>
            <a:gdLst/>
            <a:ahLst/>
            <a:cxnLst/>
            <a:rect r="r" b="b" t="t" l="l"/>
            <a:pathLst>
              <a:path h="3832067" w="4850718">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357502" y="3545687"/>
            <a:ext cx="12992213" cy="2390738"/>
          </a:xfrm>
          <a:prstGeom prst="rect">
            <a:avLst/>
          </a:prstGeom>
        </p:spPr>
        <p:txBody>
          <a:bodyPr anchor="t" rtlCol="false" tIns="0" lIns="0" bIns="0" rIns="0">
            <a:spAutoFit/>
          </a:bodyPr>
          <a:lstStyle/>
          <a:p>
            <a:pPr algn="l" marL="989888" indent="-494944" lvl="1">
              <a:lnSpc>
                <a:spcPts val="6327"/>
              </a:lnSpc>
              <a:buFont typeface="Arial"/>
              <a:buChar char="•"/>
            </a:pPr>
            <a:r>
              <a:rPr lang="en-US" sz="4584" spc="256">
                <a:solidFill>
                  <a:srgbClr val="FFFFFF"/>
                </a:solidFill>
                <a:latin typeface="Ovo"/>
                <a:ea typeface="Ovo"/>
                <a:cs typeface="Ovo"/>
                <a:sym typeface="Ovo"/>
              </a:rPr>
              <a:t>Behavioral Models</a:t>
            </a:r>
          </a:p>
          <a:p>
            <a:pPr algn="l" marL="989888" indent="-494944" lvl="1">
              <a:lnSpc>
                <a:spcPts val="6327"/>
              </a:lnSpc>
              <a:buFont typeface="Arial"/>
              <a:buChar char="•"/>
            </a:pPr>
            <a:r>
              <a:rPr lang="en-US" sz="4584" spc="256">
                <a:solidFill>
                  <a:srgbClr val="FFFFFF"/>
                </a:solidFill>
                <a:latin typeface="Ovo"/>
                <a:ea typeface="Ovo"/>
                <a:cs typeface="Ovo"/>
                <a:sym typeface="Ovo"/>
              </a:rPr>
              <a:t>Management Science Models</a:t>
            </a:r>
          </a:p>
          <a:p>
            <a:pPr algn="l" marL="989888" indent="-494944" lvl="1">
              <a:lnSpc>
                <a:spcPts val="6327"/>
              </a:lnSpc>
              <a:buFont typeface="Arial"/>
              <a:buChar char="•"/>
            </a:pPr>
            <a:r>
              <a:rPr lang="en-US" sz="4584" spc="256">
                <a:solidFill>
                  <a:srgbClr val="FFFFFF"/>
                </a:solidFill>
                <a:latin typeface="Ovo"/>
                <a:ea typeface="Ovo"/>
                <a:cs typeface="Ovo"/>
                <a:sym typeface="Ovo"/>
              </a:rPr>
              <a:t>Operation Research Models</a:t>
            </a:r>
          </a:p>
        </p:txBody>
      </p:sp>
    </p:spTree>
  </p:cSld>
  <p:clrMapOvr>
    <a:masterClrMapping/>
  </p:clrMapOvr>
</p:sld>
</file>

<file path=ppt/slides/slide18.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024589" y="584472"/>
            <a:ext cx="12116075"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Decision Support System Models</a:t>
            </a:r>
          </a:p>
        </p:txBody>
      </p:sp>
      <p:sp>
        <p:nvSpPr>
          <p:cNvPr name="TextBox 3" id="3"/>
          <p:cNvSpPr txBox="true"/>
          <p:nvPr/>
        </p:nvSpPr>
        <p:spPr>
          <a:xfrm rot="0">
            <a:off x="-2133970" y="1669506"/>
            <a:ext cx="13763650" cy="808998"/>
          </a:xfrm>
          <a:prstGeom prst="rect">
            <a:avLst/>
          </a:prstGeom>
        </p:spPr>
        <p:txBody>
          <a:bodyPr anchor="t" rtlCol="false" tIns="0" lIns="0" bIns="0" rIns="0">
            <a:spAutoFit/>
          </a:bodyPr>
          <a:lstStyle/>
          <a:p>
            <a:pPr algn="ctr">
              <a:lnSpc>
                <a:spcPts val="6536"/>
              </a:lnSpc>
              <a:spcBef>
                <a:spcPct val="0"/>
              </a:spcBef>
            </a:pPr>
            <a:r>
              <a:rPr lang="en-US" sz="4736" spc="265">
                <a:solidFill>
                  <a:srgbClr val="FFDE59"/>
                </a:solidFill>
                <a:latin typeface="Ovo"/>
                <a:ea typeface="Ovo"/>
                <a:cs typeface="Ovo"/>
                <a:sym typeface="Ovo"/>
              </a:rPr>
              <a:t>Behavioral Models</a:t>
            </a:r>
          </a:p>
        </p:txBody>
      </p:sp>
      <p:sp>
        <p:nvSpPr>
          <p:cNvPr name="TextBox 4" id="4"/>
          <p:cNvSpPr txBox="true"/>
          <p:nvPr/>
        </p:nvSpPr>
        <p:spPr>
          <a:xfrm rot="0">
            <a:off x="1553229" y="2773778"/>
            <a:ext cx="16438478" cy="7261442"/>
          </a:xfrm>
          <a:prstGeom prst="rect">
            <a:avLst/>
          </a:prstGeom>
        </p:spPr>
        <p:txBody>
          <a:bodyPr anchor="t" rtlCol="false" tIns="0" lIns="0" bIns="0" rIns="0">
            <a:spAutoFit/>
          </a:bodyPr>
          <a:lstStyle/>
          <a:p>
            <a:pPr algn="l" marL="795583" indent="-397791" lvl="1">
              <a:lnSpc>
                <a:spcPts val="5085"/>
              </a:lnSpc>
              <a:buFont typeface="Arial"/>
              <a:buChar char="•"/>
            </a:pPr>
            <a:r>
              <a:rPr lang="en-US" sz="3684" spc="206">
                <a:solidFill>
                  <a:srgbClr val="FFFFFF"/>
                </a:solidFill>
                <a:latin typeface="Ovo"/>
                <a:ea typeface="Ovo"/>
                <a:cs typeface="Ovo"/>
                <a:sym typeface="Ovo"/>
              </a:rPr>
              <a:t>The decision maker can make the decisions for such behavioral relationships.</a:t>
            </a:r>
          </a:p>
          <a:p>
            <a:pPr algn="l" marL="795583" indent="-397791" lvl="1">
              <a:lnSpc>
                <a:spcPts val="5085"/>
              </a:lnSpc>
              <a:buFont typeface="Arial"/>
              <a:buChar char="•"/>
            </a:pPr>
            <a:r>
              <a:rPr lang="en-US" sz="3684" spc="206">
                <a:solidFill>
                  <a:srgbClr val="FFFFFF"/>
                </a:solidFill>
                <a:latin typeface="Ovo"/>
                <a:ea typeface="Ovo"/>
                <a:cs typeface="Ovo"/>
                <a:sym typeface="Ovo"/>
              </a:rPr>
              <a:t>For eg: The trend (development) analysis, forecasting and statistical analysis models.</a:t>
            </a:r>
          </a:p>
          <a:p>
            <a:pPr algn="l" marL="795583" indent="-397791" lvl="1">
              <a:lnSpc>
                <a:spcPts val="5085"/>
              </a:lnSpc>
              <a:buFont typeface="Arial"/>
              <a:buChar char="•"/>
            </a:pPr>
            <a:r>
              <a:rPr lang="en-US" sz="3684" spc="206">
                <a:solidFill>
                  <a:srgbClr val="FFFFFF"/>
                </a:solidFill>
                <a:latin typeface="Ovo"/>
                <a:ea typeface="Ovo"/>
                <a:cs typeface="Ovo"/>
                <a:sym typeface="Ovo"/>
              </a:rPr>
              <a:t>The trend analysis indicates how different variables behave in trend setting in the past and hence in future.</a:t>
            </a:r>
          </a:p>
          <a:p>
            <a:pPr algn="l" marL="795583" indent="-397791" lvl="1">
              <a:lnSpc>
                <a:spcPts val="5085"/>
              </a:lnSpc>
              <a:buFont typeface="Arial"/>
              <a:buChar char="•"/>
            </a:pPr>
            <a:r>
              <a:rPr lang="en-US" sz="3684" spc="206">
                <a:solidFill>
                  <a:srgbClr val="FFFFFF"/>
                </a:solidFill>
                <a:latin typeface="Ovo"/>
                <a:ea typeface="Ovo"/>
                <a:cs typeface="Ovo"/>
                <a:sym typeface="Ovo"/>
              </a:rPr>
              <a:t>In Market Research method, they can forecast or judge the behavior of the customers buying decisions. (i.e. The questionnaire are designed and computerized to evaluate customer’s buying behavioral).</a:t>
            </a:r>
          </a:p>
          <a:p>
            <a:pPr algn="l">
              <a:lnSpc>
                <a:spcPts val="7155"/>
              </a:lnSpc>
            </a:pPr>
          </a:p>
        </p:txBody>
      </p:sp>
    </p:spTree>
  </p:cSld>
  <p:clrMapOvr>
    <a:masterClrMapping/>
  </p:clrMapOvr>
</p:sld>
</file>

<file path=ppt/slides/slide19.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024589" y="584472"/>
            <a:ext cx="12116075"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Decision Support System Models</a:t>
            </a:r>
          </a:p>
        </p:txBody>
      </p:sp>
      <p:sp>
        <p:nvSpPr>
          <p:cNvPr name="TextBox 3" id="3"/>
          <p:cNvSpPr txBox="true"/>
          <p:nvPr/>
        </p:nvSpPr>
        <p:spPr>
          <a:xfrm rot="0">
            <a:off x="-669154" y="1669506"/>
            <a:ext cx="13763650" cy="808998"/>
          </a:xfrm>
          <a:prstGeom prst="rect">
            <a:avLst/>
          </a:prstGeom>
        </p:spPr>
        <p:txBody>
          <a:bodyPr anchor="t" rtlCol="false" tIns="0" lIns="0" bIns="0" rIns="0">
            <a:spAutoFit/>
          </a:bodyPr>
          <a:lstStyle/>
          <a:p>
            <a:pPr algn="ctr">
              <a:lnSpc>
                <a:spcPts val="6536"/>
              </a:lnSpc>
              <a:spcBef>
                <a:spcPct val="0"/>
              </a:spcBef>
            </a:pPr>
            <a:r>
              <a:rPr lang="en-US" sz="4736" spc="265">
                <a:solidFill>
                  <a:srgbClr val="FFDE59"/>
                </a:solidFill>
                <a:latin typeface="Ovo"/>
                <a:ea typeface="Ovo"/>
                <a:cs typeface="Ovo"/>
                <a:sym typeface="Ovo"/>
              </a:rPr>
              <a:t>Management Science Models</a:t>
            </a:r>
          </a:p>
        </p:txBody>
      </p:sp>
      <p:sp>
        <p:nvSpPr>
          <p:cNvPr name="TextBox 4" id="4"/>
          <p:cNvSpPr txBox="true"/>
          <p:nvPr/>
        </p:nvSpPr>
        <p:spPr>
          <a:xfrm rot="0">
            <a:off x="1519938" y="2773778"/>
            <a:ext cx="16438478" cy="6737567"/>
          </a:xfrm>
          <a:prstGeom prst="rect">
            <a:avLst/>
          </a:prstGeom>
        </p:spPr>
        <p:txBody>
          <a:bodyPr anchor="t" rtlCol="false" tIns="0" lIns="0" bIns="0" rIns="0">
            <a:spAutoFit/>
          </a:bodyPr>
          <a:lstStyle/>
          <a:p>
            <a:pPr algn="l" marL="795583" indent="-397791" lvl="1">
              <a:lnSpc>
                <a:spcPts val="5085"/>
              </a:lnSpc>
              <a:buFont typeface="Arial"/>
              <a:buChar char="•"/>
            </a:pPr>
            <a:r>
              <a:rPr lang="en-US" sz="3684" spc="206">
                <a:solidFill>
                  <a:srgbClr val="FFFFFF"/>
                </a:solidFill>
                <a:latin typeface="Ovo"/>
                <a:ea typeface="Ovo"/>
                <a:cs typeface="Ovo"/>
                <a:sym typeface="Ovo"/>
              </a:rPr>
              <a:t>These models are developed on the principles of the business management, accounting and economics. </a:t>
            </a:r>
            <a:r>
              <a:rPr lang="en-US" sz="3684" spc="206">
                <a:solidFill>
                  <a:srgbClr val="FFFFFF"/>
                </a:solidFill>
                <a:latin typeface="Ovo"/>
                <a:ea typeface="Ovo"/>
                <a:cs typeface="Ovo"/>
                <a:sym typeface="Ovo"/>
              </a:rPr>
              <a:t>For eg: the budgetary systems, cost accounting system, inventory management system.</a:t>
            </a:r>
          </a:p>
          <a:p>
            <a:pPr algn="l" marL="860351" indent="-430176" lvl="1">
              <a:lnSpc>
                <a:spcPts val="5499"/>
              </a:lnSpc>
              <a:buFont typeface="Arial"/>
              <a:buChar char="•"/>
            </a:pPr>
            <a:r>
              <a:rPr lang="en-US" sz="3984" spc="223">
                <a:solidFill>
                  <a:srgbClr val="FFFFFF"/>
                </a:solidFill>
                <a:latin typeface="Ovo"/>
                <a:ea typeface="Ovo"/>
                <a:cs typeface="Ovo"/>
                <a:sym typeface="Ovo"/>
              </a:rPr>
              <a:t>In the budgetary system, budgets are used for planning and control.</a:t>
            </a:r>
          </a:p>
          <a:p>
            <a:pPr algn="l" marL="795583" indent="-397791" lvl="1">
              <a:lnSpc>
                <a:spcPts val="5085"/>
              </a:lnSpc>
              <a:buFont typeface="Arial"/>
              <a:buChar char="•"/>
            </a:pPr>
            <a:r>
              <a:rPr lang="en-US" sz="3684" spc="206">
                <a:solidFill>
                  <a:srgbClr val="FFFFFF"/>
                </a:solidFill>
                <a:latin typeface="Ovo"/>
                <a:ea typeface="Ovo"/>
                <a:cs typeface="Ovo"/>
                <a:sym typeface="Ovo"/>
              </a:rPr>
              <a:t>In all the organization, budgets are prepared with the use of graphical representation in the form of line charts or bar charts.</a:t>
            </a:r>
          </a:p>
          <a:p>
            <a:pPr algn="l" marL="795583" indent="-397791" lvl="1">
              <a:lnSpc>
                <a:spcPts val="5085"/>
              </a:lnSpc>
              <a:buFont typeface="Arial"/>
              <a:buChar char="•"/>
            </a:pPr>
            <a:r>
              <a:rPr lang="en-US" sz="3684" spc="206">
                <a:solidFill>
                  <a:srgbClr val="FFFFFF"/>
                </a:solidFill>
                <a:latin typeface="Ovo"/>
                <a:ea typeface="Ovo"/>
                <a:cs typeface="Ovo"/>
                <a:sym typeface="Ovo"/>
              </a:rPr>
              <a:t>For eg : Sales Budget, Production Budget</a:t>
            </a:r>
          </a:p>
          <a:p>
            <a:pPr algn="l">
              <a:lnSpc>
                <a:spcPts val="5085"/>
              </a:lnSpc>
            </a:pPr>
          </a:p>
          <a:p>
            <a:pPr algn="l">
              <a:lnSpc>
                <a:spcPts val="7155"/>
              </a:lnSpc>
            </a:pPr>
          </a:p>
        </p:txBody>
      </p:sp>
    </p:spTree>
  </p:cSld>
  <p:clrMapOvr>
    <a:masterClrMapping/>
  </p:clrMapOvr>
</p:sld>
</file>

<file path=ppt/slides/slide20.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024589" y="584472"/>
            <a:ext cx="12116075"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Decision Support System Models</a:t>
            </a:r>
          </a:p>
        </p:txBody>
      </p:sp>
      <p:sp>
        <p:nvSpPr>
          <p:cNvPr name="TextBox 3" id="3"/>
          <p:cNvSpPr txBox="true"/>
          <p:nvPr/>
        </p:nvSpPr>
        <p:spPr>
          <a:xfrm rot="0">
            <a:off x="-669154" y="1669506"/>
            <a:ext cx="13763650" cy="808998"/>
          </a:xfrm>
          <a:prstGeom prst="rect">
            <a:avLst/>
          </a:prstGeom>
        </p:spPr>
        <p:txBody>
          <a:bodyPr anchor="t" rtlCol="false" tIns="0" lIns="0" bIns="0" rIns="0">
            <a:spAutoFit/>
          </a:bodyPr>
          <a:lstStyle/>
          <a:p>
            <a:pPr algn="ctr">
              <a:lnSpc>
                <a:spcPts val="6536"/>
              </a:lnSpc>
              <a:spcBef>
                <a:spcPct val="0"/>
              </a:spcBef>
            </a:pPr>
            <a:r>
              <a:rPr lang="en-US" sz="4736" spc="265">
                <a:solidFill>
                  <a:srgbClr val="FFDE59"/>
                </a:solidFill>
                <a:latin typeface="Ovo"/>
                <a:ea typeface="Ovo"/>
                <a:cs typeface="Ovo"/>
                <a:sym typeface="Ovo"/>
              </a:rPr>
              <a:t>Operation Research Models</a:t>
            </a:r>
          </a:p>
        </p:txBody>
      </p:sp>
      <p:sp>
        <p:nvSpPr>
          <p:cNvPr name="TextBox 4" id="4"/>
          <p:cNvSpPr txBox="true"/>
          <p:nvPr/>
        </p:nvSpPr>
        <p:spPr>
          <a:xfrm rot="0">
            <a:off x="1519938" y="2764253"/>
            <a:ext cx="16438478" cy="7650824"/>
          </a:xfrm>
          <a:prstGeom prst="rect">
            <a:avLst/>
          </a:prstGeom>
        </p:spPr>
        <p:txBody>
          <a:bodyPr anchor="t" rtlCol="false" tIns="0" lIns="0" bIns="0" rIns="0">
            <a:spAutoFit/>
          </a:bodyPr>
          <a:lstStyle/>
          <a:p>
            <a:pPr algn="l" marL="817172" indent="-408586" lvl="1">
              <a:lnSpc>
                <a:spcPts val="5223"/>
              </a:lnSpc>
              <a:buFont typeface="Arial"/>
              <a:buChar char="•"/>
            </a:pPr>
            <a:r>
              <a:rPr lang="en-US" sz="3784" spc="211">
                <a:solidFill>
                  <a:srgbClr val="FFFFFF"/>
                </a:solidFill>
                <a:latin typeface="Ovo"/>
                <a:ea typeface="Ovo"/>
                <a:cs typeface="Ovo"/>
                <a:sym typeface="Ovo"/>
              </a:rPr>
              <a:t>These are the mathematical models in providing guidelines to managers for making effective decisions within the state of the current information</a:t>
            </a:r>
          </a:p>
          <a:p>
            <a:pPr algn="l" marL="817172" indent="-408586" lvl="1">
              <a:lnSpc>
                <a:spcPts val="5223"/>
              </a:lnSpc>
              <a:buFont typeface="Arial"/>
              <a:buChar char="•"/>
            </a:pPr>
            <a:r>
              <a:rPr lang="en-US" sz="3784" spc="211">
                <a:solidFill>
                  <a:srgbClr val="FFFFFF"/>
                </a:solidFill>
                <a:latin typeface="Ovo"/>
                <a:ea typeface="Ovo"/>
                <a:cs typeface="Ovo"/>
                <a:sym typeface="Ovo"/>
              </a:rPr>
              <a:t>Some applications </a:t>
            </a:r>
          </a:p>
          <a:p>
            <a:pPr algn="l" marL="817172" indent="-408586" lvl="1">
              <a:lnSpc>
                <a:spcPts val="5223"/>
              </a:lnSpc>
              <a:buFont typeface="Arial"/>
              <a:buChar char="•"/>
            </a:pPr>
            <a:r>
              <a:rPr lang="en-US" sz="3784" spc="211">
                <a:solidFill>
                  <a:srgbClr val="FFFFFF"/>
                </a:solidFill>
                <a:latin typeface="Ovo"/>
                <a:ea typeface="Ovo"/>
                <a:cs typeface="Ovo"/>
                <a:sym typeface="Ovo"/>
              </a:rPr>
              <a:t>Telecommunications/Road/Rail Network Design </a:t>
            </a:r>
          </a:p>
          <a:p>
            <a:pPr algn="l" marL="817172" indent="-408586" lvl="1">
              <a:lnSpc>
                <a:spcPts val="5223"/>
              </a:lnSpc>
              <a:buFont typeface="Arial"/>
              <a:buChar char="•"/>
            </a:pPr>
            <a:r>
              <a:rPr lang="en-US" sz="3784" spc="211">
                <a:solidFill>
                  <a:srgbClr val="FFFFFF"/>
                </a:solidFill>
                <a:latin typeface="Ovo"/>
                <a:ea typeface="Ovo"/>
                <a:cs typeface="Ovo"/>
                <a:sym typeface="Ovo"/>
              </a:rPr>
              <a:t>Organization Supply Chain Strategy </a:t>
            </a:r>
          </a:p>
          <a:p>
            <a:pPr algn="l" marL="817172" indent="-408586" lvl="1">
              <a:lnSpc>
                <a:spcPts val="5223"/>
              </a:lnSpc>
              <a:buFont typeface="Arial"/>
              <a:buChar char="•"/>
            </a:pPr>
            <a:r>
              <a:rPr lang="en-US" sz="3784" spc="211">
                <a:solidFill>
                  <a:srgbClr val="FFFFFF"/>
                </a:solidFill>
                <a:latin typeface="Ovo"/>
                <a:ea typeface="Ovo"/>
                <a:cs typeface="Ovo"/>
                <a:sym typeface="Ovo"/>
              </a:rPr>
              <a:t> Revenue, Pricing and Promotions </a:t>
            </a:r>
          </a:p>
          <a:p>
            <a:pPr algn="l" marL="946709" indent="-473355" lvl="1">
              <a:lnSpc>
                <a:spcPts val="6051"/>
              </a:lnSpc>
              <a:buFont typeface="Arial"/>
              <a:buChar char="•"/>
            </a:pPr>
            <a:r>
              <a:rPr lang="en-US" sz="4384" spc="245">
                <a:solidFill>
                  <a:srgbClr val="FFFFFF"/>
                </a:solidFill>
                <a:latin typeface="Ovo"/>
                <a:ea typeface="Ovo"/>
                <a:cs typeface="Ovo"/>
                <a:sym typeface="Ovo"/>
              </a:rPr>
              <a:t>Demand Forecasting </a:t>
            </a:r>
          </a:p>
          <a:p>
            <a:pPr algn="l" marL="946709" indent="-473355" lvl="1">
              <a:lnSpc>
                <a:spcPts val="6051"/>
              </a:lnSpc>
              <a:buFont typeface="Arial"/>
              <a:buChar char="•"/>
            </a:pPr>
            <a:r>
              <a:rPr lang="en-US" sz="4384" spc="245">
                <a:solidFill>
                  <a:srgbClr val="FFFFFF"/>
                </a:solidFill>
                <a:latin typeface="Ovo"/>
                <a:ea typeface="Ovo"/>
                <a:cs typeface="Ovo"/>
                <a:sym typeface="Ovo"/>
              </a:rPr>
              <a:t> Project Planning </a:t>
            </a:r>
          </a:p>
          <a:p>
            <a:pPr algn="l">
              <a:lnSpc>
                <a:spcPts val="5085"/>
              </a:lnSpc>
            </a:pPr>
          </a:p>
          <a:p>
            <a:pPr algn="l">
              <a:lnSpc>
                <a:spcPts val="7155"/>
              </a:lnSpc>
            </a:pPr>
          </a:p>
        </p:txBody>
      </p:sp>
    </p:spTree>
  </p:cSld>
  <p:clrMapOvr>
    <a:masterClrMapping/>
  </p:clrMapOvr>
</p:sld>
</file>

<file path=ppt/slides/slide21.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024589" y="584472"/>
            <a:ext cx="12116075"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Decision Support System Models</a:t>
            </a:r>
          </a:p>
        </p:txBody>
      </p:sp>
      <p:sp>
        <p:nvSpPr>
          <p:cNvPr name="TextBox 3" id="3"/>
          <p:cNvSpPr txBox="true"/>
          <p:nvPr/>
        </p:nvSpPr>
        <p:spPr>
          <a:xfrm rot="0">
            <a:off x="-669154" y="1669506"/>
            <a:ext cx="13763650" cy="808998"/>
          </a:xfrm>
          <a:prstGeom prst="rect">
            <a:avLst/>
          </a:prstGeom>
        </p:spPr>
        <p:txBody>
          <a:bodyPr anchor="t" rtlCol="false" tIns="0" lIns="0" bIns="0" rIns="0">
            <a:spAutoFit/>
          </a:bodyPr>
          <a:lstStyle/>
          <a:p>
            <a:pPr algn="ctr">
              <a:lnSpc>
                <a:spcPts val="6536"/>
              </a:lnSpc>
              <a:spcBef>
                <a:spcPct val="0"/>
              </a:spcBef>
            </a:pPr>
            <a:r>
              <a:rPr lang="en-US" sz="4736" spc="265">
                <a:solidFill>
                  <a:srgbClr val="FFDE59"/>
                </a:solidFill>
                <a:latin typeface="Ovo"/>
                <a:ea typeface="Ovo"/>
                <a:cs typeface="Ovo"/>
                <a:sym typeface="Ovo"/>
              </a:rPr>
              <a:t>Operation Research Models</a:t>
            </a:r>
          </a:p>
        </p:txBody>
      </p:sp>
      <p:sp>
        <p:nvSpPr>
          <p:cNvPr name="TextBox 4" id="4"/>
          <p:cNvSpPr txBox="true"/>
          <p:nvPr/>
        </p:nvSpPr>
        <p:spPr>
          <a:xfrm rot="0">
            <a:off x="2024589" y="3159032"/>
            <a:ext cx="12310362" cy="4591775"/>
          </a:xfrm>
          <a:prstGeom prst="rect">
            <a:avLst/>
          </a:prstGeom>
        </p:spPr>
        <p:txBody>
          <a:bodyPr anchor="t" rtlCol="false" tIns="0" lIns="0" bIns="0" rIns="0">
            <a:spAutoFit/>
          </a:bodyPr>
          <a:lstStyle/>
          <a:p>
            <a:pPr algn="l">
              <a:lnSpc>
                <a:spcPts val="4257"/>
              </a:lnSpc>
            </a:pPr>
            <a:r>
              <a:rPr lang="en-US" sz="3084" spc="172">
                <a:solidFill>
                  <a:srgbClr val="FFFFFF"/>
                </a:solidFill>
                <a:latin typeface="Ovo"/>
                <a:ea typeface="Ovo"/>
                <a:cs typeface="Ovo"/>
                <a:sym typeface="Ovo"/>
              </a:rPr>
              <a:t> </a:t>
            </a:r>
          </a:p>
          <a:p>
            <a:pPr algn="l">
              <a:lnSpc>
                <a:spcPts val="5085"/>
              </a:lnSpc>
            </a:pPr>
            <a:r>
              <a:rPr lang="en-US" sz="3684" spc="206">
                <a:solidFill>
                  <a:srgbClr val="FFFFFF"/>
                </a:solidFill>
                <a:latin typeface="Ovo"/>
                <a:ea typeface="Ovo"/>
                <a:cs typeface="Ovo"/>
                <a:sym typeface="Ovo"/>
              </a:rPr>
              <a:t>For eg : Linear Programming is mathematical modeling technique useful for guiding quantitative decisions in business planning, industrial engineering, and—to a lesser extent in the social and physical sciences.</a:t>
            </a:r>
          </a:p>
          <a:p>
            <a:pPr algn="l">
              <a:lnSpc>
                <a:spcPts val="7155"/>
              </a:lnSpc>
            </a:pPr>
          </a:p>
        </p:txBody>
      </p:sp>
    </p:spTree>
  </p:cSld>
  <p:clrMapOvr>
    <a:masterClrMapping/>
  </p:clrMapOvr>
</p:sld>
</file>

<file path=ppt/slides/slide22.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830303" y="584472"/>
            <a:ext cx="14213425"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Group Decision Support System (GDSS)</a:t>
            </a:r>
          </a:p>
        </p:txBody>
      </p:sp>
      <p:sp>
        <p:nvSpPr>
          <p:cNvPr name="TextBox 3" id="3"/>
          <p:cNvSpPr txBox="true"/>
          <p:nvPr/>
        </p:nvSpPr>
        <p:spPr>
          <a:xfrm rot="0">
            <a:off x="1830303" y="1998554"/>
            <a:ext cx="13475556" cy="6571451"/>
          </a:xfrm>
          <a:prstGeom prst="rect">
            <a:avLst/>
          </a:prstGeom>
        </p:spPr>
        <p:txBody>
          <a:bodyPr anchor="t" rtlCol="false" tIns="0" lIns="0" bIns="0" rIns="0">
            <a:spAutoFit/>
          </a:bodyPr>
          <a:lstStyle/>
          <a:p>
            <a:pPr algn="just">
              <a:lnSpc>
                <a:spcPts val="5223"/>
              </a:lnSpc>
            </a:pPr>
            <a:r>
              <a:rPr lang="en-US" sz="3784" spc="211">
                <a:solidFill>
                  <a:srgbClr val="FFFFFF"/>
                </a:solidFill>
                <a:latin typeface="Ovo"/>
                <a:ea typeface="Ovo"/>
                <a:cs typeface="Ovo"/>
                <a:sym typeface="Ovo"/>
              </a:rPr>
              <a:t>A Group Decision Support System (GDSS) is a technology-driven system designed to assist groups in analyzing problems and making more efficient, informed, and collaborative decisions. It typically combines software, hardware, communication networks, and decision-making tools that facilitate the sharing of data, ideas, and feedback among team members. GDSS aims to streamline the decision-making process, reduce conflicts, and improve overall group communication and outcomes.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830303" y="584472"/>
            <a:ext cx="14213425"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Group Decision Support System (GDSS)</a:t>
            </a:r>
          </a:p>
        </p:txBody>
      </p:sp>
      <p:sp>
        <p:nvSpPr>
          <p:cNvPr name="TextBox 3" id="3"/>
          <p:cNvSpPr txBox="true"/>
          <p:nvPr/>
        </p:nvSpPr>
        <p:spPr>
          <a:xfrm rot="0">
            <a:off x="1830303" y="1998554"/>
            <a:ext cx="13475556" cy="656426"/>
          </a:xfrm>
          <a:prstGeom prst="rect">
            <a:avLst/>
          </a:prstGeom>
        </p:spPr>
        <p:txBody>
          <a:bodyPr anchor="t" rtlCol="false" tIns="0" lIns="0" bIns="0" rIns="0">
            <a:spAutoFit/>
          </a:bodyPr>
          <a:lstStyle/>
          <a:p>
            <a:pPr algn="just">
              <a:lnSpc>
                <a:spcPts val="5223"/>
              </a:lnSpc>
            </a:pPr>
            <a:r>
              <a:rPr lang="en-US" sz="3784" spc="211">
                <a:solidFill>
                  <a:srgbClr val="FFFFFF"/>
                </a:solidFill>
                <a:latin typeface="Ovo"/>
                <a:ea typeface="Ovo"/>
                <a:cs typeface="Ovo"/>
                <a:sym typeface="Ovo"/>
              </a:rPr>
              <a:t>Example</a:t>
            </a:r>
          </a:p>
        </p:txBody>
      </p:sp>
      <p:sp>
        <p:nvSpPr>
          <p:cNvPr name="TextBox 4" id="4"/>
          <p:cNvSpPr txBox="true"/>
          <p:nvPr/>
        </p:nvSpPr>
        <p:spPr>
          <a:xfrm rot="0">
            <a:off x="1830303" y="3255055"/>
            <a:ext cx="13475556" cy="4599776"/>
          </a:xfrm>
          <a:prstGeom prst="rect">
            <a:avLst/>
          </a:prstGeom>
        </p:spPr>
        <p:txBody>
          <a:bodyPr anchor="t" rtlCol="false" tIns="0" lIns="0" bIns="0" rIns="0">
            <a:spAutoFit/>
          </a:bodyPr>
          <a:lstStyle/>
          <a:p>
            <a:pPr algn="just">
              <a:lnSpc>
                <a:spcPts val="5223"/>
              </a:lnSpc>
            </a:pPr>
            <a:r>
              <a:rPr lang="en-US" sz="3784" spc="211">
                <a:solidFill>
                  <a:srgbClr val="FFDE59"/>
                </a:solidFill>
                <a:latin typeface="Ovo"/>
                <a:ea typeface="Ovo"/>
                <a:cs typeface="Ovo"/>
                <a:sym typeface="Ovo"/>
              </a:rPr>
              <a:t>Corporate Board Meetings:</a:t>
            </a:r>
          </a:p>
          <a:p>
            <a:pPr algn="just">
              <a:lnSpc>
                <a:spcPts val="5223"/>
              </a:lnSpc>
            </a:pPr>
            <a:r>
              <a:rPr lang="en-US" sz="3784" spc="211">
                <a:solidFill>
                  <a:srgbClr val="FFFFFF"/>
                </a:solidFill>
                <a:latin typeface="Ovo"/>
                <a:ea typeface="Ovo"/>
                <a:cs typeface="Ovo"/>
                <a:sym typeface="Ovo"/>
              </a:rPr>
              <a:t>software like ThinkTank or MeetingSphere</a:t>
            </a:r>
          </a:p>
          <a:p>
            <a:pPr algn="just">
              <a:lnSpc>
                <a:spcPts val="5223"/>
              </a:lnSpc>
            </a:pPr>
            <a:r>
              <a:rPr lang="en-US" sz="3784" spc="211">
                <a:solidFill>
                  <a:srgbClr val="FFDE59"/>
                </a:solidFill>
                <a:latin typeface="Ovo"/>
                <a:ea typeface="Ovo"/>
                <a:cs typeface="Ovo"/>
                <a:sym typeface="Ovo"/>
              </a:rPr>
              <a:t>Government Planning Committees:</a:t>
            </a:r>
            <a:r>
              <a:rPr lang="en-US" sz="3784" spc="211">
                <a:solidFill>
                  <a:srgbClr val="FFFFFF"/>
                </a:solidFill>
                <a:latin typeface="Ovo"/>
                <a:ea typeface="Ovo"/>
                <a:cs typeface="Ovo"/>
                <a:sym typeface="Ovo"/>
              </a:rPr>
              <a:t>  Consensus </a:t>
            </a:r>
            <a:r>
              <a:rPr lang="en-US" sz="3784" spc="211" u="sng">
                <a:solidFill>
                  <a:srgbClr val="FFFFFF"/>
                </a:solidFill>
                <a:latin typeface="Ovo"/>
                <a:ea typeface="Ovo"/>
                <a:cs typeface="Ovo"/>
                <a:sym typeface="Ovo"/>
                <a:hlinkClick r:id="rId2" tooltip="https://www.devx.com/terms/decision-support-system/"/>
              </a:rPr>
              <a:t>Decision Support System</a:t>
            </a:r>
            <a:r>
              <a:rPr lang="en-US" sz="3784" spc="211">
                <a:solidFill>
                  <a:srgbClr val="FFFFFF"/>
                </a:solidFill>
                <a:latin typeface="Ovo"/>
                <a:ea typeface="Ovo"/>
                <a:cs typeface="Ovo"/>
                <a:sym typeface="Ovo"/>
              </a:rPr>
              <a:t> (CDSS) from Touchstone Energy.</a:t>
            </a:r>
          </a:p>
          <a:p>
            <a:pPr algn="just">
              <a:lnSpc>
                <a:spcPts val="5223"/>
              </a:lnSpc>
            </a:pPr>
            <a:r>
              <a:rPr lang="en-US" sz="3784" spc="211">
                <a:solidFill>
                  <a:srgbClr val="FFDE59"/>
                </a:solidFill>
                <a:latin typeface="Ovo"/>
                <a:ea typeface="Ovo"/>
                <a:cs typeface="Ovo"/>
                <a:sym typeface="Ovo"/>
              </a:rPr>
              <a:t>Crisis Management:</a:t>
            </a:r>
            <a:r>
              <a:rPr lang="en-US" sz="3784" spc="211">
                <a:solidFill>
                  <a:srgbClr val="FFFFFF"/>
                </a:solidFill>
                <a:latin typeface="Ovo"/>
                <a:ea typeface="Ovo"/>
                <a:cs typeface="Ovo"/>
                <a:sym typeface="Ovo"/>
              </a:rPr>
              <a:t>GDSS used in crisis management is </a:t>
            </a:r>
            <a:r>
              <a:rPr lang="en-US" sz="3784" spc="211" u="sng">
                <a:solidFill>
                  <a:srgbClr val="FFFFFF"/>
                </a:solidFill>
                <a:latin typeface="Ovo"/>
                <a:ea typeface="Ovo"/>
                <a:cs typeface="Ovo"/>
                <a:sym typeface="Ovo"/>
                <a:hlinkClick r:id="rId3" tooltip="https://www.devx.com/terms/cognos/"/>
              </a:rPr>
              <a:t>Cognos</a:t>
            </a:r>
            <a:r>
              <a:rPr lang="en-US" sz="3784" spc="211">
                <a:solidFill>
                  <a:srgbClr val="FFFFFF"/>
                </a:solidFill>
                <a:latin typeface="Ovo"/>
                <a:ea typeface="Ovo"/>
                <a:cs typeface="Ovo"/>
                <a:sym typeface="Ovo"/>
              </a:rPr>
              <a:t> Analytics</a:t>
            </a:r>
          </a:p>
          <a:p>
            <a:pPr algn="just">
              <a:lnSpc>
                <a:spcPts val="5223"/>
              </a:lnSpc>
            </a:pPr>
          </a:p>
        </p:txBody>
      </p:sp>
    </p:spTree>
  </p:cSld>
  <p:clrMapOvr>
    <a:masterClrMapping/>
  </p:clrMapOvr>
</p:sld>
</file>

<file path=ppt/slides/slide24.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830303" y="584472"/>
            <a:ext cx="14213425"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why GDSS?</a:t>
            </a:r>
          </a:p>
        </p:txBody>
      </p:sp>
      <p:sp>
        <p:nvSpPr>
          <p:cNvPr name="TextBox 3" id="3"/>
          <p:cNvSpPr txBox="true"/>
          <p:nvPr/>
        </p:nvSpPr>
        <p:spPr>
          <a:xfrm rot="0">
            <a:off x="1597264" y="2089861"/>
            <a:ext cx="13475556" cy="5257001"/>
          </a:xfrm>
          <a:prstGeom prst="rect">
            <a:avLst/>
          </a:prstGeom>
        </p:spPr>
        <p:txBody>
          <a:bodyPr anchor="t" rtlCol="false" tIns="0" lIns="0" bIns="0" rIns="0">
            <a:spAutoFit/>
          </a:bodyPr>
          <a:lstStyle/>
          <a:p>
            <a:pPr algn="just">
              <a:lnSpc>
                <a:spcPts val="5223"/>
              </a:lnSpc>
            </a:pPr>
            <a:r>
              <a:rPr lang="en-US" sz="3784" spc="211">
                <a:solidFill>
                  <a:srgbClr val="FFFFFF"/>
                </a:solidFill>
                <a:latin typeface="Ovo"/>
                <a:ea typeface="Ovo"/>
                <a:cs typeface="Ovo"/>
                <a:sym typeface="Ovo"/>
              </a:rPr>
              <a:t>A GDSS offers several advantages, including improved decision-making quality, time and cost savings, increased participant satisfaction, effective communication, and a more inclusive environment for all group members. Additionally, it fosters better group dynamics, reduces conflict, and mitigates the negative effects of groupthink.</a:t>
            </a:r>
          </a:p>
          <a:p>
            <a:pPr algn="just">
              <a:lnSpc>
                <a:spcPts val="5223"/>
              </a:lnSpc>
            </a:pPr>
          </a:p>
        </p:txBody>
      </p:sp>
    </p:spTree>
  </p:cSld>
  <p:clrMapOvr>
    <a:masterClrMapping/>
  </p:clrMapOvr>
</p:sld>
</file>

<file path=ppt/slides/slide25.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830303" y="584472"/>
            <a:ext cx="14213425"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Advantages of  GDSS</a:t>
            </a:r>
          </a:p>
        </p:txBody>
      </p:sp>
      <p:sp>
        <p:nvSpPr>
          <p:cNvPr name="TextBox 3" id="3"/>
          <p:cNvSpPr txBox="true"/>
          <p:nvPr/>
        </p:nvSpPr>
        <p:spPr>
          <a:xfrm rot="0">
            <a:off x="1497390" y="1943537"/>
            <a:ext cx="13475556" cy="5257001"/>
          </a:xfrm>
          <a:prstGeom prst="rect">
            <a:avLst/>
          </a:prstGeom>
        </p:spPr>
        <p:txBody>
          <a:bodyPr anchor="t" rtlCol="false" tIns="0" lIns="0" bIns="0" rIns="0">
            <a:spAutoFit/>
          </a:bodyPr>
          <a:lstStyle/>
          <a:p>
            <a:pPr algn="just" marL="817172" indent="-408586" lvl="1">
              <a:lnSpc>
                <a:spcPts val="5223"/>
              </a:lnSpc>
              <a:buFont typeface="Arial"/>
              <a:buChar char="•"/>
            </a:pPr>
            <a:r>
              <a:rPr lang="en-US" sz="3784" spc="211">
                <a:solidFill>
                  <a:srgbClr val="FFFFFF"/>
                </a:solidFill>
                <a:latin typeface="Ovo"/>
                <a:ea typeface="Ovo"/>
                <a:cs typeface="Ovo"/>
                <a:sym typeface="Ovo"/>
              </a:rPr>
              <a:t>Increase collaboration</a:t>
            </a:r>
          </a:p>
          <a:p>
            <a:pPr algn="just" marL="817172" indent="-408586" lvl="1">
              <a:lnSpc>
                <a:spcPts val="5223"/>
              </a:lnSpc>
              <a:buFont typeface="Arial"/>
              <a:buChar char="•"/>
            </a:pPr>
            <a:r>
              <a:rPr lang="en-US" sz="3784" spc="211">
                <a:solidFill>
                  <a:srgbClr val="FFFFFF"/>
                </a:solidFill>
                <a:latin typeface="Ovo"/>
                <a:ea typeface="Ovo"/>
                <a:cs typeface="Ovo"/>
                <a:sym typeface="Ovo"/>
              </a:rPr>
              <a:t>Diverse input</a:t>
            </a:r>
          </a:p>
          <a:p>
            <a:pPr algn="just" marL="817172" indent="-408586" lvl="1">
              <a:lnSpc>
                <a:spcPts val="5223"/>
              </a:lnSpc>
              <a:buFont typeface="Arial"/>
              <a:buChar char="•"/>
            </a:pPr>
            <a:r>
              <a:rPr lang="en-US" sz="3784" spc="211">
                <a:solidFill>
                  <a:srgbClr val="FFFFFF"/>
                </a:solidFill>
                <a:latin typeface="Ovo"/>
                <a:ea typeface="Ovo"/>
                <a:cs typeface="Ovo"/>
                <a:sym typeface="Ovo"/>
              </a:rPr>
              <a:t>Structured decision process</a:t>
            </a:r>
          </a:p>
          <a:p>
            <a:pPr algn="just" marL="817172" indent="-408586" lvl="1">
              <a:lnSpc>
                <a:spcPts val="5223"/>
              </a:lnSpc>
              <a:buFont typeface="Arial"/>
              <a:buChar char="•"/>
            </a:pPr>
            <a:r>
              <a:rPr lang="en-US" sz="3784" spc="211">
                <a:solidFill>
                  <a:srgbClr val="FFFFFF"/>
                </a:solidFill>
                <a:latin typeface="Ovo"/>
                <a:ea typeface="Ovo"/>
                <a:cs typeface="Ovo"/>
                <a:sym typeface="Ovo"/>
              </a:rPr>
              <a:t>efficiency &amp; time saving</a:t>
            </a:r>
          </a:p>
          <a:p>
            <a:pPr algn="just" marL="817172" indent="-408586" lvl="1">
              <a:lnSpc>
                <a:spcPts val="5223"/>
              </a:lnSpc>
              <a:buFont typeface="Arial"/>
              <a:buChar char="•"/>
            </a:pPr>
            <a:r>
              <a:rPr lang="en-US" sz="3784" spc="211">
                <a:solidFill>
                  <a:srgbClr val="FFFFFF"/>
                </a:solidFill>
                <a:latin typeface="Ovo"/>
                <a:ea typeface="Ovo"/>
                <a:cs typeface="Ovo"/>
                <a:sym typeface="Ovo"/>
              </a:rPr>
              <a:t>anonymity for honest input</a:t>
            </a:r>
          </a:p>
          <a:p>
            <a:pPr algn="just" marL="817172" indent="-408586" lvl="1">
              <a:lnSpc>
                <a:spcPts val="5223"/>
              </a:lnSpc>
              <a:buFont typeface="Arial"/>
              <a:buChar char="•"/>
            </a:pPr>
            <a:r>
              <a:rPr lang="en-US" sz="3784" spc="211">
                <a:solidFill>
                  <a:srgbClr val="FFFFFF"/>
                </a:solidFill>
                <a:latin typeface="Ovo"/>
                <a:ea typeface="Ovo"/>
                <a:cs typeface="Ovo"/>
                <a:sym typeface="Ovo"/>
              </a:rPr>
              <a:t>Improved decision quality</a:t>
            </a:r>
          </a:p>
          <a:p>
            <a:pPr algn="just" marL="817172" indent="-408586" lvl="1">
              <a:lnSpc>
                <a:spcPts val="5223"/>
              </a:lnSpc>
              <a:buFont typeface="Arial"/>
              <a:buChar char="•"/>
            </a:pPr>
            <a:r>
              <a:rPr lang="en-US" sz="3784" spc="211">
                <a:solidFill>
                  <a:srgbClr val="FFFFFF"/>
                </a:solidFill>
                <a:latin typeface="Ovo"/>
                <a:ea typeface="Ovo"/>
                <a:cs typeface="Ovo"/>
                <a:sym typeface="Ovo"/>
              </a:rPr>
              <a:t>remote participation</a:t>
            </a:r>
          </a:p>
          <a:p>
            <a:pPr algn="just" marL="817172" indent="-408586" lvl="1">
              <a:lnSpc>
                <a:spcPts val="5223"/>
              </a:lnSpc>
              <a:buFont typeface="Arial"/>
              <a:buChar char="•"/>
            </a:pPr>
            <a:r>
              <a:rPr lang="en-US" sz="3784" spc="211">
                <a:solidFill>
                  <a:srgbClr val="FFFFFF"/>
                </a:solidFill>
                <a:latin typeface="Ovo"/>
                <a:ea typeface="Ovo"/>
                <a:cs typeface="Ovo"/>
                <a:sym typeface="Ovo"/>
              </a:rPr>
              <a:t>enhanced communication</a:t>
            </a:r>
          </a:p>
        </p:txBody>
      </p:sp>
    </p:spTree>
  </p:cSld>
  <p:clrMapOvr>
    <a:masterClrMapping/>
  </p:clrMapOvr>
</p:sld>
</file>

<file path=ppt/slides/slide26.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830303" y="584472"/>
            <a:ext cx="14213425"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Dis Advantages of  GDSS</a:t>
            </a:r>
          </a:p>
        </p:txBody>
      </p:sp>
      <p:sp>
        <p:nvSpPr>
          <p:cNvPr name="TextBox 3" id="3"/>
          <p:cNvSpPr txBox="true"/>
          <p:nvPr/>
        </p:nvSpPr>
        <p:spPr>
          <a:xfrm rot="0">
            <a:off x="1497390" y="1943537"/>
            <a:ext cx="13475556" cy="4599776"/>
          </a:xfrm>
          <a:prstGeom prst="rect">
            <a:avLst/>
          </a:prstGeom>
        </p:spPr>
        <p:txBody>
          <a:bodyPr anchor="t" rtlCol="false" tIns="0" lIns="0" bIns="0" rIns="0">
            <a:spAutoFit/>
          </a:bodyPr>
          <a:lstStyle/>
          <a:p>
            <a:pPr algn="just" marL="817172" indent="-408586" lvl="1">
              <a:lnSpc>
                <a:spcPts val="5223"/>
              </a:lnSpc>
              <a:buFont typeface="Arial"/>
              <a:buChar char="•"/>
            </a:pPr>
            <a:r>
              <a:rPr lang="en-US" sz="3784" spc="211">
                <a:solidFill>
                  <a:srgbClr val="FFFFFF"/>
                </a:solidFill>
                <a:latin typeface="Ovo"/>
                <a:ea typeface="Ovo"/>
                <a:cs typeface="Ovo"/>
                <a:sym typeface="Ovo"/>
              </a:rPr>
              <a:t>Technical Challenges</a:t>
            </a:r>
          </a:p>
          <a:p>
            <a:pPr algn="just" marL="817172" indent="-408586" lvl="1">
              <a:lnSpc>
                <a:spcPts val="5223"/>
              </a:lnSpc>
              <a:buFont typeface="Arial"/>
              <a:buChar char="•"/>
            </a:pPr>
            <a:r>
              <a:rPr lang="en-US" sz="3784" spc="211">
                <a:solidFill>
                  <a:srgbClr val="FFFFFF"/>
                </a:solidFill>
                <a:latin typeface="Ovo"/>
                <a:ea typeface="Ovo"/>
                <a:cs typeface="Ovo"/>
                <a:sym typeface="Ovo"/>
              </a:rPr>
              <a:t>Resistance to technology</a:t>
            </a:r>
          </a:p>
          <a:p>
            <a:pPr algn="just" marL="817172" indent="-408586" lvl="1">
              <a:lnSpc>
                <a:spcPts val="5223"/>
              </a:lnSpc>
              <a:buFont typeface="Arial"/>
              <a:buChar char="•"/>
            </a:pPr>
            <a:r>
              <a:rPr lang="en-US" sz="3784" spc="211">
                <a:solidFill>
                  <a:srgbClr val="FFFFFF"/>
                </a:solidFill>
                <a:latin typeface="Ovo"/>
                <a:ea typeface="Ovo"/>
                <a:cs typeface="Ovo"/>
                <a:sym typeface="Ovo"/>
              </a:rPr>
              <a:t>Overemphasises on anonymity</a:t>
            </a:r>
          </a:p>
          <a:p>
            <a:pPr algn="just" marL="817172" indent="-408586" lvl="1">
              <a:lnSpc>
                <a:spcPts val="5223"/>
              </a:lnSpc>
              <a:buFont typeface="Arial"/>
              <a:buChar char="•"/>
            </a:pPr>
            <a:r>
              <a:rPr lang="en-US" sz="3784" spc="211">
                <a:solidFill>
                  <a:srgbClr val="FFFFFF"/>
                </a:solidFill>
                <a:latin typeface="Ovo"/>
                <a:ea typeface="Ovo"/>
                <a:cs typeface="Ovo"/>
                <a:sym typeface="Ovo"/>
              </a:rPr>
              <a:t> complexity</a:t>
            </a:r>
          </a:p>
          <a:p>
            <a:pPr algn="just" marL="817172" indent="-408586" lvl="1">
              <a:lnSpc>
                <a:spcPts val="5223"/>
              </a:lnSpc>
              <a:buFont typeface="Arial"/>
              <a:buChar char="•"/>
            </a:pPr>
            <a:r>
              <a:rPr lang="en-US" sz="3784" spc="211">
                <a:solidFill>
                  <a:srgbClr val="FFFFFF"/>
                </a:solidFill>
                <a:latin typeface="Ovo"/>
                <a:ea typeface="Ovo"/>
                <a:cs typeface="Ovo"/>
                <a:sym typeface="Ovo"/>
              </a:rPr>
              <a:t>dependency on technology</a:t>
            </a:r>
          </a:p>
          <a:p>
            <a:pPr algn="just" marL="817172" indent="-408586" lvl="1">
              <a:lnSpc>
                <a:spcPts val="5223"/>
              </a:lnSpc>
              <a:buFont typeface="Arial"/>
              <a:buChar char="•"/>
            </a:pPr>
            <a:r>
              <a:rPr lang="en-US" sz="3784" spc="211">
                <a:solidFill>
                  <a:srgbClr val="FFFFFF"/>
                </a:solidFill>
                <a:latin typeface="Ovo"/>
                <a:ea typeface="Ovo"/>
                <a:cs typeface="Ovo"/>
                <a:sym typeface="Ovo"/>
              </a:rPr>
              <a:t>security concern</a:t>
            </a:r>
          </a:p>
          <a:p>
            <a:pPr algn="just" marL="817172" indent="-408586" lvl="1">
              <a:lnSpc>
                <a:spcPts val="5223"/>
              </a:lnSpc>
              <a:buFont typeface="Arial"/>
              <a:buChar char="•"/>
            </a:pPr>
            <a:r>
              <a:rPr lang="en-US" sz="3784" spc="211">
                <a:solidFill>
                  <a:srgbClr val="FFFFFF"/>
                </a:solidFill>
                <a:latin typeface="Ovo"/>
                <a:ea typeface="Ovo"/>
                <a:cs typeface="Ovo"/>
                <a:sym typeface="Ovo"/>
              </a:rPr>
              <a:t>high initial cost</a:t>
            </a:r>
          </a:p>
        </p:txBody>
      </p:sp>
    </p:spTree>
  </p:cSld>
  <p:clrMapOvr>
    <a:masterClrMapping/>
  </p:clrMapOvr>
</p:sld>
</file>

<file path=ppt/slides/slide27.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830303" y="584472"/>
            <a:ext cx="14213425" cy="2507706"/>
          </a:xfrm>
          <a:prstGeom prst="rect">
            <a:avLst/>
          </a:prstGeom>
        </p:spPr>
        <p:txBody>
          <a:bodyPr anchor="t" rtlCol="false" tIns="0" lIns="0" bIns="0" rIns="0">
            <a:spAutoFit/>
          </a:bodyPr>
          <a:lstStyle/>
          <a:p>
            <a:pPr algn="l">
              <a:lnSpc>
                <a:spcPts val="6741"/>
              </a:lnSpc>
            </a:pPr>
            <a:r>
              <a:rPr lang="en-US" sz="4884" spc="273" b="true">
                <a:solidFill>
                  <a:srgbClr val="FFFFFF"/>
                </a:solidFill>
                <a:latin typeface="Montserrat Bold"/>
                <a:ea typeface="Montserrat Bold"/>
                <a:cs typeface="Montserrat Bold"/>
                <a:sym typeface="Montserrat Bold"/>
              </a:rPr>
              <a:t>Enterprise Decision Support System (EDSS)</a:t>
            </a:r>
          </a:p>
          <a:p>
            <a:pPr algn="l">
              <a:lnSpc>
                <a:spcPts val="6741"/>
              </a:lnSpc>
            </a:pPr>
          </a:p>
        </p:txBody>
      </p:sp>
      <p:sp>
        <p:nvSpPr>
          <p:cNvPr name="TextBox 3" id="3"/>
          <p:cNvSpPr txBox="true"/>
          <p:nvPr/>
        </p:nvSpPr>
        <p:spPr>
          <a:xfrm rot="0">
            <a:off x="1597264" y="2240754"/>
            <a:ext cx="15373158" cy="8543126"/>
          </a:xfrm>
          <a:prstGeom prst="rect">
            <a:avLst/>
          </a:prstGeom>
        </p:spPr>
        <p:txBody>
          <a:bodyPr anchor="t" rtlCol="false" tIns="0" lIns="0" bIns="0" rIns="0">
            <a:spAutoFit/>
          </a:bodyPr>
          <a:lstStyle/>
          <a:p>
            <a:pPr algn="l" marL="817172" indent="-408586" lvl="1">
              <a:lnSpc>
                <a:spcPts val="5223"/>
              </a:lnSpc>
              <a:buFont typeface="Arial"/>
              <a:buChar char="•"/>
            </a:pPr>
            <a:r>
              <a:rPr lang="en-US" sz="3784" spc="211">
                <a:solidFill>
                  <a:srgbClr val="FFFFFF"/>
                </a:solidFill>
                <a:latin typeface="Ovo"/>
                <a:ea typeface="Ovo"/>
                <a:cs typeface="Ovo"/>
                <a:sym typeface="Ovo"/>
              </a:rPr>
              <a:t>An </a:t>
            </a:r>
            <a:r>
              <a:rPr lang="en-US" sz="3784" spc="211">
                <a:solidFill>
                  <a:srgbClr val="FFFFFF"/>
                </a:solidFill>
                <a:latin typeface="Ovo"/>
                <a:ea typeface="Ovo"/>
                <a:cs typeface="Ovo"/>
                <a:sym typeface="Ovo"/>
              </a:rPr>
              <a:t>integrated information system designed to support decision-making processes at the enterprise or organizational level</a:t>
            </a:r>
          </a:p>
          <a:p>
            <a:pPr algn="just" marL="817172" indent="-408586" lvl="1">
              <a:lnSpc>
                <a:spcPts val="5223"/>
              </a:lnSpc>
              <a:buFont typeface="Arial"/>
              <a:buChar char="•"/>
            </a:pPr>
            <a:r>
              <a:rPr lang="en-US" sz="3784" spc="211">
                <a:solidFill>
                  <a:srgbClr val="FFFFFF"/>
                </a:solidFill>
                <a:latin typeface="Ovo"/>
                <a:ea typeface="Ovo"/>
                <a:cs typeface="Ovo"/>
                <a:sym typeface="Ovo"/>
              </a:rPr>
              <a:t>It typically integrates data from various departments, sources, and levels within the organization, allowing managers and decision-makers to make more informed, strategic decisions.</a:t>
            </a:r>
          </a:p>
          <a:p>
            <a:pPr algn="just" marL="817172" indent="-408586" lvl="1">
              <a:lnSpc>
                <a:spcPts val="5223"/>
              </a:lnSpc>
              <a:buFont typeface="Arial"/>
              <a:buChar char="•"/>
            </a:pPr>
            <a:r>
              <a:rPr lang="en-US" sz="3784" spc="211">
                <a:solidFill>
                  <a:srgbClr val="FFFFFF"/>
                </a:solidFill>
                <a:latin typeface="Ovo"/>
                <a:ea typeface="Ovo"/>
                <a:cs typeface="Ovo"/>
                <a:sym typeface="Ovo"/>
              </a:rPr>
              <a:t>Used mainly by specialists such as planners, analysts and researchers</a:t>
            </a:r>
          </a:p>
          <a:p>
            <a:pPr algn="just" marL="817172" indent="-408586" lvl="1">
              <a:lnSpc>
                <a:spcPts val="5223"/>
              </a:lnSpc>
              <a:buFont typeface="Arial"/>
              <a:buChar char="•"/>
            </a:pPr>
            <a:r>
              <a:rPr lang="en-US" sz="3784" spc="211">
                <a:solidFill>
                  <a:srgbClr val="FFFFFF"/>
                </a:solidFill>
                <a:latin typeface="Ovo"/>
                <a:ea typeface="Ovo"/>
                <a:cs typeface="Ovo"/>
                <a:sym typeface="Ovo"/>
              </a:rPr>
              <a:t>Used for an organizational task that involves a sequence of operations and decision-makers, e.g constructing a marketing plan</a:t>
            </a:r>
          </a:p>
          <a:p>
            <a:pPr algn="just" marL="817172" indent="-408586" lvl="1">
              <a:lnSpc>
                <a:spcPts val="5223"/>
              </a:lnSpc>
              <a:buFont typeface="Arial"/>
              <a:buChar char="•"/>
            </a:pPr>
          </a:p>
        </p:txBody>
      </p:sp>
    </p:spTree>
  </p:cSld>
  <p:clrMapOvr>
    <a:masterClrMapping/>
  </p:clrMapOvr>
</p:sld>
</file>

<file path=ppt/slides/slide28.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830303" y="584472"/>
            <a:ext cx="14213425" cy="2507706"/>
          </a:xfrm>
          <a:prstGeom prst="rect">
            <a:avLst/>
          </a:prstGeom>
        </p:spPr>
        <p:txBody>
          <a:bodyPr anchor="t" rtlCol="false" tIns="0" lIns="0" bIns="0" rIns="0">
            <a:spAutoFit/>
          </a:bodyPr>
          <a:lstStyle/>
          <a:p>
            <a:pPr algn="l">
              <a:lnSpc>
                <a:spcPts val="6741"/>
              </a:lnSpc>
            </a:pPr>
            <a:r>
              <a:rPr lang="en-US" sz="4884" spc="273" b="true">
                <a:solidFill>
                  <a:srgbClr val="FFFFFF"/>
                </a:solidFill>
                <a:latin typeface="Montserrat Bold"/>
                <a:ea typeface="Montserrat Bold"/>
                <a:cs typeface="Montserrat Bold"/>
                <a:sym typeface="Montserrat Bold"/>
              </a:rPr>
              <a:t>Enterprise Decision Support System (EDSS)</a:t>
            </a:r>
          </a:p>
          <a:p>
            <a:pPr algn="l">
              <a:lnSpc>
                <a:spcPts val="6741"/>
              </a:lnSpc>
            </a:pPr>
          </a:p>
        </p:txBody>
      </p:sp>
      <p:sp>
        <p:nvSpPr>
          <p:cNvPr name="TextBox 3" id="3"/>
          <p:cNvSpPr txBox="true"/>
          <p:nvPr/>
        </p:nvSpPr>
        <p:spPr>
          <a:xfrm rot="0">
            <a:off x="1457421" y="2697099"/>
            <a:ext cx="15373158" cy="713957"/>
          </a:xfrm>
          <a:prstGeom prst="rect">
            <a:avLst/>
          </a:prstGeom>
        </p:spPr>
        <p:txBody>
          <a:bodyPr anchor="t" rtlCol="false" tIns="0" lIns="0" bIns="0" rIns="0">
            <a:spAutoFit/>
          </a:bodyPr>
          <a:lstStyle/>
          <a:p>
            <a:pPr algn="l" marL="903530" indent="-451765" lvl="1">
              <a:lnSpc>
                <a:spcPts val="5775"/>
              </a:lnSpc>
              <a:buFont typeface="Arial"/>
              <a:buChar char="•"/>
            </a:pPr>
            <a:r>
              <a:rPr lang="en-US" sz="4184" spc="234">
                <a:solidFill>
                  <a:srgbClr val="FFDE59"/>
                </a:solidFill>
                <a:latin typeface="Ovo"/>
                <a:ea typeface="Ovo"/>
                <a:cs typeface="Ovo"/>
                <a:sym typeface="Ovo"/>
              </a:rPr>
              <a:t>Enterprise Systems: Concepts and Definitions</a:t>
            </a:r>
          </a:p>
        </p:txBody>
      </p:sp>
      <p:sp>
        <p:nvSpPr>
          <p:cNvPr name="TextBox 4" id="4"/>
          <p:cNvSpPr txBox="true"/>
          <p:nvPr/>
        </p:nvSpPr>
        <p:spPr>
          <a:xfrm rot="0">
            <a:off x="1830303" y="4157591"/>
            <a:ext cx="15373158" cy="2628101"/>
          </a:xfrm>
          <a:prstGeom prst="rect">
            <a:avLst/>
          </a:prstGeom>
        </p:spPr>
        <p:txBody>
          <a:bodyPr anchor="t" rtlCol="false" tIns="0" lIns="0" bIns="0" rIns="0">
            <a:spAutoFit/>
          </a:bodyPr>
          <a:lstStyle/>
          <a:p>
            <a:pPr algn="l" marL="817172" indent="-408586" lvl="1">
              <a:lnSpc>
                <a:spcPts val="5223"/>
              </a:lnSpc>
              <a:buFont typeface="Arial"/>
              <a:buChar char="•"/>
            </a:pPr>
            <a:r>
              <a:rPr lang="en-US" sz="3784" spc="211">
                <a:solidFill>
                  <a:srgbClr val="FFFFFF"/>
                </a:solidFill>
                <a:latin typeface="Ovo"/>
                <a:ea typeface="Ovo"/>
                <a:cs typeface="Ovo"/>
                <a:sym typeface="Ovo"/>
              </a:rPr>
              <a:t>Executive information systems (EIS)</a:t>
            </a:r>
          </a:p>
          <a:p>
            <a:pPr algn="l" marL="817172" indent="-408586" lvl="1">
              <a:lnSpc>
                <a:spcPts val="5223"/>
              </a:lnSpc>
              <a:buFont typeface="Arial"/>
              <a:buChar char="•"/>
            </a:pPr>
            <a:r>
              <a:rPr lang="en-US" sz="3784" spc="211">
                <a:solidFill>
                  <a:srgbClr val="FFFFFF"/>
                </a:solidFill>
                <a:latin typeface="Ovo"/>
                <a:ea typeface="Ovo"/>
                <a:cs typeface="Ovo"/>
                <a:sym typeface="Ovo"/>
              </a:rPr>
              <a:t>Executive support systems (ESS)</a:t>
            </a:r>
          </a:p>
          <a:p>
            <a:pPr algn="l" marL="817172" indent="-408586" lvl="1">
              <a:lnSpc>
                <a:spcPts val="5223"/>
              </a:lnSpc>
              <a:buFont typeface="Arial"/>
              <a:buChar char="•"/>
            </a:pPr>
            <a:r>
              <a:rPr lang="en-US" sz="3784" spc="211">
                <a:solidFill>
                  <a:srgbClr val="FFFFFF"/>
                </a:solidFill>
                <a:latin typeface="Ovo"/>
                <a:ea typeface="Ovo"/>
                <a:cs typeface="Ovo"/>
                <a:sym typeface="Ovo"/>
              </a:rPr>
              <a:t>Enterprise information systems (EIS)</a:t>
            </a:r>
          </a:p>
          <a:p>
            <a:pPr algn="l">
              <a:lnSpc>
                <a:spcPts val="5223"/>
              </a:lnSpc>
            </a:pPr>
          </a:p>
        </p:txBody>
      </p:sp>
    </p:spTree>
  </p:cSld>
  <p:clrMapOvr>
    <a:masterClrMapping/>
  </p:clrMapOvr>
</p:sld>
</file>

<file path=ppt/slides/slide29.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830303" y="584472"/>
            <a:ext cx="14213425" cy="2507706"/>
          </a:xfrm>
          <a:prstGeom prst="rect">
            <a:avLst/>
          </a:prstGeom>
        </p:spPr>
        <p:txBody>
          <a:bodyPr anchor="t" rtlCol="false" tIns="0" lIns="0" bIns="0" rIns="0">
            <a:spAutoFit/>
          </a:bodyPr>
          <a:lstStyle/>
          <a:p>
            <a:pPr algn="l">
              <a:lnSpc>
                <a:spcPts val="6741"/>
              </a:lnSpc>
            </a:pPr>
            <a:r>
              <a:rPr lang="en-US" sz="4884" spc="273" b="true">
                <a:solidFill>
                  <a:srgbClr val="FFFFFF"/>
                </a:solidFill>
                <a:latin typeface="Montserrat Bold"/>
                <a:ea typeface="Montserrat Bold"/>
                <a:cs typeface="Montserrat Bold"/>
                <a:sym typeface="Montserrat Bold"/>
              </a:rPr>
              <a:t>Enterprise Decision Support System (EDSS)</a:t>
            </a:r>
          </a:p>
          <a:p>
            <a:pPr algn="l">
              <a:lnSpc>
                <a:spcPts val="6741"/>
              </a:lnSpc>
            </a:pPr>
          </a:p>
        </p:txBody>
      </p:sp>
      <p:sp>
        <p:nvSpPr>
          <p:cNvPr name="TextBox 3" id="3"/>
          <p:cNvSpPr txBox="true"/>
          <p:nvPr/>
        </p:nvSpPr>
        <p:spPr>
          <a:xfrm rot="0">
            <a:off x="1886142" y="2378221"/>
            <a:ext cx="15373158" cy="713957"/>
          </a:xfrm>
          <a:prstGeom prst="rect">
            <a:avLst/>
          </a:prstGeom>
        </p:spPr>
        <p:txBody>
          <a:bodyPr anchor="t" rtlCol="false" tIns="0" lIns="0" bIns="0" rIns="0">
            <a:spAutoFit/>
          </a:bodyPr>
          <a:lstStyle/>
          <a:p>
            <a:pPr algn="l">
              <a:lnSpc>
                <a:spcPts val="5775"/>
              </a:lnSpc>
            </a:pPr>
            <a:r>
              <a:rPr lang="en-US" sz="4184" spc="234">
                <a:solidFill>
                  <a:srgbClr val="FFDE59"/>
                </a:solidFill>
                <a:latin typeface="Ovo"/>
                <a:ea typeface="Ovo"/>
                <a:cs typeface="Ovo"/>
                <a:sym typeface="Ovo"/>
              </a:rPr>
              <a:t>Executive information systems (EIS)</a:t>
            </a:r>
          </a:p>
        </p:txBody>
      </p:sp>
      <p:sp>
        <p:nvSpPr>
          <p:cNvPr name="TextBox 4" id="4"/>
          <p:cNvSpPr txBox="true"/>
          <p:nvPr/>
        </p:nvSpPr>
        <p:spPr>
          <a:xfrm rot="0">
            <a:off x="1250436" y="3301565"/>
            <a:ext cx="15373158" cy="4328123"/>
          </a:xfrm>
          <a:prstGeom prst="rect">
            <a:avLst/>
          </a:prstGeom>
        </p:spPr>
        <p:txBody>
          <a:bodyPr anchor="t" rtlCol="false" tIns="0" lIns="0" bIns="0" rIns="0">
            <a:spAutoFit/>
          </a:bodyPr>
          <a:lstStyle/>
          <a:p>
            <a:pPr algn="l" marL="773993" indent="-386997" lvl="1">
              <a:lnSpc>
                <a:spcPts val="4947"/>
              </a:lnSpc>
              <a:buFont typeface="Arial"/>
              <a:buChar char="•"/>
            </a:pPr>
            <a:r>
              <a:rPr lang="en-US" sz="3584" spc="200">
                <a:solidFill>
                  <a:srgbClr val="FFFFFF"/>
                </a:solidFill>
                <a:latin typeface="Ovo"/>
                <a:ea typeface="Ovo"/>
                <a:cs typeface="Ovo"/>
                <a:sym typeface="Ovo"/>
              </a:rPr>
              <a:t>An Executive Information System (EIS) is a specialized type of decision-support system designed to provide senior executives and top-level management with quick, easy access to critical information needed for decision-making. EIS focuses on summarizing and presenting high-level information, often drawn from various sources across the organization.</a:t>
            </a:r>
          </a:p>
          <a:p>
            <a:pPr algn="l">
              <a:lnSpc>
                <a:spcPts val="4947"/>
              </a:lnSpc>
            </a:pPr>
          </a:p>
        </p:txBody>
      </p:sp>
    </p:spTree>
  </p:cSld>
  <p:clrMapOvr>
    <a:masterClrMapping/>
  </p:clrMapOvr>
</p:sld>
</file>

<file path=ppt/slides/slide30.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830303" y="584472"/>
            <a:ext cx="14213425" cy="2507706"/>
          </a:xfrm>
          <a:prstGeom prst="rect">
            <a:avLst/>
          </a:prstGeom>
        </p:spPr>
        <p:txBody>
          <a:bodyPr anchor="t" rtlCol="false" tIns="0" lIns="0" bIns="0" rIns="0">
            <a:spAutoFit/>
          </a:bodyPr>
          <a:lstStyle/>
          <a:p>
            <a:pPr algn="l">
              <a:lnSpc>
                <a:spcPts val="6741"/>
              </a:lnSpc>
            </a:pPr>
            <a:r>
              <a:rPr lang="en-US" sz="4884" spc="273" b="true">
                <a:solidFill>
                  <a:srgbClr val="FFFFFF"/>
                </a:solidFill>
                <a:latin typeface="Montserrat Bold"/>
                <a:ea typeface="Montserrat Bold"/>
                <a:cs typeface="Montserrat Bold"/>
                <a:sym typeface="Montserrat Bold"/>
              </a:rPr>
              <a:t>Enterprise Decision Support System (EDSS)</a:t>
            </a:r>
          </a:p>
          <a:p>
            <a:pPr algn="l">
              <a:lnSpc>
                <a:spcPts val="6741"/>
              </a:lnSpc>
            </a:pPr>
          </a:p>
        </p:txBody>
      </p:sp>
      <p:sp>
        <p:nvSpPr>
          <p:cNvPr name="TextBox 3" id="3"/>
          <p:cNvSpPr txBox="true"/>
          <p:nvPr/>
        </p:nvSpPr>
        <p:spPr>
          <a:xfrm rot="0">
            <a:off x="1886142" y="2378221"/>
            <a:ext cx="15373158" cy="713957"/>
          </a:xfrm>
          <a:prstGeom prst="rect">
            <a:avLst/>
          </a:prstGeom>
        </p:spPr>
        <p:txBody>
          <a:bodyPr anchor="t" rtlCol="false" tIns="0" lIns="0" bIns="0" rIns="0">
            <a:spAutoFit/>
          </a:bodyPr>
          <a:lstStyle/>
          <a:p>
            <a:pPr algn="l">
              <a:lnSpc>
                <a:spcPts val="5775"/>
              </a:lnSpc>
            </a:pPr>
            <a:r>
              <a:rPr lang="en-US" sz="4184" spc="234">
                <a:solidFill>
                  <a:srgbClr val="FFDE59"/>
                </a:solidFill>
                <a:latin typeface="Ovo"/>
                <a:ea typeface="Ovo"/>
                <a:cs typeface="Ovo"/>
                <a:sym typeface="Ovo"/>
              </a:rPr>
              <a:t>Executive support systems (ESS)</a:t>
            </a:r>
          </a:p>
        </p:txBody>
      </p:sp>
      <p:sp>
        <p:nvSpPr>
          <p:cNvPr name="TextBox 4" id="4"/>
          <p:cNvSpPr txBox="true"/>
          <p:nvPr/>
        </p:nvSpPr>
        <p:spPr>
          <a:xfrm rot="0">
            <a:off x="1886142" y="3534604"/>
            <a:ext cx="15373158" cy="3708998"/>
          </a:xfrm>
          <a:prstGeom prst="rect">
            <a:avLst/>
          </a:prstGeom>
        </p:spPr>
        <p:txBody>
          <a:bodyPr anchor="t" rtlCol="false" tIns="0" lIns="0" bIns="0" rIns="0">
            <a:spAutoFit/>
          </a:bodyPr>
          <a:lstStyle/>
          <a:p>
            <a:pPr algn="l">
              <a:lnSpc>
                <a:spcPts val="4947"/>
              </a:lnSpc>
            </a:pPr>
            <a:r>
              <a:rPr lang="en-US" sz="3584" spc="200">
                <a:solidFill>
                  <a:srgbClr val="FFFFFF"/>
                </a:solidFill>
                <a:latin typeface="Ovo"/>
                <a:ea typeface="Ovo"/>
                <a:cs typeface="Ovo"/>
                <a:sym typeface="Ovo"/>
              </a:rPr>
              <a:t>Comprehensive support system that goes beyond EIS to include</a:t>
            </a:r>
          </a:p>
          <a:p>
            <a:pPr algn="l" marL="773993" indent="-386997" lvl="1">
              <a:lnSpc>
                <a:spcPts val="4947"/>
              </a:lnSpc>
              <a:buFont typeface="Arial"/>
              <a:buChar char="•"/>
            </a:pPr>
            <a:r>
              <a:rPr lang="en-US" sz="3584" spc="200">
                <a:solidFill>
                  <a:srgbClr val="FFFFFF"/>
                </a:solidFill>
                <a:latin typeface="Ovo"/>
                <a:ea typeface="Ovo"/>
                <a:cs typeface="Ovo"/>
                <a:sym typeface="Ovo"/>
              </a:rPr>
              <a:t>Communications</a:t>
            </a:r>
          </a:p>
          <a:p>
            <a:pPr algn="l" marL="773993" indent="-386997" lvl="1">
              <a:lnSpc>
                <a:spcPts val="4947"/>
              </a:lnSpc>
              <a:buFont typeface="Arial"/>
              <a:buChar char="•"/>
            </a:pPr>
            <a:r>
              <a:rPr lang="en-US" sz="3584" spc="200">
                <a:solidFill>
                  <a:srgbClr val="FFFFFF"/>
                </a:solidFill>
                <a:latin typeface="Ovo"/>
                <a:ea typeface="Ovo"/>
                <a:cs typeface="Ovo"/>
                <a:sym typeface="Ovo"/>
              </a:rPr>
              <a:t>Office automation </a:t>
            </a:r>
          </a:p>
          <a:p>
            <a:pPr algn="l" marL="773993" indent="-386997" lvl="1">
              <a:lnSpc>
                <a:spcPts val="4947"/>
              </a:lnSpc>
              <a:buFont typeface="Arial"/>
              <a:buChar char="•"/>
            </a:pPr>
            <a:r>
              <a:rPr lang="en-US" sz="3584" spc="200">
                <a:solidFill>
                  <a:srgbClr val="FFFFFF"/>
                </a:solidFill>
                <a:latin typeface="Ovo"/>
                <a:ea typeface="Ovo"/>
                <a:cs typeface="Ovo"/>
                <a:sym typeface="Ovo"/>
              </a:rPr>
              <a:t>Analysis support</a:t>
            </a:r>
          </a:p>
          <a:p>
            <a:pPr algn="l" marL="773993" indent="-386997" lvl="1">
              <a:lnSpc>
                <a:spcPts val="4947"/>
              </a:lnSpc>
              <a:buFont typeface="Arial"/>
              <a:buChar char="•"/>
            </a:pPr>
            <a:r>
              <a:rPr lang="en-US" sz="3584" spc="200">
                <a:solidFill>
                  <a:srgbClr val="FFFFFF"/>
                </a:solidFill>
                <a:latin typeface="Ovo"/>
                <a:ea typeface="Ovo"/>
                <a:cs typeface="Ovo"/>
                <a:sym typeface="Ovo"/>
              </a:rPr>
              <a:t>Intelligence</a:t>
            </a:r>
          </a:p>
          <a:p>
            <a:pPr algn="l">
              <a:lnSpc>
                <a:spcPts val="4947"/>
              </a:lnSpc>
            </a:pPr>
          </a:p>
        </p:txBody>
      </p:sp>
    </p:spTree>
  </p:cSld>
  <p:clrMapOvr>
    <a:masterClrMapping/>
  </p:clrMapOvr>
</p:sld>
</file>

<file path=ppt/slides/slide31.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830303" y="584472"/>
            <a:ext cx="14213425" cy="2507706"/>
          </a:xfrm>
          <a:prstGeom prst="rect">
            <a:avLst/>
          </a:prstGeom>
        </p:spPr>
        <p:txBody>
          <a:bodyPr anchor="t" rtlCol="false" tIns="0" lIns="0" bIns="0" rIns="0">
            <a:spAutoFit/>
          </a:bodyPr>
          <a:lstStyle/>
          <a:p>
            <a:pPr algn="l">
              <a:lnSpc>
                <a:spcPts val="6741"/>
              </a:lnSpc>
            </a:pPr>
            <a:r>
              <a:rPr lang="en-US" sz="4884" spc="273" b="true">
                <a:solidFill>
                  <a:srgbClr val="FFFFFF"/>
                </a:solidFill>
                <a:latin typeface="Montserrat Bold"/>
                <a:ea typeface="Montserrat Bold"/>
                <a:cs typeface="Montserrat Bold"/>
                <a:sym typeface="Montserrat Bold"/>
              </a:rPr>
              <a:t>Enterprise Decision Support System (EDSS)</a:t>
            </a:r>
          </a:p>
          <a:p>
            <a:pPr algn="l">
              <a:lnSpc>
                <a:spcPts val="6741"/>
              </a:lnSpc>
            </a:pPr>
          </a:p>
        </p:txBody>
      </p:sp>
      <p:sp>
        <p:nvSpPr>
          <p:cNvPr name="TextBox 3" id="3"/>
          <p:cNvSpPr txBox="true"/>
          <p:nvPr/>
        </p:nvSpPr>
        <p:spPr>
          <a:xfrm rot="0">
            <a:off x="1886142" y="2378221"/>
            <a:ext cx="15373158" cy="713957"/>
          </a:xfrm>
          <a:prstGeom prst="rect">
            <a:avLst/>
          </a:prstGeom>
        </p:spPr>
        <p:txBody>
          <a:bodyPr anchor="t" rtlCol="false" tIns="0" lIns="0" bIns="0" rIns="0">
            <a:spAutoFit/>
          </a:bodyPr>
          <a:lstStyle/>
          <a:p>
            <a:pPr algn="l">
              <a:lnSpc>
                <a:spcPts val="5775"/>
              </a:lnSpc>
            </a:pPr>
            <a:r>
              <a:rPr lang="en-US" sz="4184" spc="234">
                <a:solidFill>
                  <a:srgbClr val="FFDE59"/>
                </a:solidFill>
                <a:latin typeface="Ovo"/>
                <a:ea typeface="Ovo"/>
                <a:cs typeface="Ovo"/>
                <a:sym typeface="Ovo"/>
              </a:rPr>
              <a:t>Enterprise information systems (EIS)</a:t>
            </a:r>
          </a:p>
        </p:txBody>
      </p:sp>
      <p:sp>
        <p:nvSpPr>
          <p:cNvPr name="TextBox 4" id="4"/>
          <p:cNvSpPr txBox="true"/>
          <p:nvPr/>
        </p:nvSpPr>
        <p:spPr>
          <a:xfrm rot="0">
            <a:off x="1886142" y="3534604"/>
            <a:ext cx="15373158" cy="4947248"/>
          </a:xfrm>
          <a:prstGeom prst="rect">
            <a:avLst/>
          </a:prstGeom>
        </p:spPr>
        <p:txBody>
          <a:bodyPr anchor="t" rtlCol="false" tIns="0" lIns="0" bIns="0" rIns="0">
            <a:spAutoFit/>
          </a:bodyPr>
          <a:lstStyle/>
          <a:p>
            <a:pPr algn="l" marL="773993" indent="-386997" lvl="1">
              <a:lnSpc>
                <a:spcPts val="4947"/>
              </a:lnSpc>
              <a:buFont typeface="Arial"/>
              <a:buChar char="•"/>
            </a:pPr>
            <a:r>
              <a:rPr lang="en-US" sz="3584" spc="200">
                <a:solidFill>
                  <a:srgbClr val="FFFFFF"/>
                </a:solidFill>
                <a:latin typeface="Ovo"/>
                <a:ea typeface="Ovo"/>
                <a:cs typeface="Ovo"/>
                <a:sym typeface="Ovo"/>
              </a:rPr>
              <a:t>Corporate-wide system</a:t>
            </a:r>
          </a:p>
          <a:p>
            <a:pPr algn="l" marL="773993" indent="-386997" lvl="1">
              <a:lnSpc>
                <a:spcPts val="4947"/>
              </a:lnSpc>
              <a:buFont typeface="Arial"/>
              <a:buChar char="•"/>
            </a:pPr>
            <a:r>
              <a:rPr lang="en-US" sz="3584" spc="200">
                <a:solidFill>
                  <a:srgbClr val="FFFFFF"/>
                </a:solidFill>
                <a:latin typeface="Ovo"/>
                <a:ea typeface="Ovo"/>
                <a:cs typeface="Ovo"/>
                <a:sym typeface="Ovo"/>
              </a:rPr>
              <a:t>Provides complete information</a:t>
            </a:r>
          </a:p>
          <a:p>
            <a:pPr algn="l" marL="773993" indent="-386997" lvl="1">
              <a:lnSpc>
                <a:spcPts val="4947"/>
              </a:lnSpc>
              <a:buFont typeface="Arial"/>
              <a:buChar char="•"/>
            </a:pPr>
            <a:r>
              <a:rPr lang="en-US" sz="3584" spc="200">
                <a:solidFill>
                  <a:srgbClr val="FFFFFF"/>
                </a:solidFill>
                <a:latin typeface="Ovo"/>
                <a:ea typeface="Ovo"/>
                <a:cs typeface="Ovo"/>
                <a:sym typeface="Ovo"/>
              </a:rPr>
              <a:t>From a corporate view</a:t>
            </a:r>
          </a:p>
          <a:p>
            <a:pPr algn="l" marL="773993" indent="-386997" lvl="1">
              <a:lnSpc>
                <a:spcPts val="4947"/>
              </a:lnSpc>
              <a:buFont typeface="Arial"/>
              <a:buChar char="•"/>
            </a:pPr>
            <a:r>
              <a:rPr lang="en-US" sz="3584" spc="200">
                <a:solidFill>
                  <a:srgbClr val="FFFFFF"/>
                </a:solidFill>
                <a:latin typeface="Ovo"/>
                <a:ea typeface="Ovo"/>
                <a:cs typeface="Ovo"/>
                <a:sym typeface="Ovo"/>
              </a:rPr>
              <a:t>Part of enterprise resource planning (ERP) systems</a:t>
            </a:r>
          </a:p>
          <a:p>
            <a:pPr algn="l" marL="773993" indent="-386997" lvl="1">
              <a:lnSpc>
                <a:spcPts val="4947"/>
              </a:lnSpc>
              <a:buFont typeface="Arial"/>
              <a:buChar char="•"/>
            </a:pPr>
            <a:r>
              <a:rPr lang="en-US" sz="3584" spc="200">
                <a:solidFill>
                  <a:srgbClr val="FFFFFF"/>
                </a:solidFill>
                <a:latin typeface="Ovo"/>
                <a:ea typeface="Ovo"/>
                <a:cs typeface="Ovo"/>
                <a:sym typeface="Ovo"/>
              </a:rPr>
              <a:t>For business intelligence</a:t>
            </a:r>
          </a:p>
          <a:p>
            <a:pPr algn="l" marL="773993" indent="-386997" lvl="1">
              <a:lnSpc>
                <a:spcPts val="4947"/>
              </a:lnSpc>
              <a:buFont typeface="Arial"/>
              <a:buChar char="•"/>
            </a:pPr>
            <a:r>
              <a:rPr lang="en-US" sz="3584" spc="200">
                <a:solidFill>
                  <a:srgbClr val="FFFFFF"/>
                </a:solidFill>
                <a:latin typeface="Ovo"/>
                <a:ea typeface="Ovo"/>
                <a:cs typeface="Ovo"/>
                <a:sym typeface="Ovo"/>
              </a:rPr>
              <a:t>Leading up to enterprise information portals and knowledge management systems</a:t>
            </a:r>
          </a:p>
          <a:p>
            <a:pPr algn="l">
              <a:lnSpc>
                <a:spcPts val="4947"/>
              </a:lnSpc>
            </a:pPr>
          </a:p>
        </p:txBody>
      </p:sp>
    </p:spTree>
  </p:cSld>
  <p:clrMapOvr>
    <a:masterClrMapping/>
  </p:clrMapOvr>
</p:sld>
</file>

<file path=ppt/slides/slide32.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830303" y="584472"/>
            <a:ext cx="14213425" cy="812256"/>
          </a:xfrm>
          <a:prstGeom prst="rect">
            <a:avLst/>
          </a:prstGeom>
        </p:spPr>
        <p:txBody>
          <a:bodyPr anchor="t" rtlCol="false" tIns="0" lIns="0" bIns="0" rIns="0">
            <a:spAutoFit/>
          </a:bodyPr>
          <a:lstStyle/>
          <a:p>
            <a:pPr algn="l">
              <a:lnSpc>
                <a:spcPts val="6741"/>
              </a:lnSpc>
            </a:pPr>
            <a:r>
              <a:rPr lang="en-US" b="true" sz="4884" spc="273">
                <a:solidFill>
                  <a:srgbClr val="FFFFFF"/>
                </a:solidFill>
                <a:latin typeface="Montserrat Bold"/>
                <a:ea typeface="Montserrat Bold"/>
                <a:cs typeface="Montserrat Bold"/>
                <a:sym typeface="Montserrat Bold"/>
              </a:rPr>
              <a:t>Characteristics of EIS</a:t>
            </a:r>
          </a:p>
        </p:txBody>
      </p:sp>
      <p:sp>
        <p:nvSpPr>
          <p:cNvPr name="TextBox 3" id="3"/>
          <p:cNvSpPr txBox="true"/>
          <p:nvPr/>
        </p:nvSpPr>
        <p:spPr>
          <a:xfrm rot="0">
            <a:off x="1830303" y="2136371"/>
            <a:ext cx="15373158" cy="4947248"/>
          </a:xfrm>
          <a:prstGeom prst="rect">
            <a:avLst/>
          </a:prstGeom>
        </p:spPr>
        <p:txBody>
          <a:bodyPr anchor="t" rtlCol="false" tIns="0" lIns="0" bIns="0" rIns="0">
            <a:spAutoFit/>
          </a:bodyPr>
          <a:lstStyle/>
          <a:p>
            <a:pPr algn="l" marL="773993" indent="-386997" lvl="1">
              <a:lnSpc>
                <a:spcPts val="4947"/>
              </a:lnSpc>
              <a:buFont typeface="Arial"/>
              <a:buChar char="•"/>
            </a:pPr>
            <a:r>
              <a:rPr lang="en-US" sz="3584" spc="200">
                <a:solidFill>
                  <a:srgbClr val="FFFFFF"/>
                </a:solidFill>
                <a:latin typeface="Ovo"/>
                <a:ea typeface="Ovo"/>
                <a:cs typeface="Ovo"/>
                <a:sym typeface="Ovo"/>
              </a:rPr>
              <a:t>Drill down</a:t>
            </a:r>
          </a:p>
          <a:p>
            <a:pPr algn="l" marL="773993" indent="-386997" lvl="1">
              <a:lnSpc>
                <a:spcPts val="4947"/>
              </a:lnSpc>
              <a:buFont typeface="Arial"/>
              <a:buChar char="•"/>
            </a:pPr>
            <a:r>
              <a:rPr lang="en-US" sz="3584" spc="200">
                <a:solidFill>
                  <a:srgbClr val="FFFFFF"/>
                </a:solidFill>
                <a:latin typeface="Ovo"/>
                <a:ea typeface="Ovo"/>
                <a:cs typeface="Ovo"/>
                <a:sym typeface="Ovo"/>
              </a:rPr>
              <a:t>Critical success Factors (CSF)</a:t>
            </a:r>
          </a:p>
          <a:p>
            <a:pPr algn="l" marL="773993" indent="-386997" lvl="1">
              <a:lnSpc>
                <a:spcPts val="4947"/>
              </a:lnSpc>
              <a:buFont typeface="Arial"/>
              <a:buChar char="•"/>
            </a:pPr>
            <a:r>
              <a:rPr lang="en-US" sz="3584" spc="200">
                <a:solidFill>
                  <a:srgbClr val="FFFFFF"/>
                </a:solidFill>
                <a:latin typeface="Ovo"/>
                <a:ea typeface="Ovo"/>
                <a:cs typeface="Ovo"/>
                <a:sym typeface="Ovo"/>
              </a:rPr>
              <a:t>Status access</a:t>
            </a:r>
          </a:p>
          <a:p>
            <a:pPr algn="l" marL="773993" indent="-386997" lvl="1">
              <a:lnSpc>
                <a:spcPts val="4947"/>
              </a:lnSpc>
              <a:buFont typeface="Arial"/>
              <a:buChar char="•"/>
            </a:pPr>
            <a:r>
              <a:rPr lang="en-US" sz="3584" spc="200">
                <a:solidFill>
                  <a:srgbClr val="FFFFFF"/>
                </a:solidFill>
                <a:latin typeface="Ovo"/>
                <a:ea typeface="Ovo"/>
                <a:cs typeface="Ovo"/>
                <a:sym typeface="Ovo"/>
              </a:rPr>
              <a:t>Analysis</a:t>
            </a:r>
          </a:p>
          <a:p>
            <a:pPr algn="l" marL="773993" indent="-386997" lvl="1">
              <a:lnSpc>
                <a:spcPts val="4947"/>
              </a:lnSpc>
              <a:buFont typeface="Arial"/>
              <a:buChar char="•"/>
            </a:pPr>
            <a:r>
              <a:rPr lang="en-US" sz="3584" spc="200">
                <a:solidFill>
                  <a:srgbClr val="FFFFFF"/>
                </a:solidFill>
                <a:latin typeface="Ovo"/>
                <a:ea typeface="Ovo"/>
                <a:cs typeface="Ovo"/>
                <a:sym typeface="Ovo"/>
              </a:rPr>
              <a:t>Exception reporting</a:t>
            </a:r>
          </a:p>
          <a:p>
            <a:pPr algn="l" marL="773993" indent="-386997" lvl="1">
              <a:lnSpc>
                <a:spcPts val="4947"/>
              </a:lnSpc>
              <a:buFont typeface="Arial"/>
              <a:buChar char="•"/>
            </a:pPr>
            <a:r>
              <a:rPr lang="en-US" sz="3584" spc="200">
                <a:solidFill>
                  <a:srgbClr val="FFFFFF"/>
                </a:solidFill>
                <a:latin typeface="Ovo"/>
                <a:ea typeface="Ovo"/>
                <a:cs typeface="Ovo"/>
                <a:sym typeface="Ovo"/>
              </a:rPr>
              <a:t>Navigation of information</a:t>
            </a:r>
          </a:p>
          <a:p>
            <a:pPr algn="l" marL="773993" indent="-386997" lvl="1">
              <a:lnSpc>
                <a:spcPts val="4947"/>
              </a:lnSpc>
              <a:buFont typeface="Arial"/>
              <a:buChar char="•"/>
            </a:pPr>
            <a:r>
              <a:rPr lang="en-US" sz="3584" spc="200">
                <a:solidFill>
                  <a:srgbClr val="FFFFFF"/>
                </a:solidFill>
                <a:latin typeface="Ovo"/>
                <a:ea typeface="Ovo"/>
                <a:cs typeface="Ovo"/>
                <a:sym typeface="Ovo"/>
              </a:rPr>
              <a:t>Communication</a:t>
            </a:r>
          </a:p>
          <a:p>
            <a:pPr algn="l">
              <a:lnSpc>
                <a:spcPts val="4947"/>
              </a:lnSpc>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8790015">
            <a:off x="13183187" y="1020361"/>
            <a:ext cx="4850718" cy="3832067"/>
          </a:xfrm>
          <a:custGeom>
            <a:avLst/>
            <a:gdLst/>
            <a:ahLst/>
            <a:cxnLst/>
            <a:rect r="r" b="b" t="t" l="l"/>
            <a:pathLst>
              <a:path h="3832067" w="4850718">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030832">
            <a:off x="-659981" y="7991322"/>
            <a:ext cx="2923794" cy="2533955"/>
          </a:xfrm>
          <a:custGeom>
            <a:avLst/>
            <a:gdLst/>
            <a:ahLst/>
            <a:cxnLst/>
            <a:rect r="r" b="b" t="t" l="l"/>
            <a:pathLst>
              <a:path h="2533955" w="2923794">
                <a:moveTo>
                  <a:pt x="0" y="0"/>
                </a:moveTo>
                <a:lnTo>
                  <a:pt x="2923794" y="0"/>
                </a:lnTo>
                <a:lnTo>
                  <a:pt x="2923794" y="2533956"/>
                </a:lnTo>
                <a:lnTo>
                  <a:pt x="0" y="2533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477790" y="1589816"/>
            <a:ext cx="11050755" cy="1874865"/>
          </a:xfrm>
          <a:prstGeom prst="rect">
            <a:avLst/>
          </a:prstGeom>
        </p:spPr>
        <p:txBody>
          <a:bodyPr anchor="t" rtlCol="false" tIns="0" lIns="0" bIns="0" rIns="0">
            <a:spAutoFit/>
          </a:bodyPr>
          <a:lstStyle/>
          <a:p>
            <a:pPr algn="l">
              <a:lnSpc>
                <a:spcPts val="7569"/>
              </a:lnSpc>
            </a:pPr>
            <a:r>
              <a:rPr lang="en-US" sz="5484" spc="307">
                <a:solidFill>
                  <a:srgbClr val="FFFFFF"/>
                </a:solidFill>
                <a:latin typeface="Ovo"/>
                <a:ea typeface="Ovo"/>
                <a:cs typeface="Ovo"/>
                <a:sym typeface="Ovo"/>
              </a:rPr>
              <a:t>DATA, INFORMATION AND KNOWLEDGE</a:t>
            </a:r>
          </a:p>
        </p:txBody>
      </p:sp>
      <p:sp>
        <p:nvSpPr>
          <p:cNvPr name="TextBox 5" id="5"/>
          <p:cNvSpPr txBox="true"/>
          <p:nvPr/>
        </p:nvSpPr>
        <p:spPr>
          <a:xfrm rot="0">
            <a:off x="11405225" y="5124450"/>
            <a:ext cx="3935899" cy="3092732"/>
          </a:xfrm>
          <a:prstGeom prst="rect">
            <a:avLst/>
          </a:prstGeom>
        </p:spPr>
        <p:txBody>
          <a:bodyPr anchor="t" rtlCol="false" tIns="0" lIns="0" bIns="0" rIns="0">
            <a:spAutoFit/>
          </a:bodyPr>
          <a:lstStyle/>
          <a:p>
            <a:pPr algn="l">
              <a:lnSpc>
                <a:spcPts val="2764"/>
              </a:lnSpc>
            </a:pPr>
            <a:r>
              <a:rPr lang="en-US" sz="2222">
                <a:solidFill>
                  <a:srgbClr val="FFFFFF"/>
                </a:solidFill>
                <a:latin typeface="Ovo"/>
                <a:ea typeface="Ovo"/>
                <a:cs typeface="Ovo"/>
                <a:sym typeface="Ovo"/>
              </a:rPr>
              <a:t>Knowledge</a:t>
            </a:r>
            <a:r>
              <a:rPr lang="en-US" sz="2222">
                <a:solidFill>
                  <a:srgbClr val="FFFFFF"/>
                </a:solidFill>
                <a:latin typeface="Ovo"/>
                <a:ea typeface="Ovo"/>
                <a:cs typeface="Ovo"/>
                <a:sym typeface="Ovo"/>
              </a:rPr>
              <a:t> refers to the understanding, information, skills, and facts that individuals or systems acquire through experience, learning, or education.</a:t>
            </a:r>
          </a:p>
          <a:p>
            <a:pPr algn="l">
              <a:lnSpc>
                <a:spcPts val="2764"/>
              </a:lnSpc>
            </a:pPr>
            <a:r>
              <a:rPr lang="en-US" sz="2222">
                <a:solidFill>
                  <a:srgbClr val="FFFFFF"/>
                </a:solidFill>
                <a:latin typeface="Ovo"/>
                <a:ea typeface="Ovo"/>
                <a:cs typeface="Ovo"/>
                <a:sym typeface="Ovo"/>
              </a:rPr>
              <a:t>Knowledge-processed information</a:t>
            </a:r>
          </a:p>
          <a:p>
            <a:pPr algn="l">
              <a:lnSpc>
                <a:spcPts val="2764"/>
              </a:lnSpc>
            </a:pPr>
          </a:p>
        </p:txBody>
      </p:sp>
      <p:sp>
        <p:nvSpPr>
          <p:cNvPr name="TextBox 6" id="6"/>
          <p:cNvSpPr txBox="true"/>
          <p:nvPr/>
        </p:nvSpPr>
        <p:spPr>
          <a:xfrm rot="0">
            <a:off x="6284587" y="5133975"/>
            <a:ext cx="3606368" cy="1082398"/>
          </a:xfrm>
          <a:prstGeom prst="rect">
            <a:avLst/>
          </a:prstGeom>
        </p:spPr>
        <p:txBody>
          <a:bodyPr anchor="t" rtlCol="false" tIns="0" lIns="0" bIns="0" rIns="0">
            <a:spAutoFit/>
          </a:bodyPr>
          <a:lstStyle/>
          <a:p>
            <a:pPr algn="l">
              <a:lnSpc>
                <a:spcPts val="2888"/>
              </a:lnSpc>
            </a:pPr>
            <a:r>
              <a:rPr lang="en-US" sz="2322">
                <a:solidFill>
                  <a:srgbClr val="FFFFFF"/>
                </a:solidFill>
                <a:latin typeface="Ovo"/>
                <a:ea typeface="Ovo"/>
                <a:cs typeface="Ovo"/>
                <a:sym typeface="Ovo"/>
              </a:rPr>
              <a:t>Information -fact about situation, person, events</a:t>
            </a:r>
          </a:p>
          <a:p>
            <a:pPr algn="l">
              <a:lnSpc>
                <a:spcPts val="2888"/>
              </a:lnSpc>
            </a:pPr>
          </a:p>
        </p:txBody>
      </p:sp>
      <p:sp>
        <p:nvSpPr>
          <p:cNvPr name="TextBox 7" id="7"/>
          <p:cNvSpPr txBox="true"/>
          <p:nvPr/>
        </p:nvSpPr>
        <p:spPr>
          <a:xfrm rot="0">
            <a:off x="1888193" y="3886270"/>
            <a:ext cx="3946800" cy="1444348"/>
          </a:xfrm>
          <a:prstGeom prst="rect">
            <a:avLst/>
          </a:prstGeom>
        </p:spPr>
        <p:txBody>
          <a:bodyPr anchor="t" rtlCol="false" tIns="0" lIns="0" bIns="0" rIns="0">
            <a:spAutoFit/>
          </a:bodyPr>
          <a:lstStyle/>
          <a:p>
            <a:pPr algn="l">
              <a:lnSpc>
                <a:spcPts val="2888"/>
              </a:lnSpc>
            </a:pPr>
            <a:r>
              <a:rPr lang="en-US" sz="2322">
                <a:solidFill>
                  <a:srgbClr val="FFFFFF"/>
                </a:solidFill>
                <a:latin typeface="Ovo"/>
                <a:ea typeface="Ovo"/>
                <a:cs typeface="Ovo"/>
                <a:sym typeface="Ovo"/>
              </a:rPr>
              <a:t>Data- refers to isolated facts such as individual measurement.No meaning on their own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477790" y="9239250"/>
            <a:ext cx="15723700" cy="0"/>
          </a:xfrm>
          <a:prstGeom prst="line">
            <a:avLst/>
          </a:prstGeom>
          <a:ln cap="flat" w="9525">
            <a:solidFill>
              <a:srgbClr val="FFFFFF"/>
            </a:solidFill>
            <a:prstDash val="solid"/>
            <a:headEnd type="none" len="sm" w="sm"/>
            <a:tailEnd type="none" len="sm" w="sm"/>
          </a:ln>
        </p:spPr>
      </p:sp>
      <p:sp>
        <p:nvSpPr>
          <p:cNvPr name="Freeform 3" id="3"/>
          <p:cNvSpPr/>
          <p:nvPr/>
        </p:nvSpPr>
        <p:spPr>
          <a:xfrm flipH="false" flipV="false" rot="0">
            <a:off x="3493371" y="2141603"/>
            <a:ext cx="11301259" cy="6003794"/>
          </a:xfrm>
          <a:custGeom>
            <a:avLst/>
            <a:gdLst/>
            <a:ahLst/>
            <a:cxnLst/>
            <a:rect r="r" b="b" t="t" l="l"/>
            <a:pathLst>
              <a:path h="6003794" w="11301259">
                <a:moveTo>
                  <a:pt x="0" y="0"/>
                </a:moveTo>
                <a:lnTo>
                  <a:pt x="11301258" y="0"/>
                </a:lnTo>
                <a:lnTo>
                  <a:pt x="11301258" y="6003794"/>
                </a:lnTo>
                <a:lnTo>
                  <a:pt x="0" y="6003794"/>
                </a:lnTo>
                <a:lnTo>
                  <a:pt x="0" y="0"/>
                </a:lnTo>
                <a:close/>
              </a:path>
            </a:pathLst>
          </a:custGeom>
          <a:blipFill>
            <a:blip r:embed="rId2"/>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477790" y="9239250"/>
            <a:ext cx="15723700" cy="0"/>
          </a:xfrm>
          <a:prstGeom prst="line">
            <a:avLst/>
          </a:prstGeom>
          <a:ln cap="flat" w="9525">
            <a:solidFill>
              <a:srgbClr val="FFFFFF"/>
            </a:solidFill>
            <a:prstDash val="solid"/>
            <a:headEnd type="none" len="sm" w="sm"/>
            <a:tailEnd type="none" len="sm" w="sm"/>
          </a:ln>
        </p:spPr>
      </p:sp>
      <p:sp>
        <p:nvSpPr>
          <p:cNvPr name="Freeform 3" id="3"/>
          <p:cNvSpPr/>
          <p:nvPr/>
        </p:nvSpPr>
        <p:spPr>
          <a:xfrm flipH="false" flipV="false" rot="0">
            <a:off x="14818898" y="-316346"/>
            <a:ext cx="4142416" cy="4114800"/>
          </a:xfrm>
          <a:custGeom>
            <a:avLst/>
            <a:gdLst/>
            <a:ahLst/>
            <a:cxnLst/>
            <a:rect r="r" b="b" t="t" l="l"/>
            <a:pathLst>
              <a:path h="4114800" w="4142416">
                <a:moveTo>
                  <a:pt x="0" y="0"/>
                </a:moveTo>
                <a:lnTo>
                  <a:pt x="4142416" y="0"/>
                </a:lnTo>
                <a:lnTo>
                  <a:pt x="41424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99947" y="2753616"/>
            <a:ext cx="6896186" cy="5606344"/>
          </a:xfrm>
          <a:custGeom>
            <a:avLst/>
            <a:gdLst/>
            <a:ahLst/>
            <a:cxnLst/>
            <a:rect r="r" b="b" t="t" l="l"/>
            <a:pathLst>
              <a:path h="5606344" w="6896186">
                <a:moveTo>
                  <a:pt x="0" y="0"/>
                </a:moveTo>
                <a:lnTo>
                  <a:pt x="6896186" y="0"/>
                </a:lnTo>
                <a:lnTo>
                  <a:pt x="6896186" y="5606344"/>
                </a:lnTo>
                <a:lnTo>
                  <a:pt x="0" y="5606344"/>
                </a:lnTo>
                <a:lnTo>
                  <a:pt x="0" y="0"/>
                </a:lnTo>
                <a:close/>
              </a:path>
            </a:pathLst>
          </a:custGeom>
          <a:blipFill>
            <a:blip r:embed="rId4"/>
            <a:stretch>
              <a:fillRect l="0" t="0" r="0" b="0"/>
            </a:stretch>
          </a:blipFill>
        </p:spPr>
      </p:sp>
      <p:sp>
        <p:nvSpPr>
          <p:cNvPr name="TextBox 5" id="5"/>
          <p:cNvSpPr txBox="true"/>
          <p:nvPr/>
        </p:nvSpPr>
        <p:spPr>
          <a:xfrm rot="0">
            <a:off x="1476074" y="1227099"/>
            <a:ext cx="11855588" cy="1872575"/>
          </a:xfrm>
          <a:prstGeom prst="rect">
            <a:avLst/>
          </a:prstGeom>
        </p:spPr>
        <p:txBody>
          <a:bodyPr anchor="t" rtlCol="false" tIns="0" lIns="0" bIns="0" rIns="0">
            <a:spAutoFit/>
          </a:bodyPr>
          <a:lstStyle/>
          <a:p>
            <a:pPr algn="l">
              <a:lnSpc>
                <a:spcPts val="7408"/>
              </a:lnSpc>
            </a:pPr>
            <a:r>
              <a:rPr lang="en-US" sz="5898">
                <a:solidFill>
                  <a:srgbClr val="FFFFFF"/>
                </a:solidFill>
                <a:latin typeface="Ovo"/>
                <a:ea typeface="Ovo"/>
                <a:cs typeface="Ovo"/>
                <a:sym typeface="Ovo"/>
              </a:rPr>
              <a:t>KNOWLEDGE MANAGEMENT SYSTEM</a:t>
            </a:r>
          </a:p>
        </p:txBody>
      </p:sp>
      <p:sp>
        <p:nvSpPr>
          <p:cNvPr name="TextBox 6" id="6"/>
          <p:cNvSpPr txBox="true"/>
          <p:nvPr/>
        </p:nvSpPr>
        <p:spPr>
          <a:xfrm rot="0">
            <a:off x="1476074" y="6250094"/>
            <a:ext cx="4944021" cy="1647019"/>
          </a:xfrm>
          <a:prstGeom prst="rect">
            <a:avLst/>
          </a:prstGeom>
        </p:spPr>
        <p:txBody>
          <a:bodyPr anchor="t" rtlCol="false" tIns="0" lIns="0" bIns="0" rIns="0">
            <a:spAutoFit/>
          </a:bodyPr>
          <a:lstStyle/>
          <a:p>
            <a:pPr algn="l">
              <a:lnSpc>
                <a:spcPts val="2628"/>
              </a:lnSpc>
            </a:pPr>
            <a:r>
              <a:rPr lang="en-US" sz="1622">
                <a:solidFill>
                  <a:srgbClr val="FFFFFF"/>
                </a:solidFill>
                <a:latin typeface="Ovo"/>
                <a:ea typeface="Ovo"/>
                <a:cs typeface="Ovo"/>
                <a:sym typeface="Ovo"/>
              </a:rPr>
              <a:t>A Knowledge Management System (KMS) is an IT system, through which an organization implements Knowledge Management.The system organizes, stores, and retrieves the collective knowledge of an organization.</a:t>
            </a:r>
          </a:p>
        </p:txBody>
      </p:sp>
      <p:sp>
        <p:nvSpPr>
          <p:cNvPr name="TextBox 7" id="7"/>
          <p:cNvSpPr txBox="true"/>
          <p:nvPr/>
        </p:nvSpPr>
        <p:spPr>
          <a:xfrm rot="0">
            <a:off x="1477790" y="3714462"/>
            <a:ext cx="5183308" cy="1264933"/>
          </a:xfrm>
          <a:prstGeom prst="rect">
            <a:avLst/>
          </a:prstGeom>
        </p:spPr>
        <p:txBody>
          <a:bodyPr anchor="t" rtlCol="false" tIns="0" lIns="0" bIns="0" rIns="0">
            <a:spAutoFit/>
          </a:bodyPr>
          <a:lstStyle/>
          <a:p>
            <a:pPr algn="ctr">
              <a:lnSpc>
                <a:spcPts val="2541"/>
              </a:lnSpc>
              <a:spcBef>
                <a:spcPct val="0"/>
              </a:spcBef>
            </a:pPr>
            <a:r>
              <a:rPr lang="en-US" sz="2043">
                <a:solidFill>
                  <a:srgbClr val="FFFFFF"/>
                </a:solidFill>
                <a:latin typeface="Ovo"/>
                <a:ea typeface="Ovo"/>
                <a:cs typeface="Ovo"/>
                <a:sym typeface="Ovo"/>
              </a:rPr>
              <a:t>Knowledge management (KM) is the process of identifying, organizing, storing and disseminating information within an organization.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477790" y="9239250"/>
            <a:ext cx="15723700" cy="0"/>
          </a:xfrm>
          <a:prstGeom prst="line">
            <a:avLst/>
          </a:prstGeom>
          <a:ln cap="flat" w="9525">
            <a:solidFill>
              <a:srgbClr val="FFFFFF"/>
            </a:solidFill>
            <a:prstDash val="solid"/>
            <a:headEnd type="none" len="sm" w="sm"/>
            <a:tailEnd type="none" len="sm" w="sm"/>
          </a:ln>
        </p:spPr>
      </p:sp>
      <p:sp>
        <p:nvSpPr>
          <p:cNvPr name="Freeform 3" id="3"/>
          <p:cNvSpPr/>
          <p:nvPr/>
        </p:nvSpPr>
        <p:spPr>
          <a:xfrm flipH="false" flipV="false" rot="0">
            <a:off x="14818898" y="-316346"/>
            <a:ext cx="4142416" cy="4114800"/>
          </a:xfrm>
          <a:custGeom>
            <a:avLst/>
            <a:gdLst/>
            <a:ahLst/>
            <a:cxnLst/>
            <a:rect r="r" b="b" t="t" l="l"/>
            <a:pathLst>
              <a:path h="4114800" w="4142416">
                <a:moveTo>
                  <a:pt x="0" y="0"/>
                </a:moveTo>
                <a:lnTo>
                  <a:pt x="4142416" y="0"/>
                </a:lnTo>
                <a:lnTo>
                  <a:pt x="41424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76074" y="780954"/>
            <a:ext cx="11855588" cy="1872575"/>
          </a:xfrm>
          <a:prstGeom prst="rect">
            <a:avLst/>
          </a:prstGeom>
        </p:spPr>
        <p:txBody>
          <a:bodyPr anchor="t" rtlCol="false" tIns="0" lIns="0" bIns="0" rIns="0">
            <a:spAutoFit/>
          </a:bodyPr>
          <a:lstStyle/>
          <a:p>
            <a:pPr algn="l">
              <a:lnSpc>
                <a:spcPts val="7408"/>
              </a:lnSpc>
            </a:pPr>
            <a:r>
              <a:rPr lang="en-US" sz="5898">
                <a:solidFill>
                  <a:srgbClr val="FFFFFF"/>
                </a:solidFill>
                <a:latin typeface="Ovo"/>
                <a:ea typeface="Ovo"/>
                <a:cs typeface="Ovo"/>
                <a:sym typeface="Ovo"/>
              </a:rPr>
              <a:t>KNOWLEDGE MANAGEMENT SYSTEM</a:t>
            </a:r>
          </a:p>
        </p:txBody>
      </p:sp>
      <p:sp>
        <p:nvSpPr>
          <p:cNvPr name="TextBox 5" id="5"/>
          <p:cNvSpPr txBox="true"/>
          <p:nvPr/>
        </p:nvSpPr>
        <p:spPr>
          <a:xfrm rot="0">
            <a:off x="9592320" y="3684154"/>
            <a:ext cx="7478684" cy="4941147"/>
          </a:xfrm>
          <a:prstGeom prst="rect">
            <a:avLst/>
          </a:prstGeom>
        </p:spPr>
        <p:txBody>
          <a:bodyPr anchor="t" rtlCol="false" tIns="0" lIns="0" bIns="0" rIns="0">
            <a:spAutoFit/>
          </a:bodyPr>
          <a:lstStyle/>
          <a:p>
            <a:pPr algn="l">
              <a:lnSpc>
                <a:spcPts val="4410"/>
              </a:lnSpc>
            </a:pPr>
            <a:r>
              <a:rPr lang="en-US" sz="2722">
                <a:solidFill>
                  <a:srgbClr val="FFDE59"/>
                </a:solidFill>
                <a:latin typeface="Ovo"/>
                <a:ea typeface="Ovo"/>
                <a:cs typeface="Ovo"/>
                <a:sym typeface="Ovo"/>
              </a:rPr>
              <a:t>Acquire:</a:t>
            </a:r>
            <a:r>
              <a:rPr lang="en-US" sz="2722">
                <a:solidFill>
                  <a:srgbClr val="FFFFFF"/>
                </a:solidFill>
                <a:latin typeface="Ovo"/>
                <a:ea typeface="Ovo"/>
                <a:cs typeface="Ovo"/>
                <a:sym typeface="Ovo"/>
              </a:rPr>
              <a:t> Once the knowledge source is found, the user will then go through the act of actually acquiring it</a:t>
            </a:r>
          </a:p>
          <a:p>
            <a:pPr algn="l">
              <a:lnSpc>
                <a:spcPts val="4410"/>
              </a:lnSpc>
            </a:pPr>
            <a:r>
              <a:rPr lang="en-US" sz="2722">
                <a:solidFill>
                  <a:srgbClr val="FFDE59"/>
                </a:solidFill>
                <a:latin typeface="Ovo"/>
                <a:ea typeface="Ovo"/>
                <a:cs typeface="Ovo"/>
                <a:sym typeface="Ovo"/>
              </a:rPr>
              <a:t>Use :</a:t>
            </a:r>
            <a:r>
              <a:rPr lang="en-US" sz="2722">
                <a:solidFill>
                  <a:srgbClr val="FFFFFF"/>
                </a:solidFill>
                <a:latin typeface="Ovo"/>
                <a:ea typeface="Ovo"/>
                <a:cs typeface="Ovo"/>
                <a:sym typeface="Ovo"/>
              </a:rPr>
              <a:t> Once acquired, the knowledge can be put to use towards some productive purpose.</a:t>
            </a:r>
          </a:p>
          <a:p>
            <a:pPr algn="l">
              <a:lnSpc>
                <a:spcPts val="4410"/>
              </a:lnSpc>
            </a:pPr>
            <a:r>
              <a:rPr lang="en-US" sz="2722">
                <a:solidFill>
                  <a:srgbClr val="FFDE59"/>
                </a:solidFill>
                <a:latin typeface="Ovo"/>
                <a:ea typeface="Ovo"/>
                <a:cs typeface="Ovo"/>
                <a:sym typeface="Ovo"/>
              </a:rPr>
              <a:t>Learn:</a:t>
            </a:r>
            <a:r>
              <a:rPr lang="en-US" sz="2722">
                <a:solidFill>
                  <a:srgbClr val="FFDE59"/>
                </a:solidFill>
                <a:latin typeface="Ovo"/>
                <a:ea typeface="Ovo"/>
                <a:cs typeface="Ovo"/>
                <a:sym typeface="Ovo"/>
              </a:rPr>
              <a:t> </a:t>
            </a:r>
            <a:r>
              <a:rPr lang="en-US" sz="2722">
                <a:solidFill>
                  <a:srgbClr val="FFFFFF"/>
                </a:solidFill>
                <a:latin typeface="Ovo"/>
                <a:ea typeface="Ovo"/>
                <a:cs typeface="Ovo"/>
                <a:sym typeface="Ovo"/>
              </a:rPr>
              <a:t>Having been used, perhaps repeatedly, the user will learn what worked well and not so well as a result of applying the knowledge gained. </a:t>
            </a:r>
          </a:p>
          <a:p>
            <a:pPr algn="l">
              <a:lnSpc>
                <a:spcPts val="4410"/>
              </a:lnSpc>
            </a:pPr>
          </a:p>
        </p:txBody>
      </p:sp>
      <p:sp>
        <p:nvSpPr>
          <p:cNvPr name="TextBox 6" id="6"/>
          <p:cNvSpPr txBox="true"/>
          <p:nvPr/>
        </p:nvSpPr>
        <p:spPr>
          <a:xfrm rot="0">
            <a:off x="1477790" y="3213403"/>
            <a:ext cx="6124888" cy="4280608"/>
          </a:xfrm>
          <a:prstGeom prst="rect">
            <a:avLst/>
          </a:prstGeom>
        </p:spPr>
        <p:txBody>
          <a:bodyPr anchor="t" rtlCol="false" tIns="0" lIns="0" bIns="0" rIns="0">
            <a:spAutoFit/>
          </a:bodyPr>
          <a:lstStyle/>
          <a:p>
            <a:pPr algn="just">
              <a:lnSpc>
                <a:spcPts val="3376"/>
              </a:lnSpc>
            </a:pPr>
            <a:r>
              <a:rPr lang="en-US" sz="2714">
                <a:solidFill>
                  <a:srgbClr val="FFDE59"/>
                </a:solidFill>
                <a:latin typeface="Ovo"/>
                <a:ea typeface="Ovo"/>
                <a:cs typeface="Ovo"/>
                <a:sym typeface="Ovo"/>
              </a:rPr>
              <a:t>Create:</a:t>
            </a:r>
            <a:r>
              <a:rPr lang="en-US" sz="2714">
                <a:solidFill>
                  <a:srgbClr val="FFFFFF"/>
                </a:solidFill>
                <a:latin typeface="Ovo"/>
                <a:ea typeface="Ovo"/>
                <a:cs typeface="Ovo"/>
                <a:sym typeface="Ovo"/>
              </a:rPr>
              <a:t> Knowledge must be created either within or outside the organization. </a:t>
            </a:r>
          </a:p>
          <a:p>
            <a:pPr algn="just">
              <a:lnSpc>
                <a:spcPts val="3376"/>
              </a:lnSpc>
            </a:pPr>
            <a:r>
              <a:rPr lang="en-US" sz="2714">
                <a:solidFill>
                  <a:srgbClr val="FFDE59"/>
                </a:solidFill>
                <a:latin typeface="Ovo"/>
                <a:ea typeface="Ovo"/>
                <a:cs typeface="Ovo"/>
                <a:sym typeface="Ovo"/>
              </a:rPr>
              <a:t>Store : </a:t>
            </a:r>
            <a:r>
              <a:rPr lang="en-US" sz="2714">
                <a:solidFill>
                  <a:srgbClr val="FFFFFF"/>
                </a:solidFill>
                <a:latin typeface="Ovo"/>
                <a:ea typeface="Ovo"/>
                <a:cs typeface="Ovo"/>
                <a:sym typeface="Ovo"/>
              </a:rPr>
              <a:t>Knowledge can be stored somewhere, for others to find and use.</a:t>
            </a:r>
          </a:p>
          <a:p>
            <a:pPr algn="just">
              <a:lnSpc>
                <a:spcPts val="3376"/>
              </a:lnSpc>
            </a:pPr>
            <a:r>
              <a:rPr lang="en-US" sz="2714">
                <a:solidFill>
                  <a:srgbClr val="FFDE59"/>
                </a:solidFill>
                <a:latin typeface="Ovo"/>
                <a:ea typeface="Ovo"/>
                <a:cs typeface="Ovo"/>
                <a:sym typeface="Ovo"/>
              </a:rPr>
              <a:t>Find:</a:t>
            </a:r>
            <a:r>
              <a:rPr lang="en-US" sz="2714">
                <a:solidFill>
                  <a:srgbClr val="FFFFFF"/>
                </a:solidFill>
                <a:latin typeface="Ovo"/>
                <a:ea typeface="Ovo"/>
                <a:cs typeface="Ovo"/>
                <a:sym typeface="Ovo"/>
              </a:rPr>
              <a:t> Those who need the specific knowledge must then find out where it is, when they need it, by searching in the right places and asking the right people.</a:t>
            </a:r>
          </a:p>
          <a:p>
            <a:pPr algn="just">
              <a:lnSpc>
                <a:spcPts val="3376"/>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477790" y="9239250"/>
            <a:ext cx="15723700" cy="0"/>
          </a:xfrm>
          <a:prstGeom prst="line">
            <a:avLst/>
          </a:prstGeom>
          <a:ln cap="flat" w="9525">
            <a:solidFill>
              <a:srgbClr val="FFFFFF"/>
            </a:solidFill>
            <a:prstDash val="solid"/>
            <a:headEnd type="none" len="sm" w="sm"/>
            <a:tailEnd type="none" len="sm" w="sm"/>
          </a:ln>
        </p:spPr>
      </p:sp>
      <p:sp>
        <p:nvSpPr>
          <p:cNvPr name="Freeform 3" id="3"/>
          <p:cNvSpPr/>
          <p:nvPr/>
        </p:nvSpPr>
        <p:spPr>
          <a:xfrm flipH="false" flipV="false" rot="0">
            <a:off x="14818898" y="-316346"/>
            <a:ext cx="4142416" cy="4114800"/>
          </a:xfrm>
          <a:custGeom>
            <a:avLst/>
            <a:gdLst/>
            <a:ahLst/>
            <a:cxnLst/>
            <a:rect r="r" b="b" t="t" l="l"/>
            <a:pathLst>
              <a:path h="4114800" w="4142416">
                <a:moveTo>
                  <a:pt x="0" y="0"/>
                </a:moveTo>
                <a:lnTo>
                  <a:pt x="4142416" y="0"/>
                </a:lnTo>
                <a:lnTo>
                  <a:pt x="41424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76074" y="780954"/>
            <a:ext cx="11855588" cy="939125"/>
          </a:xfrm>
          <a:prstGeom prst="rect">
            <a:avLst/>
          </a:prstGeom>
        </p:spPr>
        <p:txBody>
          <a:bodyPr anchor="t" rtlCol="false" tIns="0" lIns="0" bIns="0" rIns="0">
            <a:spAutoFit/>
          </a:bodyPr>
          <a:lstStyle/>
          <a:p>
            <a:pPr algn="l">
              <a:lnSpc>
                <a:spcPts val="7408"/>
              </a:lnSpc>
            </a:pPr>
            <a:r>
              <a:rPr lang="en-US" sz="5898">
                <a:solidFill>
                  <a:srgbClr val="FFFFFF"/>
                </a:solidFill>
                <a:latin typeface="Ovo"/>
                <a:ea typeface="Ovo"/>
                <a:cs typeface="Ovo"/>
                <a:sym typeface="Ovo"/>
              </a:rPr>
              <a:t>Knowledge Based Expert System</a:t>
            </a:r>
          </a:p>
        </p:txBody>
      </p:sp>
      <p:sp>
        <p:nvSpPr>
          <p:cNvPr name="TextBox 5" id="5"/>
          <p:cNvSpPr txBox="true"/>
          <p:nvPr/>
        </p:nvSpPr>
        <p:spPr>
          <a:xfrm rot="0">
            <a:off x="6869480" y="3720677"/>
            <a:ext cx="7478684" cy="2731347"/>
          </a:xfrm>
          <a:prstGeom prst="rect">
            <a:avLst/>
          </a:prstGeom>
        </p:spPr>
        <p:txBody>
          <a:bodyPr anchor="t" rtlCol="false" tIns="0" lIns="0" bIns="0" rIns="0">
            <a:spAutoFit/>
          </a:bodyPr>
          <a:lstStyle/>
          <a:p>
            <a:pPr algn="l">
              <a:lnSpc>
                <a:spcPts val="4410"/>
              </a:lnSpc>
            </a:pPr>
            <a:r>
              <a:rPr lang="en-US" sz="2722">
                <a:solidFill>
                  <a:srgbClr val="FFFFFF"/>
                </a:solidFill>
                <a:latin typeface="Ovo"/>
                <a:ea typeface="Ovo"/>
                <a:cs typeface="Ovo"/>
                <a:sym typeface="Ovo"/>
              </a:rPr>
              <a:t>It operates by utilizing a knowledge base a repository of facts, rules, and heuristics about a particular field-combined with an inference engine that applies logical rules to this knowledge to draw conclusions </a:t>
            </a:r>
          </a:p>
        </p:txBody>
      </p:sp>
      <p:sp>
        <p:nvSpPr>
          <p:cNvPr name="TextBox 6" id="6"/>
          <p:cNvSpPr txBox="true"/>
          <p:nvPr/>
        </p:nvSpPr>
        <p:spPr>
          <a:xfrm rot="0">
            <a:off x="1476074" y="2192338"/>
            <a:ext cx="6124888" cy="2137483"/>
          </a:xfrm>
          <a:prstGeom prst="rect">
            <a:avLst/>
          </a:prstGeom>
        </p:spPr>
        <p:txBody>
          <a:bodyPr anchor="t" rtlCol="false" tIns="0" lIns="0" bIns="0" rIns="0">
            <a:spAutoFit/>
          </a:bodyPr>
          <a:lstStyle/>
          <a:p>
            <a:pPr algn="just">
              <a:lnSpc>
                <a:spcPts val="3376"/>
              </a:lnSpc>
            </a:pPr>
            <a:r>
              <a:rPr lang="en-US" sz="2714">
                <a:solidFill>
                  <a:srgbClr val="FFFFFF"/>
                </a:solidFill>
                <a:latin typeface="Ovo"/>
                <a:ea typeface="Ovo"/>
                <a:cs typeface="Ovo"/>
                <a:sym typeface="Ovo"/>
              </a:rPr>
              <a:t>Knowledge-Based Expert System (KBES) is an Al system designed to emulate the decision-making abilities of a human expert in a specific domain.</a:t>
            </a:r>
          </a:p>
          <a:p>
            <a:pPr algn="just">
              <a:lnSpc>
                <a:spcPts val="3376"/>
              </a:lnSpc>
            </a:pPr>
          </a:p>
        </p:txBody>
      </p:sp>
      <p:sp>
        <p:nvSpPr>
          <p:cNvPr name="TextBox 7" id="7"/>
          <p:cNvSpPr txBox="true"/>
          <p:nvPr/>
        </p:nvSpPr>
        <p:spPr>
          <a:xfrm rot="0">
            <a:off x="9592320" y="6972882"/>
            <a:ext cx="7478684" cy="1626447"/>
          </a:xfrm>
          <a:prstGeom prst="rect">
            <a:avLst/>
          </a:prstGeom>
        </p:spPr>
        <p:txBody>
          <a:bodyPr anchor="t" rtlCol="false" tIns="0" lIns="0" bIns="0" rIns="0">
            <a:spAutoFit/>
          </a:bodyPr>
          <a:lstStyle/>
          <a:p>
            <a:pPr algn="l">
              <a:lnSpc>
                <a:spcPts val="4410"/>
              </a:lnSpc>
            </a:pPr>
            <a:r>
              <a:rPr lang="en-US" sz="2722">
                <a:solidFill>
                  <a:srgbClr val="FFFFFF"/>
                </a:solidFill>
                <a:latin typeface="Ovo"/>
                <a:ea typeface="Ovo"/>
                <a:cs typeface="Ovo"/>
                <a:sym typeface="Ovo"/>
              </a:rPr>
              <a:t>The system's effectiveness depends on the quality and comprehensiveness of its knowledge base and the precision of its inference mechanisms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477790" y="9239250"/>
            <a:ext cx="15723700" cy="0"/>
          </a:xfrm>
          <a:prstGeom prst="line">
            <a:avLst/>
          </a:prstGeom>
          <a:ln cap="flat" w="9525">
            <a:solidFill>
              <a:srgbClr val="FFFFFF"/>
            </a:solidFill>
            <a:prstDash val="solid"/>
            <a:headEnd type="none" len="sm" w="sm"/>
            <a:tailEnd type="none" len="sm" w="sm"/>
          </a:ln>
        </p:spPr>
      </p:sp>
      <p:sp>
        <p:nvSpPr>
          <p:cNvPr name="Freeform 3" id="3"/>
          <p:cNvSpPr/>
          <p:nvPr/>
        </p:nvSpPr>
        <p:spPr>
          <a:xfrm flipH="false" flipV="false" rot="0">
            <a:off x="14818898" y="-316346"/>
            <a:ext cx="4142416" cy="4114800"/>
          </a:xfrm>
          <a:custGeom>
            <a:avLst/>
            <a:gdLst/>
            <a:ahLst/>
            <a:cxnLst/>
            <a:rect r="r" b="b" t="t" l="l"/>
            <a:pathLst>
              <a:path h="4114800" w="4142416">
                <a:moveTo>
                  <a:pt x="0" y="0"/>
                </a:moveTo>
                <a:lnTo>
                  <a:pt x="4142416" y="0"/>
                </a:lnTo>
                <a:lnTo>
                  <a:pt x="41424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76074" y="780954"/>
            <a:ext cx="11855588" cy="939125"/>
          </a:xfrm>
          <a:prstGeom prst="rect">
            <a:avLst/>
          </a:prstGeom>
        </p:spPr>
        <p:txBody>
          <a:bodyPr anchor="t" rtlCol="false" tIns="0" lIns="0" bIns="0" rIns="0">
            <a:spAutoFit/>
          </a:bodyPr>
          <a:lstStyle/>
          <a:p>
            <a:pPr algn="l">
              <a:lnSpc>
                <a:spcPts val="7408"/>
              </a:lnSpc>
            </a:pPr>
            <a:r>
              <a:rPr lang="en-US" sz="5898">
                <a:solidFill>
                  <a:srgbClr val="FFFFFF"/>
                </a:solidFill>
                <a:latin typeface="Ovo"/>
                <a:ea typeface="Ovo"/>
                <a:cs typeface="Ovo"/>
                <a:sym typeface="Ovo"/>
              </a:rPr>
              <a:t>Feature of Knowledge Base</a:t>
            </a:r>
          </a:p>
        </p:txBody>
      </p:sp>
      <p:sp>
        <p:nvSpPr>
          <p:cNvPr name="TextBox 5" id="5"/>
          <p:cNvSpPr txBox="true"/>
          <p:nvPr/>
        </p:nvSpPr>
        <p:spPr>
          <a:xfrm rot="0">
            <a:off x="1477790" y="3427059"/>
            <a:ext cx="8239951" cy="3423358"/>
          </a:xfrm>
          <a:prstGeom prst="rect">
            <a:avLst/>
          </a:prstGeom>
        </p:spPr>
        <p:txBody>
          <a:bodyPr anchor="t" rtlCol="false" tIns="0" lIns="0" bIns="0" rIns="0">
            <a:spAutoFit/>
          </a:bodyPr>
          <a:lstStyle/>
          <a:p>
            <a:pPr algn="just">
              <a:lnSpc>
                <a:spcPts val="3376"/>
              </a:lnSpc>
            </a:pPr>
            <a:r>
              <a:rPr lang="en-US" sz="2714">
                <a:solidFill>
                  <a:srgbClr val="FFFFFF"/>
                </a:solidFill>
                <a:latin typeface="Ovo"/>
                <a:ea typeface="Ovo"/>
                <a:cs typeface="Ovo"/>
                <a:sym typeface="Ovo"/>
              </a:rPr>
              <a:t>The core component of a KBES, the knowledge base, contains domain-specific information, facts, rules, and heuristics. This repository is curated from expert knowledge and provides the system with the data needed to make informed decisions or recommendations. The quality and comprehensiveness of the knowledge base are crucial for the system's accuracy and reliability.</a:t>
            </a:r>
          </a:p>
        </p:txBody>
      </p:sp>
      <p:sp>
        <p:nvSpPr>
          <p:cNvPr name="TextBox 6" id="6"/>
          <p:cNvSpPr txBox="true"/>
          <p:nvPr/>
        </p:nvSpPr>
        <p:spPr>
          <a:xfrm rot="0">
            <a:off x="1477790" y="2256172"/>
            <a:ext cx="8239951" cy="625269"/>
          </a:xfrm>
          <a:prstGeom prst="rect">
            <a:avLst/>
          </a:prstGeom>
        </p:spPr>
        <p:txBody>
          <a:bodyPr anchor="t" rtlCol="false" tIns="0" lIns="0" bIns="0" rIns="0">
            <a:spAutoFit/>
          </a:bodyPr>
          <a:lstStyle/>
          <a:p>
            <a:pPr algn="just">
              <a:lnSpc>
                <a:spcPts val="4993"/>
              </a:lnSpc>
            </a:pPr>
            <a:r>
              <a:rPr lang="en-US" sz="4014">
                <a:solidFill>
                  <a:srgbClr val="FFDE59"/>
                </a:solidFill>
                <a:latin typeface="Ovo"/>
                <a:ea typeface="Ovo"/>
                <a:cs typeface="Ovo"/>
                <a:sym typeface="Ovo"/>
              </a:rPr>
              <a:t>Knowledge base</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477790" y="9239250"/>
            <a:ext cx="15723700" cy="0"/>
          </a:xfrm>
          <a:prstGeom prst="line">
            <a:avLst/>
          </a:prstGeom>
          <a:ln cap="flat" w="9525">
            <a:solidFill>
              <a:srgbClr val="FFFFFF"/>
            </a:solidFill>
            <a:prstDash val="solid"/>
            <a:headEnd type="none" len="sm" w="sm"/>
            <a:tailEnd type="none" len="sm" w="sm"/>
          </a:ln>
        </p:spPr>
      </p:sp>
      <p:sp>
        <p:nvSpPr>
          <p:cNvPr name="Freeform 3" id="3"/>
          <p:cNvSpPr/>
          <p:nvPr/>
        </p:nvSpPr>
        <p:spPr>
          <a:xfrm flipH="false" flipV="false" rot="0">
            <a:off x="14818898" y="-316346"/>
            <a:ext cx="4142416" cy="4114800"/>
          </a:xfrm>
          <a:custGeom>
            <a:avLst/>
            <a:gdLst/>
            <a:ahLst/>
            <a:cxnLst/>
            <a:rect r="r" b="b" t="t" l="l"/>
            <a:pathLst>
              <a:path h="4114800" w="4142416">
                <a:moveTo>
                  <a:pt x="0" y="0"/>
                </a:moveTo>
                <a:lnTo>
                  <a:pt x="4142416" y="0"/>
                </a:lnTo>
                <a:lnTo>
                  <a:pt x="41424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77790" y="437191"/>
            <a:ext cx="11855588" cy="1704681"/>
          </a:xfrm>
          <a:prstGeom prst="rect">
            <a:avLst/>
          </a:prstGeom>
        </p:spPr>
        <p:txBody>
          <a:bodyPr anchor="t" rtlCol="false" tIns="0" lIns="0" bIns="0" rIns="0">
            <a:spAutoFit/>
          </a:bodyPr>
          <a:lstStyle/>
          <a:p>
            <a:pPr algn="l">
              <a:lnSpc>
                <a:spcPts val="6780"/>
              </a:lnSpc>
            </a:pPr>
            <a:r>
              <a:rPr lang="en-US" sz="5398">
                <a:solidFill>
                  <a:srgbClr val="FFFFFF"/>
                </a:solidFill>
                <a:latin typeface="Ovo"/>
                <a:ea typeface="Ovo"/>
                <a:cs typeface="Ovo"/>
                <a:sym typeface="Ovo"/>
              </a:rPr>
              <a:t>Components of Knowledge Base expert system</a:t>
            </a:r>
          </a:p>
        </p:txBody>
      </p:sp>
      <p:sp>
        <p:nvSpPr>
          <p:cNvPr name="TextBox 5" id="5"/>
          <p:cNvSpPr txBox="true"/>
          <p:nvPr/>
        </p:nvSpPr>
        <p:spPr>
          <a:xfrm rot="0">
            <a:off x="9314177" y="4832404"/>
            <a:ext cx="6975776" cy="1280233"/>
          </a:xfrm>
          <a:prstGeom prst="rect">
            <a:avLst/>
          </a:prstGeom>
        </p:spPr>
        <p:txBody>
          <a:bodyPr anchor="t" rtlCol="false" tIns="0" lIns="0" bIns="0" rIns="0">
            <a:spAutoFit/>
          </a:bodyPr>
          <a:lstStyle/>
          <a:p>
            <a:pPr algn="just" marL="586000" indent="-293000" lvl="1">
              <a:lnSpc>
                <a:spcPts val="3376"/>
              </a:lnSpc>
              <a:buFont typeface="Arial"/>
              <a:buChar char="•"/>
            </a:pPr>
            <a:r>
              <a:rPr lang="en-US" sz="2714">
                <a:solidFill>
                  <a:srgbClr val="FFFFFF"/>
                </a:solidFill>
                <a:latin typeface="Ovo"/>
                <a:ea typeface="Ovo"/>
                <a:cs typeface="Ovo"/>
                <a:sym typeface="Ovo"/>
              </a:rPr>
              <a:t>An inference engine tries to derive answers from a knowledge base.</a:t>
            </a:r>
          </a:p>
          <a:p>
            <a:pPr algn="just">
              <a:lnSpc>
                <a:spcPts val="3376"/>
              </a:lnSpc>
            </a:pPr>
          </a:p>
        </p:txBody>
      </p:sp>
      <p:sp>
        <p:nvSpPr>
          <p:cNvPr name="TextBox 6" id="6"/>
          <p:cNvSpPr txBox="true"/>
          <p:nvPr/>
        </p:nvSpPr>
        <p:spPr>
          <a:xfrm rot="0">
            <a:off x="1477790" y="2526804"/>
            <a:ext cx="8239951" cy="625269"/>
          </a:xfrm>
          <a:prstGeom prst="rect">
            <a:avLst/>
          </a:prstGeom>
        </p:spPr>
        <p:txBody>
          <a:bodyPr anchor="t" rtlCol="false" tIns="0" lIns="0" bIns="0" rIns="0">
            <a:spAutoFit/>
          </a:bodyPr>
          <a:lstStyle/>
          <a:p>
            <a:pPr algn="just">
              <a:lnSpc>
                <a:spcPts val="4993"/>
              </a:lnSpc>
            </a:pPr>
            <a:r>
              <a:rPr lang="en-US" sz="4014">
                <a:solidFill>
                  <a:srgbClr val="FFDE59"/>
                </a:solidFill>
                <a:latin typeface="Ovo"/>
                <a:ea typeface="Ovo"/>
                <a:cs typeface="Ovo"/>
                <a:sym typeface="Ovo"/>
              </a:rPr>
              <a:t>Inference Engine</a:t>
            </a:r>
          </a:p>
        </p:txBody>
      </p:sp>
      <p:sp>
        <p:nvSpPr>
          <p:cNvPr name="TextBox 7" id="7"/>
          <p:cNvSpPr txBox="true"/>
          <p:nvPr/>
        </p:nvSpPr>
        <p:spPr>
          <a:xfrm rot="0">
            <a:off x="1304946" y="3546529"/>
            <a:ext cx="6975776" cy="3423358"/>
          </a:xfrm>
          <a:prstGeom prst="rect">
            <a:avLst/>
          </a:prstGeom>
        </p:spPr>
        <p:txBody>
          <a:bodyPr anchor="t" rtlCol="false" tIns="0" lIns="0" bIns="0" rIns="0">
            <a:spAutoFit/>
          </a:bodyPr>
          <a:lstStyle/>
          <a:p>
            <a:pPr algn="just" marL="586000" indent="-293000" lvl="1">
              <a:lnSpc>
                <a:spcPts val="3376"/>
              </a:lnSpc>
              <a:buFont typeface="Arial"/>
              <a:buChar char="•"/>
            </a:pPr>
            <a:r>
              <a:rPr lang="en-US" sz="2714">
                <a:solidFill>
                  <a:srgbClr val="FFFFFF"/>
                </a:solidFill>
                <a:latin typeface="Ovo"/>
                <a:ea typeface="Ovo"/>
                <a:cs typeface="Ovo"/>
                <a:sym typeface="Ovo"/>
              </a:rPr>
              <a:t>The inference engine applies logical rules to the information in the knowledge base to draw conclusions or make décisions. It uses techniques such as forward chaining (data-driven) or backward chaining (goal-driven) to process the data and solve problems, simulating the reasoning process of a human expert.</a:t>
            </a:r>
          </a:p>
        </p:txBody>
      </p:sp>
      <p:sp>
        <p:nvSpPr>
          <p:cNvPr name="TextBox 8" id="8"/>
          <p:cNvSpPr txBox="true"/>
          <p:nvPr/>
        </p:nvSpPr>
        <p:spPr>
          <a:xfrm rot="0">
            <a:off x="10283524" y="6960362"/>
            <a:ext cx="6975776" cy="2137483"/>
          </a:xfrm>
          <a:prstGeom prst="rect">
            <a:avLst/>
          </a:prstGeom>
        </p:spPr>
        <p:txBody>
          <a:bodyPr anchor="t" rtlCol="false" tIns="0" lIns="0" bIns="0" rIns="0">
            <a:spAutoFit/>
          </a:bodyPr>
          <a:lstStyle/>
          <a:p>
            <a:pPr algn="just" marL="586000" indent="-293000" lvl="1">
              <a:lnSpc>
                <a:spcPts val="3376"/>
              </a:lnSpc>
              <a:buFont typeface="Arial"/>
              <a:buChar char="•"/>
            </a:pPr>
            <a:r>
              <a:rPr lang="en-US" sz="2714">
                <a:solidFill>
                  <a:srgbClr val="FFFFFF"/>
                </a:solidFill>
                <a:latin typeface="Ovo"/>
                <a:ea typeface="Ovo"/>
                <a:cs typeface="Ovo"/>
                <a:sym typeface="Ovo"/>
              </a:rPr>
              <a:t>It is the brain of the expert systems that provides a methodology for reasoning about the information in the knowledge base, and for formulating conclusions.</a:t>
            </a:r>
          </a:p>
          <a:p>
            <a:pPr algn="just">
              <a:lnSpc>
                <a:spcPts val="3376"/>
              </a:lnSpc>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477790" y="9239250"/>
            <a:ext cx="15723700" cy="0"/>
          </a:xfrm>
          <a:prstGeom prst="line">
            <a:avLst/>
          </a:prstGeom>
          <a:ln cap="flat" w="9525">
            <a:solidFill>
              <a:srgbClr val="FFFFFF"/>
            </a:solidFill>
            <a:prstDash val="solid"/>
            <a:headEnd type="none" len="sm" w="sm"/>
            <a:tailEnd type="none" len="sm" w="sm"/>
          </a:ln>
        </p:spPr>
      </p:sp>
      <p:sp>
        <p:nvSpPr>
          <p:cNvPr name="Freeform 3" id="3"/>
          <p:cNvSpPr/>
          <p:nvPr/>
        </p:nvSpPr>
        <p:spPr>
          <a:xfrm flipH="false" flipV="false" rot="0">
            <a:off x="14818898" y="-316346"/>
            <a:ext cx="4142416" cy="4114800"/>
          </a:xfrm>
          <a:custGeom>
            <a:avLst/>
            <a:gdLst/>
            <a:ahLst/>
            <a:cxnLst/>
            <a:rect r="r" b="b" t="t" l="l"/>
            <a:pathLst>
              <a:path h="4114800" w="4142416">
                <a:moveTo>
                  <a:pt x="0" y="0"/>
                </a:moveTo>
                <a:lnTo>
                  <a:pt x="4142416" y="0"/>
                </a:lnTo>
                <a:lnTo>
                  <a:pt x="41424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76074" y="780954"/>
            <a:ext cx="11855588" cy="1668003"/>
          </a:xfrm>
          <a:prstGeom prst="rect">
            <a:avLst/>
          </a:prstGeom>
        </p:spPr>
        <p:txBody>
          <a:bodyPr anchor="t" rtlCol="false" tIns="0" lIns="0" bIns="0" rIns="0">
            <a:spAutoFit/>
          </a:bodyPr>
          <a:lstStyle/>
          <a:p>
            <a:pPr algn="l">
              <a:lnSpc>
                <a:spcPts val="6529"/>
              </a:lnSpc>
            </a:pPr>
            <a:r>
              <a:rPr lang="en-US" sz="5198">
                <a:solidFill>
                  <a:srgbClr val="FFFFFF"/>
                </a:solidFill>
                <a:latin typeface="Ovo"/>
                <a:ea typeface="Ovo"/>
                <a:cs typeface="Ovo"/>
                <a:sym typeface="Ovo"/>
              </a:rPr>
              <a:t>Components of Knowledge Base Expert system</a:t>
            </a:r>
          </a:p>
        </p:txBody>
      </p:sp>
      <p:sp>
        <p:nvSpPr>
          <p:cNvPr name="TextBox 5" id="5"/>
          <p:cNvSpPr txBox="true"/>
          <p:nvPr/>
        </p:nvSpPr>
        <p:spPr>
          <a:xfrm rot="0">
            <a:off x="9946265" y="5950713"/>
            <a:ext cx="6975776" cy="2994733"/>
          </a:xfrm>
          <a:prstGeom prst="rect">
            <a:avLst/>
          </a:prstGeom>
        </p:spPr>
        <p:txBody>
          <a:bodyPr anchor="t" rtlCol="false" tIns="0" lIns="0" bIns="0" rIns="0">
            <a:spAutoFit/>
          </a:bodyPr>
          <a:lstStyle/>
          <a:p>
            <a:pPr algn="just">
              <a:lnSpc>
                <a:spcPts val="3376"/>
              </a:lnSpc>
            </a:pPr>
            <a:r>
              <a:rPr lang="en-US" sz="2714">
                <a:solidFill>
                  <a:srgbClr val="FFFFFF"/>
                </a:solidFill>
                <a:latin typeface="Ovo"/>
                <a:ea typeface="Ovo"/>
                <a:cs typeface="Ovo"/>
                <a:sym typeface="Ovo"/>
              </a:rPr>
              <a:t>Many KBESs feature an explanation facility that provides users with detailed reasoning behind the system's conclusions or recommendations. This transparency helps users understand how the system arrived at its decisions, enhancing trust and enabling users to verify the system's accuracy.</a:t>
            </a:r>
          </a:p>
        </p:txBody>
      </p:sp>
      <p:sp>
        <p:nvSpPr>
          <p:cNvPr name="TextBox 6" id="6"/>
          <p:cNvSpPr txBox="true"/>
          <p:nvPr/>
        </p:nvSpPr>
        <p:spPr>
          <a:xfrm rot="0">
            <a:off x="1304946" y="2680346"/>
            <a:ext cx="8239951" cy="625269"/>
          </a:xfrm>
          <a:prstGeom prst="rect">
            <a:avLst/>
          </a:prstGeom>
        </p:spPr>
        <p:txBody>
          <a:bodyPr anchor="t" rtlCol="false" tIns="0" lIns="0" bIns="0" rIns="0">
            <a:spAutoFit/>
          </a:bodyPr>
          <a:lstStyle/>
          <a:p>
            <a:pPr algn="just">
              <a:lnSpc>
                <a:spcPts val="4993"/>
              </a:lnSpc>
            </a:pPr>
            <a:r>
              <a:rPr lang="en-US" sz="4014">
                <a:solidFill>
                  <a:srgbClr val="FFDE59"/>
                </a:solidFill>
                <a:latin typeface="Ovo"/>
                <a:ea typeface="Ovo"/>
                <a:cs typeface="Ovo"/>
                <a:sym typeface="Ovo"/>
              </a:rPr>
              <a:t>User Interface:</a:t>
            </a:r>
          </a:p>
        </p:txBody>
      </p:sp>
      <p:sp>
        <p:nvSpPr>
          <p:cNvPr name="TextBox 7" id="7"/>
          <p:cNvSpPr txBox="true"/>
          <p:nvPr/>
        </p:nvSpPr>
        <p:spPr>
          <a:xfrm rot="0">
            <a:off x="1304946" y="3546529"/>
            <a:ext cx="6975776" cy="2994733"/>
          </a:xfrm>
          <a:prstGeom prst="rect">
            <a:avLst/>
          </a:prstGeom>
        </p:spPr>
        <p:txBody>
          <a:bodyPr anchor="t" rtlCol="false" tIns="0" lIns="0" bIns="0" rIns="0">
            <a:spAutoFit/>
          </a:bodyPr>
          <a:lstStyle/>
          <a:p>
            <a:pPr algn="just">
              <a:lnSpc>
                <a:spcPts val="3376"/>
              </a:lnSpc>
            </a:pPr>
            <a:r>
              <a:rPr lang="en-US" sz="2714">
                <a:solidFill>
                  <a:srgbClr val="FFFFFF"/>
                </a:solidFill>
                <a:latin typeface="Ovo"/>
                <a:ea typeface="Ovo"/>
                <a:cs typeface="Ovo"/>
                <a:sym typeface="Ovo"/>
              </a:rPr>
              <a:t>KBES typically includes a user interface that allows users to interact with the system. This interface facilitates inputting queries or problems and receiving advice or solutions. It must be intuitive and user-friendly to ensure that users can effectively leverage the system's expertise.</a:t>
            </a:r>
          </a:p>
        </p:txBody>
      </p:sp>
      <p:sp>
        <p:nvSpPr>
          <p:cNvPr name="TextBox 8" id="8"/>
          <p:cNvSpPr txBox="true"/>
          <p:nvPr/>
        </p:nvSpPr>
        <p:spPr>
          <a:xfrm rot="0">
            <a:off x="9946265" y="5029608"/>
            <a:ext cx="8239951" cy="625269"/>
          </a:xfrm>
          <a:prstGeom prst="rect">
            <a:avLst/>
          </a:prstGeom>
        </p:spPr>
        <p:txBody>
          <a:bodyPr anchor="t" rtlCol="false" tIns="0" lIns="0" bIns="0" rIns="0">
            <a:spAutoFit/>
          </a:bodyPr>
          <a:lstStyle/>
          <a:p>
            <a:pPr algn="just">
              <a:lnSpc>
                <a:spcPts val="4993"/>
              </a:lnSpc>
            </a:pPr>
            <a:r>
              <a:rPr lang="en-US" sz="4014">
                <a:solidFill>
                  <a:srgbClr val="FFDE59"/>
                </a:solidFill>
                <a:latin typeface="Ovo"/>
                <a:ea typeface="Ovo"/>
                <a:cs typeface="Ovo"/>
                <a:sym typeface="Ovo"/>
              </a:rPr>
              <a:t>Explanation Facility:</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477790" y="9239250"/>
            <a:ext cx="15723700" cy="0"/>
          </a:xfrm>
          <a:prstGeom prst="line">
            <a:avLst/>
          </a:prstGeom>
          <a:ln cap="flat" w="9525">
            <a:solidFill>
              <a:srgbClr val="FFFFFF"/>
            </a:solidFill>
            <a:prstDash val="solid"/>
            <a:headEnd type="none" len="sm" w="sm"/>
            <a:tailEnd type="none" len="sm" w="sm"/>
          </a:ln>
        </p:spPr>
      </p:sp>
      <p:sp>
        <p:nvSpPr>
          <p:cNvPr name="Freeform 3" id="3"/>
          <p:cNvSpPr/>
          <p:nvPr/>
        </p:nvSpPr>
        <p:spPr>
          <a:xfrm flipH="false" flipV="false" rot="0">
            <a:off x="14818898" y="-316346"/>
            <a:ext cx="4142416" cy="4114800"/>
          </a:xfrm>
          <a:custGeom>
            <a:avLst/>
            <a:gdLst/>
            <a:ahLst/>
            <a:cxnLst/>
            <a:rect r="r" b="b" t="t" l="l"/>
            <a:pathLst>
              <a:path h="4114800" w="4142416">
                <a:moveTo>
                  <a:pt x="0" y="0"/>
                </a:moveTo>
                <a:lnTo>
                  <a:pt x="4142416" y="0"/>
                </a:lnTo>
                <a:lnTo>
                  <a:pt x="41424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76074" y="780954"/>
            <a:ext cx="11855588" cy="939125"/>
          </a:xfrm>
          <a:prstGeom prst="rect">
            <a:avLst/>
          </a:prstGeom>
        </p:spPr>
        <p:txBody>
          <a:bodyPr anchor="t" rtlCol="false" tIns="0" lIns="0" bIns="0" rIns="0">
            <a:spAutoFit/>
          </a:bodyPr>
          <a:lstStyle/>
          <a:p>
            <a:pPr algn="l">
              <a:lnSpc>
                <a:spcPts val="7408"/>
              </a:lnSpc>
            </a:pPr>
            <a:r>
              <a:rPr lang="en-US" sz="5898">
                <a:solidFill>
                  <a:srgbClr val="FFFFFF"/>
                </a:solidFill>
                <a:latin typeface="Ovo"/>
                <a:ea typeface="Ovo"/>
                <a:cs typeface="Ovo"/>
                <a:sym typeface="Ovo"/>
              </a:rPr>
              <a:t>Expert system</a:t>
            </a:r>
          </a:p>
        </p:txBody>
      </p:sp>
      <p:sp>
        <p:nvSpPr>
          <p:cNvPr name="TextBox 5" id="5"/>
          <p:cNvSpPr txBox="true"/>
          <p:nvPr/>
        </p:nvSpPr>
        <p:spPr>
          <a:xfrm rot="0">
            <a:off x="1476074" y="2405994"/>
            <a:ext cx="8239951" cy="4280608"/>
          </a:xfrm>
          <a:prstGeom prst="rect">
            <a:avLst/>
          </a:prstGeom>
        </p:spPr>
        <p:txBody>
          <a:bodyPr anchor="t" rtlCol="false" tIns="0" lIns="0" bIns="0" rIns="0">
            <a:spAutoFit/>
          </a:bodyPr>
          <a:lstStyle/>
          <a:p>
            <a:pPr algn="just">
              <a:lnSpc>
                <a:spcPts val="3376"/>
              </a:lnSpc>
            </a:pPr>
            <a:r>
              <a:rPr lang="en-US" sz="2714">
                <a:solidFill>
                  <a:srgbClr val="FFFFFF"/>
                </a:solidFill>
                <a:latin typeface="Ovo"/>
                <a:ea typeface="Ovo"/>
                <a:cs typeface="Ovo"/>
                <a:sym typeface="Ovo"/>
              </a:rPr>
              <a:t>Expert Systems are interactive, trustworthy computer-based </a:t>
            </a:r>
            <a:r>
              <a:rPr lang="en-US" sz="2714" u="sng">
                <a:solidFill>
                  <a:srgbClr val="FFFFFF"/>
                </a:solidFill>
                <a:latin typeface="Ovo"/>
                <a:ea typeface="Ovo"/>
                <a:cs typeface="Ovo"/>
                <a:sym typeface="Ovo"/>
                <a:hlinkClick r:id="rId4" tooltip="https://www.simplilearn.com/tutorials/mba-preparation-tutorial/what-is-decision-making-explained"/>
              </a:rPr>
              <a:t>decision-making</a:t>
            </a:r>
            <a:r>
              <a:rPr lang="en-US" sz="2714">
                <a:solidFill>
                  <a:srgbClr val="FFFFFF"/>
                </a:solidFill>
                <a:latin typeface="Ovo"/>
                <a:ea typeface="Ovo"/>
                <a:cs typeface="Ovo"/>
                <a:sym typeface="Ovo"/>
              </a:rPr>
              <a:t> tools that utilize data and heuristics to address challenging decision-making issues. It is regarded as representing the pinnacle of human knowledge and wisdom. An expert system's job is to resolve the trickiest problems in a specific field. </a:t>
            </a:r>
          </a:p>
          <a:p>
            <a:pPr algn="just">
              <a:lnSpc>
                <a:spcPts val="3376"/>
              </a:lnSpc>
            </a:pPr>
          </a:p>
          <a:p>
            <a:pPr algn="just">
              <a:lnSpc>
                <a:spcPts val="3376"/>
              </a:lnSpc>
            </a:pPr>
          </a:p>
          <a:p>
            <a:pPr algn="just">
              <a:lnSpc>
                <a:spcPts val="3376"/>
              </a:lnSpc>
            </a:pPr>
          </a:p>
        </p:txBody>
      </p:sp>
      <p:sp>
        <p:nvSpPr>
          <p:cNvPr name="TextBox 6" id="6"/>
          <p:cNvSpPr txBox="true"/>
          <p:nvPr/>
        </p:nvSpPr>
        <p:spPr>
          <a:xfrm rot="0">
            <a:off x="3573359" y="5398785"/>
            <a:ext cx="8239951" cy="2566108"/>
          </a:xfrm>
          <a:prstGeom prst="rect">
            <a:avLst/>
          </a:prstGeom>
        </p:spPr>
        <p:txBody>
          <a:bodyPr anchor="t" rtlCol="false" tIns="0" lIns="0" bIns="0" rIns="0">
            <a:spAutoFit/>
          </a:bodyPr>
          <a:lstStyle/>
          <a:p>
            <a:pPr algn="just">
              <a:lnSpc>
                <a:spcPts val="3376"/>
              </a:lnSpc>
            </a:pPr>
            <a:r>
              <a:rPr lang="en-US" sz="2714">
                <a:solidFill>
                  <a:srgbClr val="FFFFFF"/>
                </a:solidFill>
                <a:latin typeface="Ovo"/>
                <a:ea typeface="Ovo"/>
                <a:cs typeface="Ovo"/>
                <a:sym typeface="Ovo"/>
              </a:rPr>
              <a:t>Expert system is an information system application that captures the knowledge and expertise of a problem solver or decision maker, and then simulates the ‘thinking’ of that expert for those who have less expertise.</a:t>
            </a:r>
          </a:p>
          <a:p>
            <a:pPr algn="just">
              <a:lnSpc>
                <a:spcPts val="3376"/>
              </a:lnSpc>
            </a:pPr>
          </a:p>
        </p:txBody>
      </p:sp>
      <p:sp>
        <p:nvSpPr>
          <p:cNvPr name="TextBox 7" id="7"/>
          <p:cNvSpPr txBox="true"/>
          <p:nvPr/>
        </p:nvSpPr>
        <p:spPr>
          <a:xfrm rot="0">
            <a:off x="8796021" y="7761879"/>
            <a:ext cx="8239951" cy="1708858"/>
          </a:xfrm>
          <a:prstGeom prst="rect">
            <a:avLst/>
          </a:prstGeom>
        </p:spPr>
        <p:txBody>
          <a:bodyPr anchor="t" rtlCol="false" tIns="0" lIns="0" bIns="0" rIns="0">
            <a:spAutoFit/>
          </a:bodyPr>
          <a:lstStyle/>
          <a:p>
            <a:pPr algn="just">
              <a:lnSpc>
                <a:spcPts val="3376"/>
              </a:lnSpc>
            </a:pPr>
            <a:r>
              <a:rPr lang="en-US" sz="2714">
                <a:solidFill>
                  <a:srgbClr val="FFFFFF"/>
                </a:solidFill>
                <a:latin typeface="Ovo"/>
                <a:ea typeface="Ovo"/>
                <a:cs typeface="Ovo"/>
                <a:sym typeface="Ovo"/>
              </a:rPr>
              <a:t>Expert systems are implemented with artificial intelligence technology, often called expert system shells. </a:t>
            </a:r>
          </a:p>
          <a:p>
            <a:pPr algn="just">
              <a:lnSpc>
                <a:spcPts val="3376"/>
              </a:lnSpc>
            </a:pP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477790" y="9239250"/>
            <a:ext cx="15723700" cy="0"/>
          </a:xfrm>
          <a:prstGeom prst="line">
            <a:avLst/>
          </a:prstGeom>
          <a:ln cap="flat" w="9525">
            <a:solidFill>
              <a:srgbClr val="FFFFFF"/>
            </a:solidFill>
            <a:prstDash val="solid"/>
            <a:headEnd type="none" len="sm" w="sm"/>
            <a:tailEnd type="none" len="sm" w="sm"/>
          </a:ln>
        </p:spPr>
      </p:sp>
      <p:sp>
        <p:nvSpPr>
          <p:cNvPr name="Freeform 3" id="3"/>
          <p:cNvSpPr/>
          <p:nvPr/>
        </p:nvSpPr>
        <p:spPr>
          <a:xfrm flipH="false" flipV="false" rot="0">
            <a:off x="3493371" y="2049780"/>
            <a:ext cx="11301259" cy="6187439"/>
          </a:xfrm>
          <a:custGeom>
            <a:avLst/>
            <a:gdLst/>
            <a:ahLst/>
            <a:cxnLst/>
            <a:rect r="r" b="b" t="t" l="l"/>
            <a:pathLst>
              <a:path h="6187439" w="11301259">
                <a:moveTo>
                  <a:pt x="0" y="0"/>
                </a:moveTo>
                <a:lnTo>
                  <a:pt x="11301258" y="0"/>
                </a:lnTo>
                <a:lnTo>
                  <a:pt x="11301258" y="6187440"/>
                </a:lnTo>
                <a:lnTo>
                  <a:pt x="0" y="6187440"/>
                </a:lnTo>
                <a:lnTo>
                  <a:pt x="0" y="0"/>
                </a:lnTo>
                <a:close/>
              </a:path>
            </a:pathLst>
          </a:custGeom>
          <a:blipFill>
            <a:blip r:embed="rId2"/>
            <a:stretch>
              <a:fillRect l="0" t="0" r="0" b="0"/>
            </a:stretch>
          </a:blipFill>
        </p:spPr>
      </p:sp>
      <p:sp>
        <p:nvSpPr>
          <p:cNvPr name="TextBox 4" id="4"/>
          <p:cNvSpPr txBox="true"/>
          <p:nvPr/>
        </p:nvSpPr>
        <p:spPr>
          <a:xfrm rot="0">
            <a:off x="1476074" y="780954"/>
            <a:ext cx="11855588" cy="939125"/>
          </a:xfrm>
          <a:prstGeom prst="rect">
            <a:avLst/>
          </a:prstGeom>
        </p:spPr>
        <p:txBody>
          <a:bodyPr anchor="t" rtlCol="false" tIns="0" lIns="0" bIns="0" rIns="0">
            <a:spAutoFit/>
          </a:bodyPr>
          <a:lstStyle/>
          <a:p>
            <a:pPr algn="l">
              <a:lnSpc>
                <a:spcPts val="7408"/>
              </a:lnSpc>
            </a:pPr>
            <a:r>
              <a:rPr lang="en-US" sz="5898">
                <a:solidFill>
                  <a:srgbClr val="FFFFFF"/>
                </a:solidFill>
                <a:latin typeface="Ovo"/>
                <a:ea typeface="Ovo"/>
                <a:cs typeface="Ovo"/>
                <a:sym typeface="Ovo"/>
              </a:rPr>
              <a:t>Expert system Architecture</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477790" y="9239250"/>
            <a:ext cx="15723700" cy="0"/>
          </a:xfrm>
          <a:prstGeom prst="line">
            <a:avLst/>
          </a:prstGeom>
          <a:ln cap="flat" w="9525">
            <a:solidFill>
              <a:srgbClr val="FFFFFF"/>
            </a:solidFill>
            <a:prstDash val="solid"/>
            <a:headEnd type="none" len="sm" w="sm"/>
            <a:tailEnd type="none" len="sm" w="sm"/>
          </a:ln>
        </p:spPr>
      </p:sp>
      <p:sp>
        <p:nvSpPr>
          <p:cNvPr name="Freeform 3" id="3"/>
          <p:cNvSpPr/>
          <p:nvPr/>
        </p:nvSpPr>
        <p:spPr>
          <a:xfrm flipH="false" flipV="false" rot="0">
            <a:off x="14818898" y="-316346"/>
            <a:ext cx="4142416" cy="4114800"/>
          </a:xfrm>
          <a:custGeom>
            <a:avLst/>
            <a:gdLst/>
            <a:ahLst/>
            <a:cxnLst/>
            <a:rect r="r" b="b" t="t" l="l"/>
            <a:pathLst>
              <a:path h="4114800" w="4142416">
                <a:moveTo>
                  <a:pt x="0" y="0"/>
                </a:moveTo>
                <a:lnTo>
                  <a:pt x="4142416" y="0"/>
                </a:lnTo>
                <a:lnTo>
                  <a:pt x="41424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76074" y="780954"/>
            <a:ext cx="11855588" cy="939125"/>
          </a:xfrm>
          <a:prstGeom prst="rect">
            <a:avLst/>
          </a:prstGeom>
        </p:spPr>
        <p:txBody>
          <a:bodyPr anchor="t" rtlCol="false" tIns="0" lIns="0" bIns="0" rIns="0">
            <a:spAutoFit/>
          </a:bodyPr>
          <a:lstStyle/>
          <a:p>
            <a:pPr algn="l">
              <a:lnSpc>
                <a:spcPts val="7408"/>
              </a:lnSpc>
            </a:pPr>
            <a:r>
              <a:rPr lang="en-US" sz="5898">
                <a:solidFill>
                  <a:srgbClr val="FFFFFF"/>
                </a:solidFill>
                <a:latin typeface="Ovo"/>
                <a:ea typeface="Ovo"/>
                <a:cs typeface="Ovo"/>
                <a:sym typeface="Ovo"/>
              </a:rPr>
              <a:t>Characteristic of Expert system</a:t>
            </a:r>
          </a:p>
        </p:txBody>
      </p:sp>
      <p:sp>
        <p:nvSpPr>
          <p:cNvPr name="TextBox 5" id="5"/>
          <p:cNvSpPr txBox="true"/>
          <p:nvPr/>
        </p:nvSpPr>
        <p:spPr>
          <a:xfrm rot="0">
            <a:off x="1476074" y="2396469"/>
            <a:ext cx="12737498" cy="7602318"/>
          </a:xfrm>
          <a:prstGeom prst="rect">
            <a:avLst/>
          </a:prstGeom>
        </p:spPr>
        <p:txBody>
          <a:bodyPr anchor="t" rtlCol="false" tIns="0" lIns="0" bIns="0" rIns="0">
            <a:spAutoFit/>
          </a:bodyPr>
          <a:lstStyle/>
          <a:p>
            <a:pPr algn="just" marL="780305" indent="-390153" lvl="1">
              <a:lnSpc>
                <a:spcPts val="4496"/>
              </a:lnSpc>
              <a:buFont typeface="Arial"/>
              <a:buChar char="•"/>
            </a:pPr>
            <a:r>
              <a:rPr lang="en-US" sz="3614">
                <a:solidFill>
                  <a:srgbClr val="FFFFFF"/>
                </a:solidFill>
                <a:latin typeface="Ovo"/>
                <a:ea typeface="Ovo"/>
                <a:cs typeface="Ovo"/>
                <a:sym typeface="Ovo"/>
              </a:rPr>
              <a:t>A human expert can change, but an expert system can last forever.</a:t>
            </a:r>
          </a:p>
          <a:p>
            <a:pPr algn="just" marL="780305" indent="-390153" lvl="1">
              <a:lnSpc>
                <a:spcPts val="4496"/>
              </a:lnSpc>
              <a:buFont typeface="Arial"/>
              <a:buChar char="•"/>
            </a:pPr>
            <a:r>
              <a:rPr lang="en-US" sz="3614">
                <a:solidFill>
                  <a:srgbClr val="FFFFFF"/>
                </a:solidFill>
                <a:latin typeface="Ovo"/>
                <a:ea typeface="Ovo"/>
                <a:cs typeface="Ovo"/>
                <a:sym typeface="Ovo"/>
              </a:rPr>
              <a:t>It facilitates the distribution of human expertise.</a:t>
            </a:r>
          </a:p>
          <a:p>
            <a:pPr algn="just" marL="780305" indent="-390153" lvl="1">
              <a:lnSpc>
                <a:spcPts val="4496"/>
              </a:lnSpc>
              <a:buFont typeface="Arial"/>
              <a:buChar char="•"/>
            </a:pPr>
            <a:r>
              <a:rPr lang="en-US" sz="3614">
                <a:solidFill>
                  <a:srgbClr val="FFFFFF"/>
                </a:solidFill>
                <a:latin typeface="Ovo"/>
                <a:ea typeface="Ovo"/>
                <a:cs typeface="Ovo"/>
                <a:sym typeface="Ovo"/>
              </a:rPr>
              <a:t>The expert system might incorporate knowledge from multiple human experts, which would increase the effectiveness of the answers.</a:t>
            </a:r>
          </a:p>
          <a:p>
            <a:pPr algn="just" marL="780305" indent="-390153" lvl="1">
              <a:lnSpc>
                <a:spcPts val="4496"/>
              </a:lnSpc>
              <a:buFont typeface="Arial"/>
              <a:buChar char="•"/>
            </a:pPr>
            <a:r>
              <a:rPr lang="en-US" sz="3614">
                <a:solidFill>
                  <a:srgbClr val="FFFFFF"/>
                </a:solidFill>
                <a:latin typeface="Ovo"/>
                <a:ea typeface="Ovo"/>
                <a:cs typeface="Ovo"/>
                <a:sym typeface="Ovo"/>
              </a:rPr>
              <a:t>It lowers the expense of seeking advice from a specialist in various fields, including medical diagnosis.</a:t>
            </a:r>
          </a:p>
          <a:p>
            <a:pPr algn="just" marL="780305" indent="-390153" lvl="1">
              <a:lnSpc>
                <a:spcPts val="4496"/>
              </a:lnSpc>
              <a:buFont typeface="Arial"/>
              <a:buChar char="•"/>
            </a:pPr>
            <a:r>
              <a:rPr lang="en-US" sz="3614">
                <a:solidFill>
                  <a:srgbClr val="FFFFFF"/>
                </a:solidFill>
                <a:latin typeface="Ovo"/>
                <a:ea typeface="Ovo"/>
                <a:cs typeface="Ovo"/>
                <a:sym typeface="Ovo"/>
              </a:rPr>
              <a:t>Instead of using standard procedural code, expert systems can handle complex issues by inferring new facts from known facts of knowledge, which are typically represented as if-then rules.</a:t>
            </a:r>
          </a:p>
          <a:p>
            <a:pPr algn="just">
              <a:lnSpc>
                <a:spcPts val="3376"/>
              </a:lnSpc>
            </a:pPr>
          </a:p>
          <a:p>
            <a:pPr algn="just">
              <a:lnSpc>
                <a:spcPts val="3376"/>
              </a:lnSpc>
            </a:pP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477790" y="9239250"/>
            <a:ext cx="15723700" cy="0"/>
          </a:xfrm>
          <a:prstGeom prst="line">
            <a:avLst/>
          </a:prstGeom>
          <a:ln cap="flat" w="9525">
            <a:solidFill>
              <a:srgbClr val="FFFFFF"/>
            </a:solidFill>
            <a:prstDash val="solid"/>
            <a:headEnd type="none" len="sm" w="sm"/>
            <a:tailEnd type="none" len="sm" w="sm"/>
          </a:ln>
        </p:spPr>
      </p:sp>
      <p:sp>
        <p:nvSpPr>
          <p:cNvPr name="Freeform 3" id="3"/>
          <p:cNvSpPr/>
          <p:nvPr/>
        </p:nvSpPr>
        <p:spPr>
          <a:xfrm flipH="false" flipV="false" rot="0">
            <a:off x="14818898" y="-316346"/>
            <a:ext cx="4142416" cy="4114800"/>
          </a:xfrm>
          <a:custGeom>
            <a:avLst/>
            <a:gdLst/>
            <a:ahLst/>
            <a:cxnLst/>
            <a:rect r="r" b="b" t="t" l="l"/>
            <a:pathLst>
              <a:path h="4114800" w="4142416">
                <a:moveTo>
                  <a:pt x="0" y="0"/>
                </a:moveTo>
                <a:lnTo>
                  <a:pt x="4142416" y="0"/>
                </a:lnTo>
                <a:lnTo>
                  <a:pt x="41424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76074" y="780954"/>
            <a:ext cx="11855588" cy="939125"/>
          </a:xfrm>
          <a:prstGeom prst="rect">
            <a:avLst/>
          </a:prstGeom>
        </p:spPr>
        <p:txBody>
          <a:bodyPr anchor="t" rtlCol="false" tIns="0" lIns="0" bIns="0" rIns="0">
            <a:spAutoFit/>
          </a:bodyPr>
          <a:lstStyle/>
          <a:p>
            <a:pPr algn="l">
              <a:lnSpc>
                <a:spcPts val="7408"/>
              </a:lnSpc>
            </a:pPr>
            <a:r>
              <a:rPr lang="en-US" sz="5898">
                <a:solidFill>
                  <a:srgbClr val="FFFFFF"/>
                </a:solidFill>
                <a:latin typeface="Ovo"/>
                <a:ea typeface="Ovo"/>
                <a:cs typeface="Ovo"/>
                <a:sym typeface="Ovo"/>
              </a:rPr>
              <a:t>Benifits of Expert system</a:t>
            </a:r>
          </a:p>
        </p:txBody>
      </p:sp>
      <p:sp>
        <p:nvSpPr>
          <p:cNvPr name="TextBox 5" id="5"/>
          <p:cNvSpPr txBox="true"/>
          <p:nvPr/>
        </p:nvSpPr>
        <p:spPr>
          <a:xfrm rot="0">
            <a:off x="1476074" y="2396469"/>
            <a:ext cx="12737498" cy="7363076"/>
          </a:xfrm>
          <a:prstGeom prst="rect">
            <a:avLst/>
          </a:prstGeom>
        </p:spPr>
        <p:txBody>
          <a:bodyPr anchor="t" rtlCol="false" tIns="0" lIns="0" bIns="0" rIns="0">
            <a:spAutoFit/>
          </a:bodyPr>
          <a:lstStyle/>
          <a:p>
            <a:pPr algn="just" marL="672358" indent="-336179" lvl="1">
              <a:lnSpc>
                <a:spcPts val="3874"/>
              </a:lnSpc>
              <a:buFont typeface="Arial"/>
              <a:buChar char="•"/>
            </a:pPr>
            <a:r>
              <a:rPr lang="en-US" sz="3114">
                <a:solidFill>
                  <a:srgbClr val="FFDE59"/>
                </a:solidFill>
                <a:latin typeface="Ovo"/>
                <a:ea typeface="Ovo"/>
                <a:cs typeface="Ovo"/>
                <a:sym typeface="Ovo"/>
              </a:rPr>
              <a:t>Accuracy: </a:t>
            </a:r>
            <a:r>
              <a:rPr lang="en-US" sz="3114">
                <a:solidFill>
                  <a:srgbClr val="FFFFFF"/>
                </a:solidFill>
                <a:latin typeface="Ovo"/>
                <a:ea typeface="Ovo"/>
                <a:cs typeface="Ovo"/>
                <a:sym typeface="Ovo"/>
              </a:rPr>
              <a:t>Expert systems are immune to emotional or human inaccuracy. They base their choices on facts and rules.</a:t>
            </a:r>
          </a:p>
          <a:p>
            <a:pPr algn="just" marL="672358" indent="-336179" lvl="1">
              <a:lnSpc>
                <a:spcPts val="3874"/>
              </a:lnSpc>
              <a:buFont typeface="Arial"/>
              <a:buChar char="•"/>
            </a:pPr>
            <a:r>
              <a:rPr lang="en-US" sz="3114">
                <a:solidFill>
                  <a:srgbClr val="FFDE59"/>
                </a:solidFill>
                <a:latin typeface="Ovo"/>
                <a:ea typeface="Ovo"/>
                <a:cs typeface="Ovo"/>
                <a:sym typeface="Ovo"/>
              </a:rPr>
              <a:t>Permanent: </a:t>
            </a:r>
            <a:r>
              <a:rPr lang="en-US" sz="3114">
                <a:solidFill>
                  <a:srgbClr val="FFFFFF"/>
                </a:solidFill>
                <a:latin typeface="Ovo"/>
                <a:ea typeface="Ovo"/>
                <a:cs typeface="Ovo"/>
                <a:sym typeface="Ovo"/>
              </a:rPr>
              <a:t>When human specialists leave their positions, the technical information could follow. Knowledge-based systems offer an everlasting reservoir of information and knowledge.</a:t>
            </a:r>
          </a:p>
          <a:p>
            <a:pPr algn="just" marL="672358" indent="-336179" lvl="1">
              <a:lnSpc>
                <a:spcPts val="3874"/>
              </a:lnSpc>
              <a:buFont typeface="Arial"/>
              <a:buChar char="•"/>
            </a:pPr>
            <a:r>
              <a:rPr lang="en-US" sz="3114">
                <a:solidFill>
                  <a:srgbClr val="FFDE59"/>
                </a:solidFill>
                <a:latin typeface="Ovo"/>
                <a:ea typeface="Ovo"/>
                <a:cs typeface="Ovo"/>
                <a:sym typeface="Ovo"/>
              </a:rPr>
              <a:t>Logical deduction:</a:t>
            </a:r>
            <a:r>
              <a:rPr lang="en-US" sz="3114">
                <a:solidFill>
                  <a:srgbClr val="FFFFFF"/>
                </a:solidFill>
                <a:latin typeface="Ovo"/>
                <a:ea typeface="Ovo"/>
                <a:cs typeface="Ovo"/>
                <a:sym typeface="Ovo"/>
              </a:rPr>
              <a:t> Expert systems use a variety of principles, such as if-then rules, to derive conclusions from data already known.</a:t>
            </a:r>
          </a:p>
          <a:p>
            <a:pPr algn="just" marL="672358" indent="-336179" lvl="1">
              <a:lnSpc>
                <a:spcPts val="3874"/>
              </a:lnSpc>
              <a:buFont typeface="Arial"/>
              <a:buChar char="•"/>
            </a:pPr>
            <a:r>
              <a:rPr lang="en-US" sz="3114">
                <a:solidFill>
                  <a:srgbClr val="FFDE59"/>
                </a:solidFill>
                <a:latin typeface="Ovo"/>
                <a:ea typeface="Ovo"/>
                <a:cs typeface="Ovo"/>
                <a:sym typeface="Ovo"/>
              </a:rPr>
              <a:t>Cost-control : </a:t>
            </a:r>
            <a:r>
              <a:rPr lang="en-US" sz="3114">
                <a:solidFill>
                  <a:srgbClr val="FFFFFF"/>
                </a:solidFill>
                <a:latin typeface="Ovo"/>
                <a:ea typeface="Ovo"/>
                <a:cs typeface="Ovo"/>
                <a:sym typeface="Ovo"/>
              </a:rPr>
              <a:t>When compared to the cost of hiring human specialists, expert systems are comparatively cheap. They can assist in making judgments more quickly and inexpensively.</a:t>
            </a:r>
          </a:p>
          <a:p>
            <a:pPr algn="just" marL="672358" indent="-336179" lvl="1">
              <a:lnSpc>
                <a:spcPts val="3874"/>
              </a:lnSpc>
              <a:buFont typeface="Arial"/>
              <a:buChar char="•"/>
            </a:pPr>
            <a:r>
              <a:rPr lang="en-US" sz="3114">
                <a:solidFill>
                  <a:srgbClr val="FFDE59"/>
                </a:solidFill>
                <a:latin typeface="Ovo"/>
                <a:ea typeface="Ovo"/>
                <a:cs typeface="Ovo"/>
                <a:sym typeface="Ovo"/>
              </a:rPr>
              <a:t>Several experts:</a:t>
            </a:r>
            <a:r>
              <a:rPr lang="en-US" sz="3114">
                <a:solidFill>
                  <a:srgbClr val="FFFFFF"/>
                </a:solidFill>
                <a:latin typeface="Ovo"/>
                <a:ea typeface="Ovo"/>
                <a:cs typeface="Ovo"/>
                <a:sym typeface="Ovo"/>
              </a:rPr>
              <a:t> The knowledge base of an expert system is augmented by multiple experts. This gives more information to draw upon and stops one expert from influencing the decision-making process.</a:t>
            </a:r>
          </a:p>
          <a:p>
            <a:pPr algn="just">
              <a:lnSpc>
                <a:spcPts val="4496"/>
              </a:lnSpc>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9391131" y="0"/>
            <a:ext cx="8896869" cy="10287000"/>
            <a:chOff x="0" y="0"/>
            <a:chExt cx="1378358" cy="1593725"/>
          </a:xfrm>
        </p:grpSpPr>
        <p:sp>
          <p:nvSpPr>
            <p:cNvPr name="Freeform 3" id="3"/>
            <p:cNvSpPr/>
            <p:nvPr/>
          </p:nvSpPr>
          <p:spPr>
            <a:xfrm flipH="false" flipV="false" rot="0">
              <a:off x="0" y="0"/>
              <a:ext cx="1378358" cy="1593725"/>
            </a:xfrm>
            <a:custGeom>
              <a:avLst/>
              <a:gdLst/>
              <a:ahLst/>
              <a:cxnLst/>
              <a:rect r="r" b="b" t="t" l="l"/>
              <a:pathLst>
                <a:path h="1593725" w="1378358">
                  <a:moveTo>
                    <a:pt x="0" y="0"/>
                  </a:moveTo>
                  <a:lnTo>
                    <a:pt x="1378358" y="0"/>
                  </a:lnTo>
                  <a:lnTo>
                    <a:pt x="1378358" y="1593725"/>
                  </a:lnTo>
                  <a:lnTo>
                    <a:pt x="0" y="1593725"/>
                  </a:lnTo>
                  <a:close/>
                </a:path>
              </a:pathLst>
            </a:custGeom>
            <a:blipFill>
              <a:blip r:embed="rId2"/>
              <a:stretch>
                <a:fillRect l="-36772" t="0" r="-36772" b="0"/>
              </a:stretch>
            </a:blipFill>
          </p:spPr>
        </p:sp>
      </p:grpSp>
      <p:sp>
        <p:nvSpPr>
          <p:cNvPr name="TextBox 4" id="4"/>
          <p:cNvSpPr txBox="true"/>
          <p:nvPr/>
        </p:nvSpPr>
        <p:spPr>
          <a:xfrm rot="0">
            <a:off x="764125" y="989132"/>
            <a:ext cx="7784071" cy="3306781"/>
          </a:xfrm>
          <a:prstGeom prst="rect">
            <a:avLst/>
          </a:prstGeom>
        </p:spPr>
        <p:txBody>
          <a:bodyPr anchor="t" rtlCol="false" tIns="0" lIns="0" bIns="0" rIns="0">
            <a:spAutoFit/>
          </a:bodyPr>
          <a:lstStyle/>
          <a:p>
            <a:pPr algn="l">
              <a:lnSpc>
                <a:spcPts val="8831"/>
              </a:lnSpc>
            </a:pPr>
            <a:r>
              <a:rPr lang="en-US" sz="6307" spc="466">
                <a:solidFill>
                  <a:srgbClr val="FFFFFF"/>
                </a:solidFill>
                <a:latin typeface="HK Modular"/>
                <a:ea typeface="HK Modular"/>
                <a:cs typeface="HK Modular"/>
                <a:sym typeface="HK Modular"/>
              </a:rPr>
              <a:t>PREDICTIVE MODELING TECHNIQUES</a:t>
            </a:r>
          </a:p>
        </p:txBody>
      </p:sp>
      <p:sp>
        <p:nvSpPr>
          <p:cNvPr name="TextBox 5" id="5"/>
          <p:cNvSpPr txBox="true"/>
          <p:nvPr/>
        </p:nvSpPr>
        <p:spPr>
          <a:xfrm rot="0">
            <a:off x="764125" y="6618198"/>
            <a:ext cx="5171129" cy="379958"/>
          </a:xfrm>
          <a:prstGeom prst="rect">
            <a:avLst/>
          </a:prstGeom>
        </p:spPr>
        <p:txBody>
          <a:bodyPr anchor="t" rtlCol="false" tIns="0" lIns="0" bIns="0" rIns="0">
            <a:spAutoFit/>
          </a:bodyPr>
          <a:lstStyle/>
          <a:p>
            <a:pPr algn="l">
              <a:lnSpc>
                <a:spcPts val="3108"/>
              </a:lnSpc>
              <a:spcBef>
                <a:spcPct val="0"/>
              </a:spcBef>
            </a:pPr>
            <a:r>
              <a:rPr lang="en-US" b="true" sz="2220" spc="4">
                <a:solidFill>
                  <a:srgbClr val="FFFFFF"/>
                </a:solidFill>
                <a:latin typeface="HK Modular"/>
                <a:ea typeface="HK Modular"/>
                <a:cs typeface="HK Modular"/>
                <a:sym typeface="HK Modular"/>
              </a:rPr>
              <a:t>Regression Models</a:t>
            </a:r>
          </a:p>
        </p:txBody>
      </p:sp>
      <p:sp>
        <p:nvSpPr>
          <p:cNvPr name="TextBox 6" id="6"/>
          <p:cNvSpPr txBox="true"/>
          <p:nvPr/>
        </p:nvSpPr>
        <p:spPr>
          <a:xfrm rot="0">
            <a:off x="764125" y="7142069"/>
            <a:ext cx="4854956" cy="657153"/>
          </a:xfrm>
          <a:prstGeom prst="rect">
            <a:avLst/>
          </a:prstGeom>
        </p:spPr>
        <p:txBody>
          <a:bodyPr anchor="t" rtlCol="false" tIns="0" lIns="0" bIns="0" rIns="0">
            <a:spAutoFit/>
          </a:bodyPr>
          <a:lstStyle/>
          <a:p>
            <a:pPr algn="l">
              <a:lnSpc>
                <a:spcPts val="2681"/>
              </a:lnSpc>
            </a:pPr>
            <a:r>
              <a:rPr lang="en-US" sz="1644">
                <a:solidFill>
                  <a:srgbClr val="FFFFFF"/>
                </a:solidFill>
                <a:latin typeface="Ovo"/>
                <a:ea typeface="Ovo"/>
                <a:cs typeface="Ovo"/>
                <a:sym typeface="Ovo"/>
              </a:rPr>
              <a:t>Regression models predict continuous outcomes, such as sales revenue or customer lifetime value.</a:t>
            </a:r>
          </a:p>
        </p:txBody>
      </p:sp>
      <p:sp>
        <p:nvSpPr>
          <p:cNvPr name="TextBox 7" id="7"/>
          <p:cNvSpPr txBox="true"/>
          <p:nvPr/>
        </p:nvSpPr>
        <p:spPr>
          <a:xfrm rot="0">
            <a:off x="764125" y="8077276"/>
            <a:ext cx="5171129" cy="379958"/>
          </a:xfrm>
          <a:prstGeom prst="rect">
            <a:avLst/>
          </a:prstGeom>
        </p:spPr>
        <p:txBody>
          <a:bodyPr anchor="t" rtlCol="false" tIns="0" lIns="0" bIns="0" rIns="0">
            <a:spAutoFit/>
          </a:bodyPr>
          <a:lstStyle/>
          <a:p>
            <a:pPr algn="l">
              <a:lnSpc>
                <a:spcPts val="3108"/>
              </a:lnSpc>
              <a:spcBef>
                <a:spcPct val="0"/>
              </a:spcBef>
            </a:pPr>
            <a:r>
              <a:rPr lang="en-US" b="true" sz="2220" spc="4">
                <a:solidFill>
                  <a:srgbClr val="FFFFFF"/>
                </a:solidFill>
                <a:latin typeface="HK Modular"/>
                <a:ea typeface="HK Modular"/>
                <a:cs typeface="HK Modular"/>
                <a:sym typeface="HK Modular"/>
              </a:rPr>
              <a:t>Clustering Models</a:t>
            </a:r>
          </a:p>
        </p:txBody>
      </p:sp>
      <p:sp>
        <p:nvSpPr>
          <p:cNvPr name="TextBox 8" id="8"/>
          <p:cNvSpPr txBox="true"/>
          <p:nvPr/>
        </p:nvSpPr>
        <p:spPr>
          <a:xfrm rot="0">
            <a:off x="764125" y="8601147"/>
            <a:ext cx="4665251" cy="657153"/>
          </a:xfrm>
          <a:prstGeom prst="rect">
            <a:avLst/>
          </a:prstGeom>
        </p:spPr>
        <p:txBody>
          <a:bodyPr anchor="t" rtlCol="false" tIns="0" lIns="0" bIns="0" rIns="0">
            <a:spAutoFit/>
          </a:bodyPr>
          <a:lstStyle/>
          <a:p>
            <a:pPr algn="l">
              <a:lnSpc>
                <a:spcPts val="2681"/>
              </a:lnSpc>
            </a:pPr>
            <a:r>
              <a:rPr lang="en-US" sz="1644">
                <a:solidFill>
                  <a:srgbClr val="FFFFFF"/>
                </a:solidFill>
                <a:latin typeface="Ovo"/>
                <a:ea typeface="Ovo"/>
                <a:cs typeface="Ovo"/>
                <a:sym typeface="Ovo"/>
              </a:rPr>
              <a:t>Clustering models group similar data points together, identifying patterns and insights.</a:t>
            </a:r>
          </a:p>
        </p:txBody>
      </p:sp>
      <p:sp>
        <p:nvSpPr>
          <p:cNvPr name="TextBox 9" id="9"/>
          <p:cNvSpPr txBox="true"/>
          <p:nvPr/>
        </p:nvSpPr>
        <p:spPr>
          <a:xfrm rot="0">
            <a:off x="764125" y="5115063"/>
            <a:ext cx="6285057" cy="379958"/>
          </a:xfrm>
          <a:prstGeom prst="rect">
            <a:avLst/>
          </a:prstGeom>
        </p:spPr>
        <p:txBody>
          <a:bodyPr anchor="t" rtlCol="false" tIns="0" lIns="0" bIns="0" rIns="0">
            <a:spAutoFit/>
          </a:bodyPr>
          <a:lstStyle/>
          <a:p>
            <a:pPr algn="l">
              <a:lnSpc>
                <a:spcPts val="3108"/>
              </a:lnSpc>
              <a:spcBef>
                <a:spcPct val="0"/>
              </a:spcBef>
            </a:pPr>
            <a:r>
              <a:rPr lang="en-US" b="true" sz="2220" spc="4">
                <a:solidFill>
                  <a:srgbClr val="FFFFFF"/>
                </a:solidFill>
                <a:latin typeface="HK Modular"/>
                <a:ea typeface="HK Modular"/>
                <a:cs typeface="HK Modular"/>
                <a:sym typeface="HK Modular"/>
              </a:rPr>
              <a:t>Classification Models</a:t>
            </a:r>
          </a:p>
        </p:txBody>
      </p:sp>
      <p:sp>
        <p:nvSpPr>
          <p:cNvPr name="TextBox 10" id="10"/>
          <p:cNvSpPr txBox="true"/>
          <p:nvPr/>
        </p:nvSpPr>
        <p:spPr>
          <a:xfrm rot="0">
            <a:off x="764125" y="5638848"/>
            <a:ext cx="5517558" cy="657153"/>
          </a:xfrm>
          <a:prstGeom prst="rect">
            <a:avLst/>
          </a:prstGeom>
        </p:spPr>
        <p:txBody>
          <a:bodyPr anchor="t" rtlCol="false" tIns="0" lIns="0" bIns="0" rIns="0">
            <a:spAutoFit/>
          </a:bodyPr>
          <a:lstStyle/>
          <a:p>
            <a:pPr algn="l">
              <a:lnSpc>
                <a:spcPts val="2681"/>
              </a:lnSpc>
            </a:pPr>
            <a:r>
              <a:rPr lang="en-US" sz="1644">
                <a:solidFill>
                  <a:srgbClr val="FFFFFF"/>
                </a:solidFill>
                <a:latin typeface="Ovo"/>
                <a:ea typeface="Ovo"/>
                <a:cs typeface="Ovo"/>
                <a:sym typeface="Ovo"/>
              </a:rPr>
              <a:t>Classification models predict categorical outcomes, such as customer churn or product defect probability.</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Freeform 12" id="12"/>
          <p:cNvSpPr/>
          <p:nvPr/>
        </p:nvSpPr>
        <p:spPr>
          <a:xfrm flipH="false" flipV="false" rot="0">
            <a:off x="540068" y="1357761"/>
            <a:ext cx="6024773" cy="6024773"/>
          </a:xfrm>
          <a:custGeom>
            <a:avLst/>
            <a:gdLst/>
            <a:ahLst/>
            <a:cxnLst/>
            <a:rect r="r" b="b" t="t" l="l"/>
            <a:pathLst>
              <a:path h="6024773" w="6024773">
                <a:moveTo>
                  <a:pt x="0" y="0"/>
                </a:moveTo>
                <a:lnTo>
                  <a:pt x="6024773" y="0"/>
                </a:lnTo>
                <a:lnTo>
                  <a:pt x="6024773" y="6024773"/>
                </a:lnTo>
                <a:lnTo>
                  <a:pt x="0" y="6024773"/>
                </a:lnTo>
                <a:lnTo>
                  <a:pt x="0" y="0"/>
                </a:lnTo>
                <a:close/>
              </a:path>
            </a:pathLst>
          </a:custGeom>
          <a:blipFill>
            <a:blip r:embed="rId2"/>
            <a:stretch>
              <a:fillRect l="0" t="0" r="0" b="0"/>
            </a:stretch>
          </a:blipFill>
        </p:spPr>
      </p:sp>
      <p:sp>
        <p:nvSpPr>
          <p:cNvPr name="TextBox 13" id="13"/>
          <p:cNvSpPr txBox="true"/>
          <p:nvPr/>
        </p:nvSpPr>
        <p:spPr>
          <a:xfrm rot="0">
            <a:off x="7820818" y="603607"/>
            <a:ext cx="8503620"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INTELLIGENT SYSTEM</a:t>
            </a:r>
          </a:p>
        </p:txBody>
      </p:sp>
      <p:sp>
        <p:nvSpPr>
          <p:cNvPr name="TextBox 14" id="14"/>
          <p:cNvSpPr txBox="true"/>
          <p:nvPr/>
        </p:nvSpPr>
        <p:spPr>
          <a:xfrm rot="0">
            <a:off x="7465389" y="2251381"/>
            <a:ext cx="9228205" cy="3066633"/>
          </a:xfrm>
          <a:prstGeom prst="rect">
            <a:avLst/>
          </a:prstGeom>
        </p:spPr>
        <p:txBody>
          <a:bodyPr anchor="t" rtlCol="false" tIns="0" lIns="0" bIns="0" rIns="0">
            <a:spAutoFit/>
          </a:bodyPr>
          <a:lstStyle/>
          <a:p>
            <a:pPr algn="l">
              <a:lnSpc>
                <a:spcPts val="4091"/>
              </a:lnSpc>
            </a:pPr>
            <a:r>
              <a:rPr lang="en-US" sz="2531">
                <a:solidFill>
                  <a:srgbClr val="FFFFFF"/>
                </a:solidFill>
                <a:latin typeface="Ovo"/>
                <a:ea typeface="Ovo"/>
                <a:cs typeface="Ovo"/>
                <a:sym typeface="Ovo"/>
              </a:rPr>
              <a:t>An intelligent system in AI is a technology equipped with the capability to gather data, process it, and make decisions or perform actions based on that data. At its core, an intelligent system mimics the cognitive functions of human beings, such as learning from experience, understanding complex concepts, solving problems, and making decisions.</a:t>
            </a:r>
          </a:p>
        </p:txBody>
      </p:sp>
      <p:sp>
        <p:nvSpPr>
          <p:cNvPr name="TextBox 15" id="15"/>
          <p:cNvSpPr txBox="true"/>
          <p:nvPr/>
        </p:nvSpPr>
        <p:spPr>
          <a:xfrm rot="0">
            <a:off x="7458525" y="6284520"/>
            <a:ext cx="9228205" cy="2552283"/>
          </a:xfrm>
          <a:prstGeom prst="rect">
            <a:avLst/>
          </a:prstGeom>
        </p:spPr>
        <p:txBody>
          <a:bodyPr anchor="t" rtlCol="false" tIns="0" lIns="0" bIns="0" rIns="0">
            <a:spAutoFit/>
          </a:bodyPr>
          <a:lstStyle/>
          <a:p>
            <a:pPr algn="l">
              <a:lnSpc>
                <a:spcPts val="4091"/>
              </a:lnSpc>
            </a:pPr>
            <a:r>
              <a:rPr lang="en-US" sz="2531">
                <a:solidFill>
                  <a:srgbClr val="FFFFFF"/>
                </a:solidFill>
                <a:latin typeface="Ovo"/>
                <a:ea typeface="Ovo"/>
                <a:cs typeface="Ovo"/>
                <a:sym typeface="Ovo"/>
              </a:rPr>
              <a:t>core components of IS</a:t>
            </a:r>
          </a:p>
          <a:p>
            <a:pPr algn="l" marL="546643" indent="-273321" lvl="1">
              <a:lnSpc>
                <a:spcPts val="4091"/>
              </a:lnSpc>
              <a:buFont typeface="Arial"/>
              <a:buChar char="•"/>
            </a:pPr>
            <a:r>
              <a:rPr lang="en-US" sz="2531">
                <a:solidFill>
                  <a:srgbClr val="FFFFFF"/>
                </a:solidFill>
                <a:latin typeface="Ovo"/>
                <a:ea typeface="Ovo"/>
                <a:cs typeface="Ovo"/>
                <a:sym typeface="Ovo"/>
              </a:rPr>
              <a:t>Machine learning</a:t>
            </a:r>
          </a:p>
          <a:p>
            <a:pPr algn="l" marL="546643" indent="-273321" lvl="1">
              <a:lnSpc>
                <a:spcPts val="4091"/>
              </a:lnSpc>
              <a:buFont typeface="Arial"/>
              <a:buChar char="•"/>
            </a:pPr>
            <a:r>
              <a:rPr lang="en-US" sz="2531">
                <a:solidFill>
                  <a:srgbClr val="FFFFFF"/>
                </a:solidFill>
                <a:latin typeface="Ovo"/>
                <a:ea typeface="Ovo"/>
                <a:cs typeface="Ovo"/>
                <a:sym typeface="Ovo"/>
              </a:rPr>
              <a:t>Natural language processing</a:t>
            </a:r>
          </a:p>
          <a:p>
            <a:pPr algn="l" marL="546643" indent="-273321" lvl="1">
              <a:lnSpc>
                <a:spcPts val="4091"/>
              </a:lnSpc>
              <a:buFont typeface="Arial"/>
              <a:buChar char="•"/>
            </a:pPr>
            <a:r>
              <a:rPr lang="en-US" sz="2531">
                <a:solidFill>
                  <a:srgbClr val="FFFFFF"/>
                </a:solidFill>
                <a:latin typeface="Ovo"/>
                <a:ea typeface="Ovo"/>
                <a:cs typeface="Ovo"/>
                <a:sym typeface="Ovo"/>
              </a:rPr>
              <a:t>Robotics</a:t>
            </a:r>
          </a:p>
          <a:p>
            <a:pPr algn="l" marL="546643" indent="-273321" lvl="1">
              <a:lnSpc>
                <a:spcPts val="4091"/>
              </a:lnSpc>
              <a:buFont typeface="Arial"/>
              <a:buChar char="•"/>
            </a:pPr>
            <a:r>
              <a:rPr lang="en-US" sz="2531">
                <a:solidFill>
                  <a:srgbClr val="FFFFFF"/>
                </a:solidFill>
                <a:latin typeface="Ovo"/>
                <a:ea typeface="Ovo"/>
                <a:cs typeface="Ovo"/>
                <a:sym typeface="Ovo"/>
              </a:rPr>
              <a:t>Expert system</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Freeform 12" id="12"/>
          <p:cNvSpPr/>
          <p:nvPr/>
        </p:nvSpPr>
        <p:spPr>
          <a:xfrm flipH="false" flipV="false" rot="0">
            <a:off x="213373" y="1078991"/>
            <a:ext cx="6240564" cy="6240564"/>
          </a:xfrm>
          <a:custGeom>
            <a:avLst/>
            <a:gdLst/>
            <a:ahLst/>
            <a:cxnLst/>
            <a:rect r="r" b="b" t="t" l="l"/>
            <a:pathLst>
              <a:path h="6240564" w="6240564">
                <a:moveTo>
                  <a:pt x="0" y="0"/>
                </a:moveTo>
                <a:lnTo>
                  <a:pt x="6240564" y="0"/>
                </a:lnTo>
                <a:lnTo>
                  <a:pt x="6240564" y="6240564"/>
                </a:lnTo>
                <a:lnTo>
                  <a:pt x="0" y="6240564"/>
                </a:lnTo>
                <a:lnTo>
                  <a:pt x="0" y="0"/>
                </a:lnTo>
                <a:close/>
              </a:path>
            </a:pathLst>
          </a:custGeom>
          <a:blipFill>
            <a:blip r:embed="rId2"/>
            <a:stretch>
              <a:fillRect l="0" t="0" r="0" b="0"/>
            </a:stretch>
          </a:blipFill>
        </p:spPr>
      </p:sp>
      <p:sp>
        <p:nvSpPr>
          <p:cNvPr name="TextBox 13" id="13"/>
          <p:cNvSpPr txBox="true"/>
          <p:nvPr/>
        </p:nvSpPr>
        <p:spPr>
          <a:xfrm rot="0">
            <a:off x="7820818" y="603607"/>
            <a:ext cx="8503620"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NEURAL NETWORK</a:t>
            </a:r>
          </a:p>
        </p:txBody>
      </p:sp>
      <p:sp>
        <p:nvSpPr>
          <p:cNvPr name="TextBox 14" id="14"/>
          <p:cNvSpPr txBox="true"/>
          <p:nvPr/>
        </p:nvSpPr>
        <p:spPr>
          <a:xfrm rot="0">
            <a:off x="7465389" y="2251381"/>
            <a:ext cx="9228205" cy="2552283"/>
          </a:xfrm>
          <a:prstGeom prst="rect">
            <a:avLst/>
          </a:prstGeom>
        </p:spPr>
        <p:txBody>
          <a:bodyPr anchor="t" rtlCol="false" tIns="0" lIns="0" bIns="0" rIns="0">
            <a:spAutoFit/>
          </a:bodyPr>
          <a:lstStyle/>
          <a:p>
            <a:pPr algn="l">
              <a:lnSpc>
                <a:spcPts val="4091"/>
              </a:lnSpc>
            </a:pPr>
            <a:r>
              <a:rPr lang="en-US" sz="2531">
                <a:solidFill>
                  <a:srgbClr val="FFFFFF"/>
                </a:solidFill>
                <a:latin typeface="Ovo"/>
                <a:ea typeface="Ovo"/>
                <a:cs typeface="Ovo"/>
                <a:sym typeface="Ovo"/>
              </a:rPr>
              <a:t>A neural network is a </a:t>
            </a:r>
            <a:r>
              <a:rPr lang="en-US" sz="2531" u="sng">
                <a:solidFill>
                  <a:srgbClr val="FFFFFF"/>
                </a:solidFill>
                <a:latin typeface="Ovo"/>
                <a:ea typeface="Ovo"/>
                <a:cs typeface="Ovo"/>
                <a:sym typeface="Ovo"/>
                <a:hlinkClick r:id="rId3" tooltip="https://www.ibm.com/topics/machine-learning"/>
              </a:rPr>
              <a:t>machine learning</a:t>
            </a:r>
            <a:r>
              <a:rPr lang="en-US" sz="2531">
                <a:solidFill>
                  <a:srgbClr val="FFFFFF"/>
                </a:solidFill>
                <a:latin typeface="Ovo"/>
                <a:ea typeface="Ovo"/>
                <a:cs typeface="Ovo"/>
                <a:sym typeface="Ovo"/>
              </a:rPr>
              <a:t> program, or model, that makes decisions in a manner similar to the human brain, by using processes that mimic the way biological neurons work together to identify phenomena, weigh options and arrive at conclusions.</a:t>
            </a:r>
          </a:p>
        </p:txBody>
      </p:sp>
      <p:sp>
        <p:nvSpPr>
          <p:cNvPr name="TextBox 15" id="15"/>
          <p:cNvSpPr txBox="true"/>
          <p:nvPr/>
        </p:nvSpPr>
        <p:spPr>
          <a:xfrm rot="0">
            <a:off x="7465389" y="5162967"/>
            <a:ext cx="9228205" cy="4095333"/>
          </a:xfrm>
          <a:prstGeom prst="rect">
            <a:avLst/>
          </a:prstGeom>
        </p:spPr>
        <p:txBody>
          <a:bodyPr anchor="t" rtlCol="false" tIns="0" lIns="0" bIns="0" rIns="0">
            <a:spAutoFit/>
          </a:bodyPr>
          <a:lstStyle/>
          <a:p>
            <a:pPr algn="l">
              <a:lnSpc>
                <a:spcPts val="4091"/>
              </a:lnSpc>
            </a:pPr>
            <a:r>
              <a:rPr lang="en-US" sz="2531">
                <a:solidFill>
                  <a:srgbClr val="FFFFFF"/>
                </a:solidFill>
                <a:latin typeface="Ovo"/>
                <a:ea typeface="Ovo"/>
                <a:cs typeface="Ovo"/>
                <a:sym typeface="Ovo"/>
              </a:rPr>
              <a:t>Every neural network consists of layers of nodes, or artificial neurons—an input layer, one or more hidden layers, and an output layer. Each node connects to others, and has its own associated weight and threshold. If the output of any individual node is above the specified threshold value, that node is activated, sending data to the next layer of the network. Otherwise, no data is passed along to the next layer of the network.</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Freeform 12" id="12"/>
          <p:cNvSpPr/>
          <p:nvPr/>
        </p:nvSpPr>
        <p:spPr>
          <a:xfrm flipH="false" flipV="false" rot="0">
            <a:off x="1425202" y="2499873"/>
            <a:ext cx="3330684" cy="5554787"/>
          </a:xfrm>
          <a:custGeom>
            <a:avLst/>
            <a:gdLst/>
            <a:ahLst/>
            <a:cxnLst/>
            <a:rect r="r" b="b" t="t" l="l"/>
            <a:pathLst>
              <a:path h="5554787" w="3330684">
                <a:moveTo>
                  <a:pt x="0" y="0"/>
                </a:moveTo>
                <a:lnTo>
                  <a:pt x="3330684" y="0"/>
                </a:lnTo>
                <a:lnTo>
                  <a:pt x="3330684" y="5554787"/>
                </a:lnTo>
                <a:lnTo>
                  <a:pt x="0" y="5554787"/>
                </a:lnTo>
                <a:lnTo>
                  <a:pt x="0" y="0"/>
                </a:lnTo>
                <a:close/>
              </a:path>
            </a:pathLst>
          </a:custGeom>
          <a:blipFill>
            <a:blip r:embed="rId2"/>
            <a:stretch>
              <a:fillRect l="0" t="-3100" r="0" b="-3100"/>
            </a:stretch>
          </a:blipFill>
        </p:spPr>
      </p:sp>
      <p:sp>
        <p:nvSpPr>
          <p:cNvPr name="TextBox 13" id="13"/>
          <p:cNvSpPr txBox="true"/>
          <p:nvPr/>
        </p:nvSpPr>
        <p:spPr>
          <a:xfrm rot="0">
            <a:off x="7820818" y="603607"/>
            <a:ext cx="8503620"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NEURAL NETWORK</a:t>
            </a:r>
          </a:p>
        </p:txBody>
      </p:sp>
      <p:sp>
        <p:nvSpPr>
          <p:cNvPr name="TextBox 14" id="14"/>
          <p:cNvSpPr txBox="true"/>
          <p:nvPr/>
        </p:nvSpPr>
        <p:spPr>
          <a:xfrm rot="0">
            <a:off x="7465389" y="2385573"/>
            <a:ext cx="9228205" cy="4095333"/>
          </a:xfrm>
          <a:prstGeom prst="rect">
            <a:avLst/>
          </a:prstGeom>
        </p:spPr>
        <p:txBody>
          <a:bodyPr anchor="t" rtlCol="false" tIns="0" lIns="0" bIns="0" rIns="0">
            <a:spAutoFit/>
          </a:bodyPr>
          <a:lstStyle/>
          <a:p>
            <a:pPr algn="l">
              <a:lnSpc>
                <a:spcPts val="4091"/>
              </a:lnSpc>
            </a:pPr>
            <a:r>
              <a:rPr lang="en-US" sz="2531">
                <a:solidFill>
                  <a:srgbClr val="FFFFFF"/>
                </a:solidFill>
                <a:latin typeface="Ovo"/>
                <a:ea typeface="Ovo"/>
                <a:cs typeface="Ovo"/>
                <a:sym typeface="Ovo"/>
              </a:rPr>
              <a:t>Neural networks rely on training data to learn and improve their accuracy over time. Once they are fine-tuned for accuracy, they are powerful tools in computer science and </a:t>
            </a:r>
            <a:r>
              <a:rPr lang="en-US" sz="2531" u="sng">
                <a:solidFill>
                  <a:srgbClr val="FFFFFF"/>
                </a:solidFill>
                <a:latin typeface="Ovo"/>
                <a:ea typeface="Ovo"/>
                <a:cs typeface="Ovo"/>
                <a:sym typeface="Ovo"/>
                <a:hlinkClick r:id="rId3" tooltip="https://www.ibm.com/topics/artificial-intelligence"/>
              </a:rPr>
              <a:t>artificial intelligence</a:t>
            </a:r>
            <a:r>
              <a:rPr lang="en-US" sz="2531">
                <a:solidFill>
                  <a:srgbClr val="FFFFFF"/>
                </a:solidFill>
                <a:latin typeface="Ovo"/>
                <a:ea typeface="Ovo"/>
                <a:cs typeface="Ovo"/>
                <a:sym typeface="Ovo"/>
              </a:rPr>
              <a:t>, allowing us to classify and cluster data at a high velocity. Tasks in speech recognition or image recognition can take minutes versus hours when compared to the manual identification by human experts. One of the best-known examples of a neural network is Google’s search algorithm.</a:t>
            </a:r>
          </a:p>
        </p:txBody>
      </p:sp>
      <p:sp>
        <p:nvSpPr>
          <p:cNvPr name="TextBox 15" id="15"/>
          <p:cNvSpPr txBox="true"/>
          <p:nvPr/>
        </p:nvSpPr>
        <p:spPr>
          <a:xfrm rot="0">
            <a:off x="7458525" y="6807196"/>
            <a:ext cx="9228205" cy="1523583"/>
          </a:xfrm>
          <a:prstGeom prst="rect">
            <a:avLst/>
          </a:prstGeom>
        </p:spPr>
        <p:txBody>
          <a:bodyPr anchor="t" rtlCol="false" tIns="0" lIns="0" bIns="0" rIns="0">
            <a:spAutoFit/>
          </a:bodyPr>
          <a:lstStyle/>
          <a:p>
            <a:pPr algn="l">
              <a:lnSpc>
                <a:spcPts val="4091"/>
              </a:lnSpc>
            </a:pPr>
            <a:r>
              <a:rPr lang="en-US" sz="2531">
                <a:solidFill>
                  <a:srgbClr val="FFFFFF"/>
                </a:solidFill>
                <a:latin typeface="Ovo"/>
                <a:ea typeface="Ovo"/>
                <a:cs typeface="Ovo"/>
                <a:sym typeface="Ovo"/>
              </a:rPr>
              <a:t>Neural networks are sometimes called artificial neural networks (ANNs) or simulated neural networks (SNNs). They are a subset of machine learning, and at the heart of </a:t>
            </a:r>
            <a:r>
              <a:rPr lang="en-US" sz="2531" u="sng">
                <a:solidFill>
                  <a:srgbClr val="FFFFFF"/>
                </a:solidFill>
                <a:latin typeface="Ovo"/>
                <a:ea typeface="Ovo"/>
                <a:cs typeface="Ovo"/>
                <a:sym typeface="Ovo"/>
                <a:hlinkClick r:id="rId4" tooltip="https://www.ibm.com/topics/deep-learning"/>
              </a:rPr>
              <a:t>deep learning</a:t>
            </a:r>
            <a:r>
              <a:rPr lang="en-US" sz="2531">
                <a:solidFill>
                  <a:srgbClr val="FFFFFF"/>
                </a:solidFill>
                <a:latin typeface="Ovo"/>
                <a:ea typeface="Ovo"/>
                <a:cs typeface="Ovo"/>
                <a:sym typeface="Ovo"/>
              </a:rPr>
              <a:t> models.</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Freeform 12" id="12"/>
          <p:cNvSpPr/>
          <p:nvPr/>
        </p:nvSpPr>
        <p:spPr>
          <a:xfrm flipH="false" flipV="false" rot="0">
            <a:off x="1425202" y="2499873"/>
            <a:ext cx="3330684" cy="5554787"/>
          </a:xfrm>
          <a:custGeom>
            <a:avLst/>
            <a:gdLst/>
            <a:ahLst/>
            <a:cxnLst/>
            <a:rect r="r" b="b" t="t" l="l"/>
            <a:pathLst>
              <a:path h="5554787" w="3330684">
                <a:moveTo>
                  <a:pt x="0" y="0"/>
                </a:moveTo>
                <a:lnTo>
                  <a:pt x="3330684" y="0"/>
                </a:lnTo>
                <a:lnTo>
                  <a:pt x="3330684" y="5554787"/>
                </a:lnTo>
                <a:lnTo>
                  <a:pt x="0" y="5554787"/>
                </a:lnTo>
                <a:lnTo>
                  <a:pt x="0" y="0"/>
                </a:lnTo>
                <a:close/>
              </a:path>
            </a:pathLst>
          </a:custGeom>
          <a:blipFill>
            <a:blip r:embed="rId2"/>
            <a:stretch>
              <a:fillRect l="0" t="-3100" r="0" b="-3100"/>
            </a:stretch>
          </a:blipFill>
        </p:spPr>
      </p:sp>
      <p:sp>
        <p:nvSpPr>
          <p:cNvPr name="TextBox 13" id="13"/>
          <p:cNvSpPr txBox="true"/>
          <p:nvPr/>
        </p:nvSpPr>
        <p:spPr>
          <a:xfrm rot="0">
            <a:off x="7820818" y="603607"/>
            <a:ext cx="8503620"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VIRTUAL REALITY</a:t>
            </a:r>
          </a:p>
        </p:txBody>
      </p:sp>
      <p:sp>
        <p:nvSpPr>
          <p:cNvPr name="TextBox 14" id="14"/>
          <p:cNvSpPr txBox="true"/>
          <p:nvPr/>
        </p:nvSpPr>
        <p:spPr>
          <a:xfrm rot="0">
            <a:off x="7465389" y="2404623"/>
            <a:ext cx="9228205" cy="7148616"/>
          </a:xfrm>
          <a:prstGeom prst="rect">
            <a:avLst/>
          </a:prstGeom>
        </p:spPr>
        <p:txBody>
          <a:bodyPr anchor="t" rtlCol="false" tIns="0" lIns="0" bIns="0" rIns="0">
            <a:spAutoFit/>
          </a:bodyPr>
          <a:lstStyle/>
          <a:p>
            <a:pPr algn="l">
              <a:lnSpc>
                <a:spcPts val="3768"/>
              </a:lnSpc>
            </a:pPr>
            <a:r>
              <a:rPr lang="en-US" sz="2331">
                <a:solidFill>
                  <a:srgbClr val="FFFFFF"/>
                </a:solidFill>
                <a:latin typeface="Ovo"/>
                <a:ea typeface="Ovo"/>
                <a:cs typeface="Ovo"/>
                <a:sym typeface="Ovo"/>
              </a:rPr>
              <a:t>Virtual reality, or VR, is a technology where the processing power of computers is used to create simulated 3D environments that feel realistic. With virtual reality technology, you are part of a scene rather than merely watching it on a screen.</a:t>
            </a:r>
          </a:p>
          <a:p>
            <a:pPr algn="l">
              <a:lnSpc>
                <a:spcPts val="3768"/>
              </a:lnSpc>
            </a:pPr>
          </a:p>
          <a:p>
            <a:pPr algn="l">
              <a:lnSpc>
                <a:spcPts val="3768"/>
              </a:lnSpc>
            </a:pPr>
            <a:r>
              <a:rPr lang="en-US" sz="2331">
                <a:solidFill>
                  <a:srgbClr val="FFFFFF"/>
                </a:solidFill>
                <a:latin typeface="Ovo"/>
                <a:ea typeface="Ovo"/>
                <a:cs typeface="Ovo"/>
                <a:sym typeface="Ovo"/>
              </a:rPr>
              <a:t>Virtual reality intends to simulate an environment so that all your five senses are engaged and the atmosphere created feels real. You can interact with the objects as if they were real and physically present and have an immersive, rich experience.</a:t>
            </a:r>
          </a:p>
          <a:p>
            <a:pPr algn="l">
              <a:lnSpc>
                <a:spcPts val="3768"/>
              </a:lnSpc>
            </a:pPr>
          </a:p>
          <a:p>
            <a:pPr algn="l">
              <a:lnSpc>
                <a:spcPts val="3768"/>
              </a:lnSpc>
            </a:pPr>
            <a:r>
              <a:rPr lang="en-US" sz="2331">
                <a:solidFill>
                  <a:srgbClr val="FFFFFF"/>
                </a:solidFill>
                <a:latin typeface="Ovo"/>
                <a:ea typeface="Ovo"/>
                <a:cs typeface="Ovo"/>
                <a:sym typeface="Ovo"/>
              </a:rPr>
              <a:t>VR technology is still in its early stages, but the improvements that we have made are quite astounding. Three main categories of VR technology are being used in many sectors today, including education and training.</a:t>
            </a:r>
          </a:p>
          <a:p>
            <a:pPr algn="l">
              <a:lnSpc>
                <a:spcPts val="4091"/>
              </a:lnSpc>
            </a:pPr>
          </a:p>
        </p:txBody>
      </p:sp>
    </p:spTree>
  </p:cSld>
  <p:clrMapOvr>
    <a:masterClrMapping/>
  </p:clrMapOvr>
</p:sld>
</file>

<file path=ppt/slides/slide50.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TextBox 12" id="12"/>
          <p:cNvSpPr txBox="true"/>
          <p:nvPr/>
        </p:nvSpPr>
        <p:spPr>
          <a:xfrm rot="0">
            <a:off x="592145" y="344263"/>
            <a:ext cx="14268760"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WHY VIRTUAL REALITY IS NEEDED ?</a:t>
            </a:r>
          </a:p>
        </p:txBody>
      </p:sp>
      <p:sp>
        <p:nvSpPr>
          <p:cNvPr name="TextBox 13" id="13"/>
          <p:cNvSpPr txBox="true"/>
          <p:nvPr/>
        </p:nvSpPr>
        <p:spPr>
          <a:xfrm rot="0">
            <a:off x="592145" y="1566674"/>
            <a:ext cx="9228205" cy="4258299"/>
          </a:xfrm>
          <a:prstGeom prst="rect">
            <a:avLst/>
          </a:prstGeom>
        </p:spPr>
        <p:txBody>
          <a:bodyPr anchor="t" rtlCol="false" tIns="0" lIns="0" bIns="0" rIns="0">
            <a:spAutoFit/>
          </a:bodyPr>
          <a:lstStyle/>
          <a:p>
            <a:pPr algn="l">
              <a:lnSpc>
                <a:spcPts val="3768"/>
              </a:lnSpc>
            </a:pPr>
            <a:r>
              <a:rPr lang="en-US" sz="2331">
                <a:solidFill>
                  <a:srgbClr val="FFDE59"/>
                </a:solidFill>
                <a:latin typeface="Ovo"/>
                <a:ea typeface="Ovo"/>
                <a:cs typeface="Ovo"/>
                <a:sym typeface="Ovo"/>
              </a:rPr>
              <a:t>Operations in dangerous environments</a:t>
            </a:r>
          </a:p>
          <a:p>
            <a:pPr algn="l">
              <a:lnSpc>
                <a:spcPts val="3768"/>
              </a:lnSpc>
            </a:pPr>
            <a:r>
              <a:rPr lang="en-US" sz="2331">
                <a:solidFill>
                  <a:srgbClr val="FFFFFF"/>
                </a:solidFill>
                <a:latin typeface="Ovo"/>
                <a:ea typeface="Ovo"/>
                <a:cs typeface="Ovo"/>
                <a:sym typeface="Ovo"/>
              </a:rPr>
              <a:t>There are still many examples of people working in dangerous or hardship environments that could benefit from the use of VR-mediated teleportation.</a:t>
            </a:r>
          </a:p>
          <a:p>
            <a:pPr algn="l">
              <a:lnSpc>
                <a:spcPts val="3768"/>
              </a:lnSpc>
            </a:pPr>
            <a:r>
              <a:rPr lang="en-US" sz="2331">
                <a:solidFill>
                  <a:srgbClr val="FFFFFF"/>
                </a:solidFill>
                <a:latin typeface="Ovo"/>
                <a:ea typeface="Ovo"/>
                <a:cs typeface="Ovo"/>
                <a:sym typeface="Ovo"/>
              </a:rPr>
              <a:t>Workers in radioactive, space, or toxic environments could be relocated to the safety of a VR environment where they could handle any hazardous materials without any real danger using tele operation or tele presence.</a:t>
            </a:r>
          </a:p>
          <a:p>
            <a:pPr algn="l">
              <a:lnSpc>
                <a:spcPts val="3768"/>
              </a:lnSpc>
            </a:pPr>
          </a:p>
        </p:txBody>
      </p:sp>
      <p:sp>
        <p:nvSpPr>
          <p:cNvPr name="TextBox 14" id="14"/>
          <p:cNvSpPr txBox="true"/>
          <p:nvPr/>
        </p:nvSpPr>
        <p:spPr>
          <a:xfrm rot="0">
            <a:off x="1978847" y="5729723"/>
            <a:ext cx="9228205" cy="3305799"/>
          </a:xfrm>
          <a:prstGeom prst="rect">
            <a:avLst/>
          </a:prstGeom>
        </p:spPr>
        <p:txBody>
          <a:bodyPr anchor="t" rtlCol="false" tIns="0" lIns="0" bIns="0" rIns="0">
            <a:spAutoFit/>
          </a:bodyPr>
          <a:lstStyle/>
          <a:p>
            <a:pPr algn="l">
              <a:lnSpc>
                <a:spcPts val="3768"/>
              </a:lnSpc>
            </a:pPr>
            <a:r>
              <a:rPr lang="en-US" sz="2331">
                <a:solidFill>
                  <a:srgbClr val="FFDE59"/>
                </a:solidFill>
                <a:latin typeface="Ovo"/>
                <a:ea typeface="Ovo"/>
                <a:cs typeface="Ovo"/>
                <a:sym typeface="Ovo"/>
              </a:rPr>
              <a:t>Scientific Visualization</a:t>
            </a:r>
          </a:p>
          <a:p>
            <a:pPr algn="l">
              <a:lnSpc>
                <a:spcPts val="3768"/>
              </a:lnSpc>
            </a:pPr>
            <a:r>
              <a:rPr lang="en-US" sz="2331">
                <a:solidFill>
                  <a:srgbClr val="FFFFFF"/>
                </a:solidFill>
                <a:latin typeface="Ovo"/>
                <a:ea typeface="Ovo"/>
                <a:cs typeface="Ovo"/>
                <a:sym typeface="Ovo"/>
              </a:rPr>
              <a:t>Scientific</a:t>
            </a:r>
            <a:r>
              <a:rPr lang="en-US" sz="2331">
                <a:solidFill>
                  <a:srgbClr val="FFFFFF"/>
                </a:solidFill>
                <a:latin typeface="Ovo"/>
                <a:ea typeface="Ovo"/>
                <a:cs typeface="Ovo"/>
                <a:sym typeface="Ovo"/>
              </a:rPr>
              <a:t> Visualization provides the researcher with immediate graphical feedback during the course of the computations and gives him/her the ability to 'steer' the solution process.</a:t>
            </a:r>
          </a:p>
          <a:p>
            <a:pPr algn="l">
              <a:lnSpc>
                <a:spcPts val="3768"/>
              </a:lnSpc>
            </a:pPr>
            <a:r>
              <a:rPr lang="en-US" sz="2331">
                <a:solidFill>
                  <a:srgbClr val="FFFFFF"/>
                </a:solidFill>
                <a:latin typeface="Ovo"/>
                <a:ea typeface="Ovo"/>
                <a:cs typeface="Ovo"/>
                <a:sym typeface="Ovo"/>
              </a:rPr>
              <a:t>Application at NASA Ames Research Center is the Virtual Planetary Exploration. It helps planetary geologists to remotely analyze the surface of a planet. They use VR techniques to roam planetary terrains</a:t>
            </a:r>
          </a:p>
        </p:txBody>
      </p:sp>
      <p:sp>
        <p:nvSpPr>
          <p:cNvPr name="TextBox 15" id="15"/>
          <p:cNvSpPr txBox="true"/>
          <p:nvPr/>
        </p:nvSpPr>
        <p:spPr>
          <a:xfrm rot="0">
            <a:off x="11134552" y="2034499"/>
            <a:ext cx="7153448" cy="4734549"/>
          </a:xfrm>
          <a:prstGeom prst="rect">
            <a:avLst/>
          </a:prstGeom>
        </p:spPr>
        <p:txBody>
          <a:bodyPr anchor="t" rtlCol="false" tIns="0" lIns="0" bIns="0" rIns="0">
            <a:spAutoFit/>
          </a:bodyPr>
          <a:lstStyle/>
          <a:p>
            <a:pPr algn="l">
              <a:lnSpc>
                <a:spcPts val="3768"/>
              </a:lnSpc>
            </a:pPr>
            <a:r>
              <a:rPr lang="en-US" sz="2331">
                <a:solidFill>
                  <a:srgbClr val="FFDE59"/>
                </a:solidFill>
                <a:latin typeface="Ovo"/>
                <a:ea typeface="Ovo"/>
                <a:cs typeface="Ovo"/>
                <a:sym typeface="Ovo"/>
              </a:rPr>
              <a:t>Scientific Visualization</a:t>
            </a:r>
          </a:p>
          <a:p>
            <a:pPr algn="l">
              <a:lnSpc>
                <a:spcPts val="3768"/>
              </a:lnSpc>
            </a:pPr>
            <a:r>
              <a:rPr lang="en-US" sz="2331">
                <a:solidFill>
                  <a:srgbClr val="FFFFFF"/>
                </a:solidFill>
                <a:latin typeface="Ovo"/>
                <a:ea typeface="Ovo"/>
                <a:cs typeface="Ovo"/>
                <a:sym typeface="Ovo"/>
              </a:rPr>
              <a:t>±Scientific Visualization provides the researcher with immediate graphical feedback during the course of the computations and gives him/her the ability to 'steer' the solution process.</a:t>
            </a:r>
          </a:p>
          <a:p>
            <a:pPr algn="l">
              <a:lnSpc>
                <a:spcPts val="3768"/>
              </a:lnSpc>
            </a:pPr>
            <a:r>
              <a:rPr lang="en-US" sz="2331">
                <a:solidFill>
                  <a:srgbClr val="FFFFFF"/>
                </a:solidFill>
                <a:latin typeface="Ovo"/>
                <a:ea typeface="Ovo"/>
                <a:cs typeface="Ovo"/>
                <a:sym typeface="Ovo"/>
              </a:rPr>
              <a:t>Application at NASA Ames Research Center is the Virtual Planetary Exploration. It helps planetary geologists to remotely analyze the surface of a planet. They use VR techniques to roam planetary terrains</a:t>
            </a:r>
          </a:p>
          <a:p>
            <a:pPr algn="l">
              <a:lnSpc>
                <a:spcPts val="3768"/>
              </a:lnSpc>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Freeform 12" id="12"/>
          <p:cNvSpPr/>
          <p:nvPr/>
        </p:nvSpPr>
        <p:spPr>
          <a:xfrm flipH="false" flipV="false" rot="0">
            <a:off x="0" y="2307907"/>
            <a:ext cx="8944897" cy="5671186"/>
          </a:xfrm>
          <a:custGeom>
            <a:avLst/>
            <a:gdLst/>
            <a:ahLst/>
            <a:cxnLst/>
            <a:rect r="r" b="b" t="t" l="l"/>
            <a:pathLst>
              <a:path h="5671186" w="8944897">
                <a:moveTo>
                  <a:pt x="0" y="0"/>
                </a:moveTo>
                <a:lnTo>
                  <a:pt x="8944897" y="0"/>
                </a:lnTo>
                <a:lnTo>
                  <a:pt x="8944897" y="5671186"/>
                </a:lnTo>
                <a:lnTo>
                  <a:pt x="0" y="5671186"/>
                </a:lnTo>
                <a:lnTo>
                  <a:pt x="0" y="0"/>
                </a:lnTo>
                <a:close/>
              </a:path>
            </a:pathLst>
          </a:custGeom>
          <a:blipFill>
            <a:blip r:embed="rId2"/>
            <a:stretch>
              <a:fillRect l="0" t="0" r="0" b="0"/>
            </a:stretch>
          </a:blipFill>
        </p:spPr>
      </p:sp>
      <p:sp>
        <p:nvSpPr>
          <p:cNvPr name="TextBox 13" id="13"/>
          <p:cNvSpPr txBox="true"/>
          <p:nvPr/>
        </p:nvSpPr>
        <p:spPr>
          <a:xfrm rot="0">
            <a:off x="7820818" y="603607"/>
            <a:ext cx="8503620"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DATA MINING</a:t>
            </a:r>
          </a:p>
        </p:txBody>
      </p:sp>
      <p:sp>
        <p:nvSpPr>
          <p:cNvPr name="TextBox 14" id="14"/>
          <p:cNvSpPr txBox="true"/>
          <p:nvPr/>
        </p:nvSpPr>
        <p:spPr>
          <a:xfrm rot="0">
            <a:off x="7638286" y="2008724"/>
            <a:ext cx="9228205" cy="6672366"/>
          </a:xfrm>
          <a:prstGeom prst="rect">
            <a:avLst/>
          </a:prstGeom>
        </p:spPr>
        <p:txBody>
          <a:bodyPr anchor="t" rtlCol="false" tIns="0" lIns="0" bIns="0" rIns="0">
            <a:spAutoFit/>
          </a:bodyPr>
          <a:lstStyle/>
          <a:p>
            <a:pPr algn="l">
              <a:lnSpc>
                <a:spcPts val="3768"/>
              </a:lnSpc>
            </a:pPr>
            <a:r>
              <a:rPr lang="en-US" sz="2331">
                <a:solidFill>
                  <a:srgbClr val="FFFFFF"/>
                </a:solidFill>
                <a:latin typeface="Ovo"/>
                <a:ea typeface="Ovo"/>
                <a:cs typeface="Ovo"/>
                <a:sym typeface="Ovo"/>
              </a:rPr>
              <a:t>•Data mining refers to extracting knowledge from large amounts of data. </a:t>
            </a:r>
          </a:p>
          <a:p>
            <a:pPr algn="l">
              <a:lnSpc>
                <a:spcPts val="3768"/>
              </a:lnSpc>
            </a:pPr>
            <a:r>
              <a:rPr lang="en-US" sz="2331">
                <a:solidFill>
                  <a:srgbClr val="FFFFFF"/>
                </a:solidFill>
                <a:latin typeface="Ovo"/>
                <a:ea typeface="Ovo"/>
                <a:cs typeface="Ovo"/>
                <a:sym typeface="Ovo"/>
              </a:rPr>
              <a:t>•The data sources can include databases, data warehouse, web etc. </a:t>
            </a:r>
          </a:p>
          <a:p>
            <a:pPr algn="l">
              <a:lnSpc>
                <a:spcPts val="3768"/>
              </a:lnSpc>
            </a:pPr>
            <a:r>
              <a:rPr lang="en-US" sz="2331">
                <a:solidFill>
                  <a:srgbClr val="FFFFFF"/>
                </a:solidFill>
                <a:latin typeface="Ovo"/>
                <a:ea typeface="Ovo"/>
                <a:cs typeface="Ovo"/>
                <a:sym typeface="Ovo"/>
              </a:rPr>
              <a:t>•Data mining refers to the analysis of data. </a:t>
            </a:r>
          </a:p>
          <a:p>
            <a:pPr algn="l">
              <a:lnSpc>
                <a:spcPts val="3768"/>
              </a:lnSpc>
            </a:pPr>
            <a:r>
              <a:rPr lang="en-US" sz="2331">
                <a:solidFill>
                  <a:srgbClr val="FFFFFF"/>
                </a:solidFill>
                <a:latin typeface="Ovo"/>
                <a:ea typeface="Ovo"/>
                <a:cs typeface="Ovo"/>
                <a:sym typeface="Ovo"/>
              </a:rPr>
              <a:t>•It is the computer-supported process of analyzing huge sets of data that have either been compiled by computer systems or have been downloaded into the computer.</a:t>
            </a:r>
          </a:p>
          <a:p>
            <a:pPr algn="l">
              <a:lnSpc>
                <a:spcPts val="3768"/>
              </a:lnSpc>
            </a:pPr>
            <a:r>
              <a:rPr lang="en-US" sz="2331">
                <a:solidFill>
                  <a:srgbClr val="FFFFFF"/>
                </a:solidFill>
                <a:latin typeface="Ovo"/>
                <a:ea typeface="Ovo"/>
                <a:cs typeface="Ovo"/>
                <a:sym typeface="Ovo"/>
              </a:rPr>
              <a:t>• In the data mining process, the computer analyzes the data and extract useful information from it. </a:t>
            </a:r>
          </a:p>
          <a:p>
            <a:pPr algn="l">
              <a:lnSpc>
                <a:spcPts val="3768"/>
              </a:lnSpc>
            </a:pPr>
            <a:r>
              <a:rPr lang="en-US" sz="2331">
                <a:solidFill>
                  <a:srgbClr val="FFFFFF"/>
                </a:solidFill>
                <a:latin typeface="Ovo"/>
                <a:ea typeface="Ovo"/>
                <a:cs typeface="Ovo"/>
                <a:sym typeface="Ovo"/>
              </a:rPr>
              <a:t>•It looks for hidden patterns within the data set and try to predict future behavior. Data mining is primarily used to discover and indicate relationships among the data sets. </a:t>
            </a:r>
          </a:p>
          <a:p>
            <a:pPr algn="l">
              <a:lnSpc>
                <a:spcPts val="3768"/>
              </a:lnSpc>
            </a:pPr>
          </a:p>
          <a:p>
            <a:pPr algn="l">
              <a:lnSpc>
                <a:spcPts val="4091"/>
              </a:lnSpc>
            </a:pP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Freeform 12" id="12"/>
          <p:cNvSpPr/>
          <p:nvPr/>
        </p:nvSpPr>
        <p:spPr>
          <a:xfrm flipH="false" flipV="false" rot="0">
            <a:off x="0" y="1544849"/>
            <a:ext cx="8191299" cy="5798460"/>
          </a:xfrm>
          <a:custGeom>
            <a:avLst/>
            <a:gdLst/>
            <a:ahLst/>
            <a:cxnLst/>
            <a:rect r="r" b="b" t="t" l="l"/>
            <a:pathLst>
              <a:path h="5798460" w="8191299">
                <a:moveTo>
                  <a:pt x="0" y="0"/>
                </a:moveTo>
                <a:lnTo>
                  <a:pt x="8191299" y="0"/>
                </a:lnTo>
                <a:lnTo>
                  <a:pt x="8191299" y="5798460"/>
                </a:lnTo>
                <a:lnTo>
                  <a:pt x="0" y="5798460"/>
                </a:lnTo>
                <a:lnTo>
                  <a:pt x="0" y="0"/>
                </a:lnTo>
                <a:close/>
              </a:path>
            </a:pathLst>
          </a:custGeom>
          <a:blipFill>
            <a:blip r:embed="rId2"/>
            <a:stretch>
              <a:fillRect l="0" t="0" r="0" b="0"/>
            </a:stretch>
          </a:blipFill>
        </p:spPr>
      </p:sp>
      <p:sp>
        <p:nvSpPr>
          <p:cNvPr name="TextBox 13" id="13"/>
          <p:cNvSpPr txBox="true"/>
          <p:nvPr/>
        </p:nvSpPr>
        <p:spPr>
          <a:xfrm rot="0">
            <a:off x="7820818" y="603607"/>
            <a:ext cx="8503620"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DATA MINING</a:t>
            </a:r>
          </a:p>
        </p:txBody>
      </p:sp>
      <p:sp>
        <p:nvSpPr>
          <p:cNvPr name="TextBox 14" id="14"/>
          <p:cNvSpPr txBox="true"/>
          <p:nvPr/>
        </p:nvSpPr>
        <p:spPr>
          <a:xfrm rot="0">
            <a:off x="7820818" y="2594812"/>
            <a:ext cx="9228205" cy="4095333"/>
          </a:xfrm>
          <a:prstGeom prst="rect">
            <a:avLst/>
          </a:prstGeom>
        </p:spPr>
        <p:txBody>
          <a:bodyPr anchor="t" rtlCol="false" tIns="0" lIns="0" bIns="0" rIns="0">
            <a:spAutoFit/>
          </a:bodyPr>
          <a:lstStyle/>
          <a:p>
            <a:pPr algn="l">
              <a:lnSpc>
                <a:spcPts val="4091"/>
              </a:lnSpc>
            </a:pPr>
            <a:r>
              <a:rPr lang="en-US" sz="2531">
                <a:solidFill>
                  <a:srgbClr val="FFFFFF"/>
                </a:solidFill>
                <a:latin typeface="Ovo"/>
                <a:ea typeface="Ovo"/>
                <a:cs typeface="Ovo"/>
                <a:sym typeface="Ovo"/>
              </a:rPr>
              <a:t>•Data mining aims to enable business organizations to view business behaviors, trends relationships that allow the business to make data-driven decisions.</a:t>
            </a:r>
          </a:p>
          <a:p>
            <a:pPr algn="l">
              <a:lnSpc>
                <a:spcPts val="4091"/>
              </a:lnSpc>
            </a:pPr>
            <a:r>
              <a:rPr lang="en-US" sz="2531">
                <a:solidFill>
                  <a:srgbClr val="FFFFFF"/>
                </a:solidFill>
                <a:latin typeface="Ovo"/>
                <a:ea typeface="Ovo"/>
                <a:cs typeface="Ovo"/>
                <a:sym typeface="Ovo"/>
              </a:rPr>
              <a:t>• It is also known as knowledge Discover in Database (KDD). Data mining tools utilize AI, statistics, databases, and machine learning systems to discover the relationship between the data.</a:t>
            </a:r>
          </a:p>
          <a:p>
            <a:pPr algn="l">
              <a:lnSpc>
                <a:spcPts val="4091"/>
              </a:lnSpc>
            </a:pPr>
            <a:r>
              <a:rPr lang="en-US" sz="2531">
                <a:solidFill>
                  <a:srgbClr val="FFFFFF"/>
                </a:solidFill>
                <a:latin typeface="Ovo"/>
                <a:ea typeface="Ovo"/>
                <a:cs typeface="Ovo"/>
                <a:sym typeface="Ovo"/>
              </a:rPr>
              <a:t> Data mining tools can support business-related questions that traditionally time-consuming to resolve any issue.</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Freeform 12" id="12"/>
          <p:cNvSpPr/>
          <p:nvPr/>
        </p:nvSpPr>
        <p:spPr>
          <a:xfrm flipH="false" flipV="false" rot="0">
            <a:off x="538080" y="1922403"/>
            <a:ext cx="9402685" cy="5750608"/>
          </a:xfrm>
          <a:custGeom>
            <a:avLst/>
            <a:gdLst/>
            <a:ahLst/>
            <a:cxnLst/>
            <a:rect r="r" b="b" t="t" l="l"/>
            <a:pathLst>
              <a:path h="5750608" w="9402685">
                <a:moveTo>
                  <a:pt x="0" y="0"/>
                </a:moveTo>
                <a:lnTo>
                  <a:pt x="9402685" y="0"/>
                </a:lnTo>
                <a:lnTo>
                  <a:pt x="9402685" y="5750608"/>
                </a:lnTo>
                <a:lnTo>
                  <a:pt x="0" y="5750608"/>
                </a:lnTo>
                <a:lnTo>
                  <a:pt x="0" y="0"/>
                </a:lnTo>
                <a:close/>
              </a:path>
            </a:pathLst>
          </a:custGeom>
          <a:blipFill>
            <a:blip r:embed="rId2"/>
            <a:stretch>
              <a:fillRect l="0" t="-1096" r="0" b="-1096"/>
            </a:stretch>
          </a:blipFill>
        </p:spPr>
      </p:sp>
      <p:sp>
        <p:nvSpPr>
          <p:cNvPr name="TextBox 13" id="13"/>
          <p:cNvSpPr txBox="true"/>
          <p:nvPr/>
        </p:nvSpPr>
        <p:spPr>
          <a:xfrm rot="0">
            <a:off x="7820818" y="603607"/>
            <a:ext cx="8503620"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DATA MINING</a:t>
            </a:r>
          </a:p>
        </p:txBody>
      </p:sp>
      <p:sp>
        <p:nvSpPr>
          <p:cNvPr name="TextBox 14" id="14"/>
          <p:cNvSpPr txBox="true"/>
          <p:nvPr/>
        </p:nvSpPr>
        <p:spPr>
          <a:xfrm rot="0">
            <a:off x="10689983" y="1808103"/>
            <a:ext cx="7067000" cy="6667083"/>
          </a:xfrm>
          <a:prstGeom prst="rect">
            <a:avLst/>
          </a:prstGeom>
        </p:spPr>
        <p:txBody>
          <a:bodyPr anchor="t" rtlCol="false" tIns="0" lIns="0" bIns="0" rIns="0">
            <a:spAutoFit/>
          </a:bodyPr>
          <a:lstStyle/>
          <a:p>
            <a:pPr algn="l">
              <a:lnSpc>
                <a:spcPts val="4091"/>
              </a:lnSpc>
            </a:pPr>
            <a:r>
              <a:rPr lang="en-US" sz="2531">
                <a:solidFill>
                  <a:srgbClr val="FFFFFF"/>
                </a:solidFill>
                <a:latin typeface="Ovo"/>
                <a:ea typeface="Ovo"/>
                <a:cs typeface="Ovo"/>
                <a:sym typeface="Ovo"/>
              </a:rPr>
              <a:t>•Data mining is also called Knowledge Discovery in Database (KDD).</a:t>
            </a:r>
          </a:p>
          <a:p>
            <a:pPr algn="l">
              <a:lnSpc>
                <a:spcPts val="4091"/>
              </a:lnSpc>
            </a:pPr>
            <a:r>
              <a:rPr lang="en-US" sz="2531">
                <a:solidFill>
                  <a:srgbClr val="FFFFFF"/>
                </a:solidFill>
                <a:latin typeface="Ovo"/>
                <a:ea typeface="Ovo"/>
                <a:cs typeface="Ovo"/>
                <a:sym typeface="Ovo"/>
              </a:rPr>
              <a:t>•The knowledge discovery process includes Data cleaning, Data integration, Data selection, Data transformation, Data mining, Pattern evaluation, and Knowledge presentation. </a:t>
            </a:r>
          </a:p>
          <a:p>
            <a:pPr algn="l">
              <a:lnSpc>
                <a:spcPts val="4091"/>
              </a:lnSpc>
            </a:pPr>
            <a:r>
              <a:rPr lang="en-US" sz="2531">
                <a:solidFill>
                  <a:srgbClr val="FFFFFF"/>
                </a:solidFill>
                <a:latin typeface="Ovo"/>
                <a:ea typeface="Ovo"/>
                <a:cs typeface="Ovo"/>
                <a:sym typeface="Ovo"/>
              </a:rPr>
              <a:t>•Here is the list of steps involved in the knowledge discovery process: </a:t>
            </a:r>
          </a:p>
          <a:p>
            <a:pPr algn="l">
              <a:lnSpc>
                <a:spcPts val="4091"/>
              </a:lnSpc>
            </a:pPr>
            <a:r>
              <a:rPr lang="en-US" sz="2531">
                <a:solidFill>
                  <a:srgbClr val="FFFFFF"/>
                </a:solidFill>
                <a:latin typeface="Ovo"/>
                <a:ea typeface="Ovo"/>
                <a:cs typeface="Ovo"/>
                <a:sym typeface="Ovo"/>
              </a:rPr>
              <a:t>•Data Cleaning: In this step, the noise and inconsistent data is removed.</a:t>
            </a:r>
          </a:p>
          <a:p>
            <a:pPr algn="l">
              <a:lnSpc>
                <a:spcPts val="4091"/>
              </a:lnSpc>
            </a:pPr>
            <a:r>
              <a:rPr lang="en-US" sz="2531">
                <a:solidFill>
                  <a:srgbClr val="FFFFFF"/>
                </a:solidFill>
                <a:latin typeface="Ovo"/>
                <a:ea typeface="Ovo"/>
                <a:cs typeface="Ovo"/>
                <a:sym typeface="Ovo"/>
              </a:rPr>
              <a:t>•Data Integration: In this step, multiple data sources are combined.</a:t>
            </a:r>
          </a:p>
          <a:p>
            <a:pPr algn="l">
              <a:lnSpc>
                <a:spcPts val="4091"/>
              </a:lnSpc>
            </a:pPr>
          </a:p>
        </p:txBody>
      </p:sp>
    </p:spTree>
  </p:cSld>
  <p:clrMapOvr>
    <a:masterClrMapping/>
  </p:clrMapOvr>
</p:sld>
</file>

<file path=ppt/slides/slide54.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TextBox 12" id="12"/>
          <p:cNvSpPr txBox="true"/>
          <p:nvPr/>
        </p:nvSpPr>
        <p:spPr>
          <a:xfrm rot="0">
            <a:off x="4892190" y="553317"/>
            <a:ext cx="8503620"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DATA MINING</a:t>
            </a:r>
          </a:p>
        </p:txBody>
      </p:sp>
      <p:sp>
        <p:nvSpPr>
          <p:cNvPr name="TextBox 13" id="13"/>
          <p:cNvSpPr txBox="true"/>
          <p:nvPr/>
        </p:nvSpPr>
        <p:spPr>
          <a:xfrm rot="0">
            <a:off x="3642488" y="2267158"/>
            <a:ext cx="9228205" cy="5638383"/>
          </a:xfrm>
          <a:prstGeom prst="rect">
            <a:avLst/>
          </a:prstGeom>
        </p:spPr>
        <p:txBody>
          <a:bodyPr anchor="t" rtlCol="false" tIns="0" lIns="0" bIns="0" rIns="0">
            <a:spAutoFit/>
          </a:bodyPr>
          <a:lstStyle/>
          <a:p>
            <a:pPr algn="l">
              <a:lnSpc>
                <a:spcPts val="4091"/>
              </a:lnSpc>
            </a:pPr>
            <a:r>
              <a:rPr lang="en-US" sz="2531">
                <a:solidFill>
                  <a:srgbClr val="FFFFFF"/>
                </a:solidFill>
                <a:latin typeface="Ovo"/>
                <a:ea typeface="Ovo"/>
                <a:cs typeface="Ovo"/>
                <a:sym typeface="Ovo"/>
              </a:rPr>
              <a:t>•Data Selection: In this step, data relevant to the analysis task are retrieved from the database.</a:t>
            </a:r>
          </a:p>
          <a:p>
            <a:pPr algn="l">
              <a:lnSpc>
                <a:spcPts val="4091"/>
              </a:lnSpc>
            </a:pPr>
            <a:r>
              <a:rPr lang="en-US" sz="2531">
                <a:solidFill>
                  <a:srgbClr val="FFFFFF"/>
                </a:solidFill>
                <a:latin typeface="Ovo"/>
                <a:ea typeface="Ovo"/>
                <a:cs typeface="Ovo"/>
                <a:sym typeface="Ovo"/>
              </a:rPr>
              <a:t>•Data Transformation: In this step, data is transformed or consolidated into forms appropriate for mining by performing summary or aggregation operations.</a:t>
            </a:r>
          </a:p>
          <a:p>
            <a:pPr algn="l">
              <a:lnSpc>
                <a:spcPts val="4091"/>
              </a:lnSpc>
            </a:pPr>
            <a:r>
              <a:rPr lang="en-US" sz="2531">
                <a:solidFill>
                  <a:srgbClr val="FFFFFF"/>
                </a:solidFill>
                <a:latin typeface="Ovo"/>
                <a:ea typeface="Ovo"/>
                <a:cs typeface="Ovo"/>
                <a:sym typeface="Ovo"/>
              </a:rPr>
              <a:t>•Data Mining: In this step, intelligent methods are applied in order to extract data patterns.</a:t>
            </a:r>
          </a:p>
          <a:p>
            <a:pPr algn="l">
              <a:lnSpc>
                <a:spcPts val="4091"/>
              </a:lnSpc>
            </a:pPr>
            <a:r>
              <a:rPr lang="en-US" sz="2531">
                <a:solidFill>
                  <a:srgbClr val="FFFFFF"/>
                </a:solidFill>
                <a:latin typeface="Ovo"/>
                <a:ea typeface="Ovo"/>
                <a:cs typeface="Ovo"/>
                <a:sym typeface="Ovo"/>
              </a:rPr>
              <a:t>•Pattern Evaluation: In this step, data patterns are evaluated.</a:t>
            </a:r>
          </a:p>
          <a:p>
            <a:pPr algn="l">
              <a:lnSpc>
                <a:spcPts val="4091"/>
              </a:lnSpc>
            </a:pPr>
            <a:r>
              <a:rPr lang="en-US" sz="2531">
                <a:solidFill>
                  <a:srgbClr val="FFFFFF"/>
                </a:solidFill>
                <a:latin typeface="Ovo"/>
                <a:ea typeface="Ovo"/>
                <a:cs typeface="Ovo"/>
                <a:sym typeface="Ovo"/>
              </a:rPr>
              <a:t>•Knowledge Presentation: In this step, knowledge is represented.</a:t>
            </a:r>
          </a:p>
          <a:p>
            <a:pPr algn="l">
              <a:lnSpc>
                <a:spcPts val="4091"/>
              </a:lnSpc>
            </a:pPr>
          </a:p>
          <a:p>
            <a:pPr algn="l">
              <a:lnSpc>
                <a:spcPts val="4091"/>
              </a:lnSpc>
            </a:pPr>
          </a:p>
        </p:txBody>
      </p:sp>
    </p:spTree>
  </p:cSld>
  <p:clrMapOvr>
    <a:masterClrMapping/>
  </p:clrMapOvr>
</p:sld>
</file>

<file path=ppt/slides/slide55.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TextBox 12" id="12"/>
          <p:cNvSpPr txBox="true"/>
          <p:nvPr/>
        </p:nvSpPr>
        <p:spPr>
          <a:xfrm rot="0">
            <a:off x="1549526" y="553317"/>
            <a:ext cx="13499947"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WHY IS DATA MINING IMPORTANT ?</a:t>
            </a:r>
          </a:p>
        </p:txBody>
      </p:sp>
      <p:sp>
        <p:nvSpPr>
          <p:cNvPr name="TextBox 13" id="13"/>
          <p:cNvSpPr txBox="true"/>
          <p:nvPr/>
        </p:nvSpPr>
        <p:spPr>
          <a:xfrm rot="0">
            <a:off x="1893182" y="2599223"/>
            <a:ext cx="10956507" cy="5393452"/>
          </a:xfrm>
          <a:prstGeom prst="rect">
            <a:avLst/>
          </a:prstGeom>
        </p:spPr>
        <p:txBody>
          <a:bodyPr anchor="t" rtlCol="false" tIns="0" lIns="0" bIns="0" rIns="0">
            <a:spAutoFit/>
          </a:bodyPr>
          <a:lstStyle/>
          <a:p>
            <a:pPr algn="l" marL="719358" indent="-359679" lvl="1">
              <a:lnSpc>
                <a:spcPts val="5384"/>
              </a:lnSpc>
              <a:buFont typeface="Arial"/>
              <a:buChar char="•"/>
            </a:pPr>
            <a:r>
              <a:rPr lang="en-US" sz="3331">
                <a:solidFill>
                  <a:srgbClr val="FFFFFF"/>
                </a:solidFill>
                <a:latin typeface="Ovo"/>
                <a:ea typeface="Ovo"/>
                <a:cs typeface="Ovo"/>
                <a:sym typeface="Ovo"/>
              </a:rPr>
              <a:t>Enables informed and data-driven decision-making.</a:t>
            </a:r>
          </a:p>
          <a:p>
            <a:pPr algn="l" marL="719358" indent="-359679" lvl="1">
              <a:lnSpc>
                <a:spcPts val="5384"/>
              </a:lnSpc>
              <a:buFont typeface="Arial"/>
              <a:buChar char="•"/>
            </a:pPr>
            <a:r>
              <a:rPr lang="en-US" sz="3331">
                <a:solidFill>
                  <a:srgbClr val="FFFFFF"/>
                </a:solidFill>
                <a:latin typeface="Ovo"/>
                <a:ea typeface="Ovo"/>
                <a:cs typeface="Ovo"/>
                <a:sym typeface="Ovo"/>
              </a:rPr>
              <a:t>Helps in analyzing substantial amounts of data quickly.</a:t>
            </a:r>
          </a:p>
          <a:p>
            <a:pPr algn="l" marL="719358" indent="-359679" lvl="1">
              <a:lnSpc>
                <a:spcPts val="5384"/>
              </a:lnSpc>
              <a:buFont typeface="Arial"/>
              <a:buChar char="•"/>
            </a:pPr>
            <a:r>
              <a:rPr lang="en-US" sz="3331">
                <a:solidFill>
                  <a:srgbClr val="FFFFFF"/>
                </a:solidFill>
                <a:latin typeface="Ovo"/>
                <a:ea typeface="Ovo"/>
                <a:cs typeface="Ovo"/>
                <a:sym typeface="Ovo"/>
              </a:rPr>
              <a:t>Businesses can get reliable information through data mining.</a:t>
            </a:r>
          </a:p>
          <a:p>
            <a:pPr algn="l" marL="719358" indent="-359679" lvl="1">
              <a:lnSpc>
                <a:spcPts val="5384"/>
              </a:lnSpc>
              <a:buFont typeface="Arial"/>
              <a:buChar char="•"/>
            </a:pPr>
            <a:r>
              <a:rPr lang="en-US" sz="3331">
                <a:solidFill>
                  <a:srgbClr val="FFFFFF"/>
                </a:solidFill>
                <a:latin typeface="Ovo"/>
                <a:ea typeface="Ovo"/>
                <a:cs typeface="Ovo"/>
                <a:sym typeface="Ovo"/>
              </a:rPr>
              <a:t>Helps in identifying patterns and trends and detecting fraud.</a:t>
            </a:r>
          </a:p>
          <a:p>
            <a:pPr algn="l" marL="719358" indent="-359679" lvl="1">
              <a:lnSpc>
                <a:spcPts val="5384"/>
              </a:lnSpc>
              <a:buFont typeface="Arial"/>
              <a:buChar char="•"/>
            </a:pPr>
            <a:r>
              <a:rPr lang="en-US" sz="3331">
                <a:solidFill>
                  <a:srgbClr val="FFFFFF"/>
                </a:solidFill>
                <a:latin typeface="Ovo"/>
                <a:ea typeface="Ovo"/>
                <a:cs typeface="Ovo"/>
                <a:sym typeface="Ovo"/>
              </a:rPr>
              <a:t>It is a cost-effective and efficient option.</a:t>
            </a:r>
          </a:p>
          <a:p>
            <a:pPr algn="l">
              <a:lnSpc>
                <a:spcPts val="5545"/>
              </a:lnSpc>
            </a:pP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Freeform 12" id="12"/>
          <p:cNvSpPr/>
          <p:nvPr/>
        </p:nvSpPr>
        <p:spPr>
          <a:xfrm flipH="false" flipV="false" rot="0">
            <a:off x="11781046" y="0"/>
            <a:ext cx="11094336" cy="6240564"/>
          </a:xfrm>
          <a:custGeom>
            <a:avLst/>
            <a:gdLst/>
            <a:ahLst/>
            <a:cxnLst/>
            <a:rect r="r" b="b" t="t" l="l"/>
            <a:pathLst>
              <a:path h="6240564" w="11094336">
                <a:moveTo>
                  <a:pt x="0" y="0"/>
                </a:moveTo>
                <a:lnTo>
                  <a:pt x="11094337" y="0"/>
                </a:lnTo>
                <a:lnTo>
                  <a:pt x="11094337" y="6240564"/>
                </a:lnTo>
                <a:lnTo>
                  <a:pt x="0" y="6240564"/>
                </a:lnTo>
                <a:lnTo>
                  <a:pt x="0" y="0"/>
                </a:lnTo>
                <a:close/>
              </a:path>
            </a:pathLst>
          </a:custGeom>
          <a:blipFill>
            <a:blip r:embed="rId2"/>
            <a:stretch>
              <a:fillRect l="0" t="0" r="0" b="0"/>
            </a:stretch>
          </a:blipFill>
        </p:spPr>
      </p:sp>
      <p:sp>
        <p:nvSpPr>
          <p:cNvPr name="TextBox 13" id="13"/>
          <p:cNvSpPr txBox="true"/>
          <p:nvPr/>
        </p:nvSpPr>
        <p:spPr>
          <a:xfrm rot="0">
            <a:off x="1549526" y="553317"/>
            <a:ext cx="13499947"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DATA WAREHOUSE</a:t>
            </a:r>
          </a:p>
        </p:txBody>
      </p:sp>
      <p:sp>
        <p:nvSpPr>
          <p:cNvPr name="TextBox 14" id="14"/>
          <p:cNvSpPr txBox="true"/>
          <p:nvPr/>
        </p:nvSpPr>
        <p:spPr>
          <a:xfrm rot="0">
            <a:off x="1549526" y="1809123"/>
            <a:ext cx="10956507" cy="7619661"/>
          </a:xfrm>
          <a:prstGeom prst="rect">
            <a:avLst/>
          </a:prstGeom>
        </p:spPr>
        <p:txBody>
          <a:bodyPr anchor="t" rtlCol="false" tIns="0" lIns="0" bIns="0" rIns="0">
            <a:spAutoFit/>
          </a:bodyPr>
          <a:lstStyle/>
          <a:p>
            <a:pPr algn="l">
              <a:lnSpc>
                <a:spcPts val="5545"/>
              </a:lnSpc>
            </a:pPr>
            <a:r>
              <a:rPr lang="en-US" sz="3431">
                <a:solidFill>
                  <a:srgbClr val="FFFFFF"/>
                </a:solidFill>
                <a:latin typeface="Ovo"/>
                <a:ea typeface="Ovo"/>
                <a:cs typeface="Ovo"/>
                <a:sym typeface="Ovo"/>
              </a:rPr>
              <a:t>•Data warehousing is a collection of tools and techniques using which more knowledge can be driven out from a large amount of data. </a:t>
            </a:r>
          </a:p>
          <a:p>
            <a:pPr algn="l">
              <a:lnSpc>
                <a:spcPts val="5545"/>
              </a:lnSpc>
            </a:pPr>
            <a:r>
              <a:rPr lang="en-US" sz="3431">
                <a:solidFill>
                  <a:srgbClr val="FFFFFF"/>
                </a:solidFill>
                <a:latin typeface="Ovo"/>
                <a:ea typeface="Ovo"/>
                <a:cs typeface="Ovo"/>
                <a:sym typeface="Ovo"/>
              </a:rPr>
              <a:t>•This helps with the decision-making process and improving information resources.  </a:t>
            </a:r>
          </a:p>
          <a:p>
            <a:pPr algn="l">
              <a:lnSpc>
                <a:spcPts val="5545"/>
              </a:lnSpc>
            </a:pPr>
            <a:r>
              <a:rPr lang="en-US" sz="3431">
                <a:solidFill>
                  <a:srgbClr val="FFFFFF"/>
                </a:solidFill>
                <a:latin typeface="Ovo"/>
                <a:ea typeface="Ovo"/>
                <a:cs typeface="Ovo"/>
                <a:sym typeface="Ovo"/>
              </a:rPr>
              <a:t>•Data warehouse is basically a database of unique data structures that allows relatively quick and easy performance of complex queries over a large amount of data.</a:t>
            </a:r>
          </a:p>
          <a:p>
            <a:pPr algn="l">
              <a:lnSpc>
                <a:spcPts val="5545"/>
              </a:lnSpc>
            </a:pPr>
            <a:r>
              <a:rPr lang="en-US" sz="3431">
                <a:solidFill>
                  <a:srgbClr val="FFFFFF"/>
                </a:solidFill>
                <a:latin typeface="Ovo"/>
                <a:ea typeface="Ovo"/>
                <a:cs typeface="Ovo"/>
                <a:sym typeface="Ovo"/>
              </a:rPr>
              <a:t>• It is created from multiple heterogeneous sources. </a:t>
            </a:r>
          </a:p>
          <a:p>
            <a:pPr algn="l">
              <a:lnSpc>
                <a:spcPts val="5545"/>
              </a:lnSpc>
            </a:pPr>
          </a:p>
        </p:txBody>
      </p:sp>
    </p:spTree>
  </p:cSld>
  <p:clrMapOvr>
    <a:masterClrMapping/>
  </p:clrMapOvr>
</p:sld>
</file>

<file path=ppt/slides/slide57.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TextBox 12" id="12"/>
          <p:cNvSpPr txBox="true"/>
          <p:nvPr/>
        </p:nvSpPr>
        <p:spPr>
          <a:xfrm rot="0">
            <a:off x="1751238" y="351604"/>
            <a:ext cx="13499947"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NEED OF DATAWARE HOUSE</a:t>
            </a:r>
          </a:p>
        </p:txBody>
      </p:sp>
      <p:sp>
        <p:nvSpPr>
          <p:cNvPr name="TextBox 13" id="13"/>
          <p:cNvSpPr txBox="true"/>
          <p:nvPr/>
        </p:nvSpPr>
        <p:spPr>
          <a:xfrm rot="0">
            <a:off x="1347813" y="1751378"/>
            <a:ext cx="16633273" cy="7559310"/>
          </a:xfrm>
          <a:prstGeom prst="rect">
            <a:avLst/>
          </a:prstGeom>
        </p:spPr>
        <p:txBody>
          <a:bodyPr anchor="t" rtlCol="false" tIns="0" lIns="0" bIns="0" rIns="0">
            <a:spAutoFit/>
          </a:bodyPr>
          <a:lstStyle/>
          <a:p>
            <a:pPr algn="l" marL="611411" indent="-305705" lvl="1">
              <a:lnSpc>
                <a:spcPts val="4576"/>
              </a:lnSpc>
              <a:buFont typeface="Arial"/>
              <a:buChar char="•"/>
            </a:pPr>
            <a:r>
              <a:rPr lang="en-US" sz="2831">
                <a:solidFill>
                  <a:srgbClr val="FFDE59"/>
                </a:solidFill>
                <a:latin typeface="Ovo"/>
                <a:ea typeface="Ovo"/>
                <a:cs typeface="Ovo"/>
                <a:sym typeface="Ovo"/>
              </a:rPr>
              <a:t>Intelligent Decision-Making: </a:t>
            </a:r>
            <a:r>
              <a:rPr lang="en-US" sz="2831">
                <a:solidFill>
                  <a:srgbClr val="FFFFFF"/>
                </a:solidFill>
                <a:latin typeface="Ovo"/>
                <a:ea typeface="Ovo"/>
                <a:cs typeface="Ovo"/>
                <a:sym typeface="Ovo"/>
              </a:rPr>
              <a:t>With centralized data in warehouses, decisions may be made more quickly and intelligently.</a:t>
            </a:r>
          </a:p>
          <a:p>
            <a:pPr algn="l" marL="611411" indent="-305705" lvl="1">
              <a:lnSpc>
                <a:spcPts val="4576"/>
              </a:lnSpc>
              <a:buFont typeface="Arial"/>
              <a:buChar char="•"/>
            </a:pPr>
            <a:r>
              <a:rPr lang="en-US" sz="2831">
                <a:solidFill>
                  <a:srgbClr val="FFDE59"/>
                </a:solidFill>
                <a:latin typeface="Ovo"/>
                <a:ea typeface="Ovo"/>
                <a:cs typeface="Ovo"/>
                <a:sym typeface="Ovo"/>
              </a:rPr>
              <a:t>Business Intelligence:</a:t>
            </a:r>
            <a:r>
              <a:rPr lang="en-US" sz="2831">
                <a:solidFill>
                  <a:srgbClr val="FFFFFF"/>
                </a:solidFill>
                <a:latin typeface="Ovo"/>
                <a:ea typeface="Ovo"/>
                <a:cs typeface="Ovo"/>
                <a:sym typeface="Ovo"/>
              </a:rPr>
              <a:t> Provides strong operational insights through business intelligence.</a:t>
            </a:r>
          </a:p>
          <a:p>
            <a:pPr algn="l" marL="589822" indent="-294911" lvl="1">
              <a:lnSpc>
                <a:spcPts val="4414"/>
              </a:lnSpc>
              <a:buFont typeface="Arial"/>
              <a:buChar char="•"/>
            </a:pPr>
            <a:r>
              <a:rPr lang="en-US" sz="2731">
                <a:solidFill>
                  <a:srgbClr val="FFDE59"/>
                </a:solidFill>
                <a:latin typeface="Ovo"/>
                <a:ea typeface="Ovo"/>
                <a:cs typeface="Ovo"/>
                <a:sym typeface="Ovo"/>
              </a:rPr>
              <a:t>Historical Analysis: </a:t>
            </a:r>
            <a:r>
              <a:rPr lang="en-US" sz="2731">
                <a:solidFill>
                  <a:srgbClr val="FFFFFF"/>
                </a:solidFill>
                <a:latin typeface="Ovo"/>
                <a:ea typeface="Ovo"/>
                <a:cs typeface="Ovo"/>
                <a:sym typeface="Ovo"/>
              </a:rPr>
              <a:t>Predictions and trend analysis are made easier by storing past data.</a:t>
            </a:r>
          </a:p>
          <a:p>
            <a:pPr algn="l" marL="589822" indent="-294911" lvl="1">
              <a:lnSpc>
                <a:spcPts val="4414"/>
              </a:lnSpc>
              <a:buFont typeface="Arial"/>
              <a:buChar char="•"/>
            </a:pPr>
            <a:r>
              <a:rPr lang="en-US" sz="2731">
                <a:solidFill>
                  <a:srgbClr val="FFDE59"/>
                </a:solidFill>
                <a:latin typeface="Ovo"/>
                <a:ea typeface="Ovo"/>
                <a:cs typeface="Ovo"/>
                <a:sym typeface="Ovo"/>
              </a:rPr>
              <a:t>Data Quality: </a:t>
            </a:r>
            <a:r>
              <a:rPr lang="en-US" sz="2731">
                <a:solidFill>
                  <a:srgbClr val="FFFFFF"/>
                </a:solidFill>
                <a:latin typeface="Ovo"/>
                <a:ea typeface="Ovo"/>
                <a:cs typeface="Ovo"/>
                <a:sym typeface="Ovo"/>
              </a:rPr>
              <a:t>Guarantees data quality and consistency for trustworthy reporting.</a:t>
            </a:r>
          </a:p>
          <a:p>
            <a:pPr algn="l" marL="611411" indent="-305705" lvl="1">
              <a:lnSpc>
                <a:spcPts val="4576"/>
              </a:lnSpc>
              <a:buFont typeface="Arial"/>
              <a:buChar char="•"/>
            </a:pPr>
            <a:r>
              <a:rPr lang="en-US" sz="2831">
                <a:solidFill>
                  <a:srgbClr val="FFDE59"/>
                </a:solidFill>
                <a:latin typeface="Ovo"/>
                <a:ea typeface="Ovo"/>
                <a:cs typeface="Ovo"/>
                <a:sym typeface="Ovo"/>
              </a:rPr>
              <a:t>Scalability: </a:t>
            </a:r>
            <a:r>
              <a:rPr lang="en-US" sz="2831">
                <a:solidFill>
                  <a:srgbClr val="FFFFFF"/>
                </a:solidFill>
                <a:latin typeface="Ovo"/>
                <a:ea typeface="Ovo"/>
                <a:cs typeface="Ovo"/>
                <a:sym typeface="Ovo"/>
              </a:rPr>
              <a:t>Capable of managing massive data volumes and expanding to meet changing requirements.</a:t>
            </a:r>
          </a:p>
          <a:p>
            <a:pPr algn="l" marL="611411" indent="-305705" lvl="1">
              <a:lnSpc>
                <a:spcPts val="4576"/>
              </a:lnSpc>
              <a:buFont typeface="Arial"/>
              <a:buChar char="•"/>
            </a:pPr>
            <a:r>
              <a:rPr lang="en-US" sz="2831">
                <a:solidFill>
                  <a:srgbClr val="FFDE59"/>
                </a:solidFill>
                <a:latin typeface="Ovo"/>
                <a:ea typeface="Ovo"/>
                <a:cs typeface="Ovo"/>
                <a:sym typeface="Ovo"/>
              </a:rPr>
              <a:t>Effective Queries:</a:t>
            </a:r>
            <a:r>
              <a:rPr lang="en-US" sz="2831">
                <a:solidFill>
                  <a:srgbClr val="FFFFFF"/>
                </a:solidFill>
                <a:latin typeface="Ovo"/>
                <a:ea typeface="Ovo"/>
                <a:cs typeface="Ovo"/>
                <a:sym typeface="Ovo"/>
              </a:rPr>
              <a:t> Fast and effective data retrieval is made possible by an optimized structure.</a:t>
            </a:r>
          </a:p>
          <a:p>
            <a:pPr algn="l" marL="611411" indent="-305705" lvl="1">
              <a:lnSpc>
                <a:spcPts val="4576"/>
              </a:lnSpc>
              <a:buFont typeface="Arial"/>
              <a:buChar char="•"/>
            </a:pPr>
            <a:r>
              <a:rPr lang="en-US" sz="2831">
                <a:solidFill>
                  <a:srgbClr val="FFDE59"/>
                </a:solidFill>
                <a:latin typeface="Ovo"/>
                <a:ea typeface="Ovo"/>
                <a:cs typeface="Ovo"/>
                <a:sym typeface="Ovo"/>
              </a:rPr>
              <a:t>Cost reductions: </a:t>
            </a:r>
            <a:r>
              <a:rPr lang="en-US" sz="2831">
                <a:solidFill>
                  <a:srgbClr val="FFFFFF"/>
                </a:solidFill>
                <a:latin typeface="Ovo"/>
                <a:ea typeface="Ovo"/>
                <a:cs typeface="Ovo"/>
                <a:sym typeface="Ovo"/>
              </a:rPr>
              <a:t>Data warehousing can result in cost savings over time by reducing data management procedures and increasing overall efficiency, even when there are setup costs initially.</a:t>
            </a:r>
          </a:p>
          <a:p>
            <a:pPr algn="l" marL="611411" indent="-305705" lvl="1">
              <a:lnSpc>
                <a:spcPts val="4576"/>
              </a:lnSpc>
              <a:buFont typeface="Arial"/>
              <a:buChar char="•"/>
            </a:pPr>
            <a:r>
              <a:rPr lang="en-US" sz="2831">
                <a:solidFill>
                  <a:srgbClr val="FFDE59"/>
                </a:solidFill>
                <a:latin typeface="Ovo"/>
                <a:ea typeface="Ovo"/>
                <a:cs typeface="Ovo"/>
                <a:sym typeface="Ovo"/>
              </a:rPr>
              <a:t>Data security: </a:t>
            </a:r>
            <a:r>
              <a:rPr lang="en-US" sz="2831">
                <a:solidFill>
                  <a:srgbClr val="FFFFFF"/>
                </a:solidFill>
                <a:latin typeface="Ovo"/>
                <a:ea typeface="Ovo"/>
                <a:cs typeface="Ovo"/>
                <a:sym typeface="Ovo"/>
              </a:rPr>
              <a:t>Data warehouses employ security protocols to safeguard confidential information, guaranteeing that only authorized personnel are granted access to certain data.</a:t>
            </a:r>
          </a:p>
          <a:p>
            <a:pPr algn="l">
              <a:lnSpc>
                <a:spcPts val="5545"/>
              </a:lnSpc>
            </a:pP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3052528" y="793026"/>
            <a:ext cx="13175524" cy="8465274"/>
          </a:xfrm>
          <a:custGeom>
            <a:avLst/>
            <a:gdLst/>
            <a:ahLst/>
            <a:cxnLst/>
            <a:rect r="r" b="b" t="t" l="l"/>
            <a:pathLst>
              <a:path h="8465274" w="13175524">
                <a:moveTo>
                  <a:pt x="0" y="0"/>
                </a:moveTo>
                <a:lnTo>
                  <a:pt x="13175524" y="0"/>
                </a:lnTo>
                <a:lnTo>
                  <a:pt x="13175524" y="8465274"/>
                </a:lnTo>
                <a:lnTo>
                  <a:pt x="0" y="8465274"/>
                </a:lnTo>
                <a:lnTo>
                  <a:pt x="0" y="0"/>
                </a:lnTo>
                <a:close/>
              </a:path>
            </a:pathLst>
          </a:custGeom>
          <a:blipFill>
            <a:blip r:embed="rId2"/>
            <a:stretch>
              <a:fillRect l="0" t="0" r="0" b="0"/>
            </a:stretch>
          </a:blipFill>
        </p:spPr>
      </p:sp>
    </p:spTree>
  </p:cSld>
  <p:clrMapOvr>
    <a:masterClrMapping/>
  </p:clrMapOvr>
</p:sld>
</file>

<file path=ppt/slides/slide59.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TextBox 12" id="12"/>
          <p:cNvSpPr txBox="true"/>
          <p:nvPr/>
        </p:nvSpPr>
        <p:spPr>
          <a:xfrm rot="0">
            <a:off x="1751238" y="351604"/>
            <a:ext cx="14306797"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APPLICATION OF DATAWARE HOUSE</a:t>
            </a:r>
          </a:p>
        </p:txBody>
      </p:sp>
      <p:sp>
        <p:nvSpPr>
          <p:cNvPr name="TextBox 13" id="13"/>
          <p:cNvSpPr txBox="true"/>
          <p:nvPr/>
        </p:nvSpPr>
        <p:spPr>
          <a:xfrm rot="0">
            <a:off x="1981767" y="1741853"/>
            <a:ext cx="16633273" cy="9242593"/>
          </a:xfrm>
          <a:prstGeom prst="rect">
            <a:avLst/>
          </a:prstGeom>
        </p:spPr>
        <p:txBody>
          <a:bodyPr anchor="t" rtlCol="false" tIns="0" lIns="0" bIns="0" rIns="0">
            <a:spAutoFit/>
          </a:bodyPr>
          <a:lstStyle/>
          <a:p>
            <a:pPr algn="l">
              <a:lnSpc>
                <a:spcPts val="4737"/>
              </a:lnSpc>
            </a:pPr>
            <a:r>
              <a:rPr lang="en-US" sz="2931">
                <a:solidFill>
                  <a:srgbClr val="FFFFFF"/>
                </a:solidFill>
                <a:latin typeface="Ovo"/>
                <a:ea typeface="Ovo"/>
                <a:cs typeface="Ovo"/>
                <a:sym typeface="Ovo"/>
              </a:rPr>
              <a:t>•Financial services</a:t>
            </a:r>
          </a:p>
          <a:p>
            <a:pPr algn="l">
              <a:lnSpc>
                <a:spcPts val="4737"/>
              </a:lnSpc>
            </a:pPr>
            <a:r>
              <a:rPr lang="en-US" sz="2931">
                <a:solidFill>
                  <a:srgbClr val="FFFFFF"/>
                </a:solidFill>
                <a:latin typeface="Ovo"/>
                <a:ea typeface="Ovo"/>
                <a:cs typeface="Ovo"/>
                <a:sym typeface="Ovo"/>
              </a:rPr>
              <a:t>•Banking services</a:t>
            </a:r>
          </a:p>
          <a:p>
            <a:pPr algn="l">
              <a:lnSpc>
                <a:spcPts val="4737"/>
              </a:lnSpc>
            </a:pPr>
            <a:r>
              <a:rPr lang="en-US" sz="2931">
                <a:solidFill>
                  <a:srgbClr val="FFFFFF"/>
                </a:solidFill>
                <a:latin typeface="Ovo"/>
                <a:ea typeface="Ovo"/>
                <a:cs typeface="Ovo"/>
                <a:sym typeface="Ovo"/>
              </a:rPr>
              <a:t>•Consumer goals</a:t>
            </a:r>
          </a:p>
          <a:p>
            <a:pPr algn="l">
              <a:lnSpc>
                <a:spcPts val="4737"/>
              </a:lnSpc>
            </a:pPr>
            <a:r>
              <a:rPr lang="en-US" sz="2931">
                <a:solidFill>
                  <a:srgbClr val="FFFFFF"/>
                </a:solidFill>
                <a:latin typeface="Ovo"/>
                <a:ea typeface="Ovo"/>
                <a:cs typeface="Ovo"/>
                <a:sym typeface="Ovo"/>
              </a:rPr>
              <a:t>•Retail sectors</a:t>
            </a:r>
          </a:p>
          <a:p>
            <a:pPr algn="l">
              <a:lnSpc>
                <a:spcPts val="4737"/>
              </a:lnSpc>
            </a:pPr>
            <a:r>
              <a:rPr lang="en-US" sz="2931">
                <a:solidFill>
                  <a:srgbClr val="FFFFFF"/>
                </a:solidFill>
                <a:latin typeface="Ovo"/>
                <a:ea typeface="Ovo"/>
                <a:cs typeface="Ovo"/>
                <a:sym typeface="Ovo"/>
              </a:rPr>
              <a:t>•Controlled manufacturing</a:t>
            </a:r>
          </a:p>
          <a:p>
            <a:pPr algn="l">
              <a:lnSpc>
                <a:spcPts val="4737"/>
              </a:lnSpc>
            </a:pPr>
            <a:r>
              <a:rPr lang="en-US" sz="2931">
                <a:solidFill>
                  <a:srgbClr val="FFFFFF"/>
                </a:solidFill>
                <a:latin typeface="Ovo"/>
                <a:ea typeface="Ovo"/>
                <a:cs typeface="Ovo"/>
                <a:sym typeface="Ovo"/>
              </a:rPr>
              <a:t>•Information Processing</a:t>
            </a:r>
          </a:p>
          <a:p>
            <a:pPr algn="l">
              <a:lnSpc>
                <a:spcPts val="4737"/>
              </a:lnSpc>
            </a:pPr>
            <a:r>
              <a:rPr lang="en-US" sz="2931">
                <a:solidFill>
                  <a:srgbClr val="FFFFFF"/>
                </a:solidFill>
                <a:latin typeface="Ovo"/>
                <a:ea typeface="Ovo"/>
                <a:cs typeface="Ovo"/>
                <a:sym typeface="Ovo"/>
              </a:rPr>
              <a:t>•Analytical Processing</a:t>
            </a:r>
          </a:p>
          <a:p>
            <a:pPr algn="l">
              <a:lnSpc>
                <a:spcPts val="4737"/>
              </a:lnSpc>
            </a:pPr>
            <a:r>
              <a:rPr lang="en-US" sz="2931">
                <a:solidFill>
                  <a:srgbClr val="FFFFFF"/>
                </a:solidFill>
                <a:latin typeface="Ovo"/>
                <a:ea typeface="Ovo"/>
                <a:cs typeface="Ovo"/>
                <a:sym typeface="Ovo"/>
              </a:rPr>
              <a:t>•Data Mining</a:t>
            </a:r>
          </a:p>
          <a:p>
            <a:pPr algn="l">
              <a:lnSpc>
                <a:spcPts val="4737"/>
              </a:lnSpc>
            </a:pPr>
            <a:r>
              <a:rPr lang="en-US" sz="2931">
                <a:solidFill>
                  <a:srgbClr val="FFFFFF"/>
                </a:solidFill>
                <a:latin typeface="Ovo"/>
                <a:ea typeface="Ovo"/>
                <a:cs typeface="Ovo"/>
                <a:sym typeface="Ovo"/>
              </a:rPr>
              <a:t>•Real Life</a:t>
            </a:r>
          </a:p>
          <a:p>
            <a:pPr algn="l">
              <a:lnSpc>
                <a:spcPts val="4737"/>
              </a:lnSpc>
            </a:pPr>
            <a:r>
              <a:rPr lang="en-US" sz="2931">
                <a:solidFill>
                  <a:srgbClr val="FFFFFF"/>
                </a:solidFill>
                <a:latin typeface="Ovo"/>
                <a:ea typeface="Ovo"/>
                <a:cs typeface="Ovo"/>
                <a:sym typeface="Ovo"/>
              </a:rPr>
              <a:t>•Various Industries</a:t>
            </a:r>
          </a:p>
          <a:p>
            <a:pPr algn="l">
              <a:lnSpc>
                <a:spcPts val="4737"/>
              </a:lnSpc>
            </a:pPr>
            <a:r>
              <a:rPr lang="en-US" sz="2931">
                <a:solidFill>
                  <a:srgbClr val="FFFFFF"/>
                </a:solidFill>
                <a:latin typeface="Ovo"/>
                <a:ea typeface="Ovo"/>
                <a:cs typeface="Ovo"/>
                <a:sym typeface="Ovo"/>
              </a:rPr>
              <a:t>•Statistical Analysis</a:t>
            </a:r>
          </a:p>
          <a:p>
            <a:pPr algn="l">
              <a:lnSpc>
                <a:spcPts val="4737"/>
              </a:lnSpc>
            </a:pPr>
            <a:r>
              <a:rPr lang="en-US" sz="2931">
                <a:solidFill>
                  <a:srgbClr val="FFFFFF"/>
                </a:solidFill>
                <a:latin typeface="Ovo"/>
                <a:ea typeface="Ovo"/>
                <a:cs typeface="Ovo"/>
                <a:sym typeface="Ovo"/>
              </a:rPr>
              <a:t>•Decision Making</a:t>
            </a:r>
          </a:p>
          <a:p>
            <a:pPr algn="l">
              <a:lnSpc>
                <a:spcPts val="5545"/>
              </a:lnSpc>
            </a:pPr>
          </a:p>
          <a:p>
            <a:pPr algn="l">
              <a:lnSpc>
                <a:spcPts val="5545"/>
              </a:lnSpc>
            </a:pPr>
          </a:p>
          <a:p>
            <a:pPr algn="l">
              <a:lnSpc>
                <a:spcPts val="5545"/>
              </a:lnSpc>
            </a:pPr>
          </a:p>
        </p:txBody>
      </p:sp>
    </p:spTree>
  </p:cSld>
  <p:clrMapOvr>
    <a:masterClrMapping/>
  </p:clrMapOvr>
</p:sld>
</file>

<file path=ppt/slides/slide60.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TextBox 12" id="12"/>
          <p:cNvSpPr txBox="true"/>
          <p:nvPr/>
        </p:nvSpPr>
        <p:spPr>
          <a:xfrm rot="0">
            <a:off x="1751238" y="351604"/>
            <a:ext cx="14306797"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ANAMOLY AND FRAUD DETECTION</a:t>
            </a:r>
          </a:p>
        </p:txBody>
      </p:sp>
      <p:sp>
        <p:nvSpPr>
          <p:cNvPr name="TextBox 13" id="13"/>
          <p:cNvSpPr txBox="true"/>
          <p:nvPr/>
        </p:nvSpPr>
        <p:spPr>
          <a:xfrm rot="0">
            <a:off x="1981767" y="1741853"/>
            <a:ext cx="16633273" cy="7918618"/>
          </a:xfrm>
          <a:prstGeom prst="rect">
            <a:avLst/>
          </a:prstGeom>
        </p:spPr>
        <p:txBody>
          <a:bodyPr anchor="t" rtlCol="false" tIns="0" lIns="0" bIns="0" rIns="0">
            <a:spAutoFit/>
          </a:bodyPr>
          <a:lstStyle/>
          <a:p>
            <a:pPr algn="l">
              <a:lnSpc>
                <a:spcPts val="4737"/>
              </a:lnSpc>
            </a:pPr>
            <a:r>
              <a:rPr lang="en-US" sz="2931">
                <a:solidFill>
                  <a:srgbClr val="FFFFFF"/>
                </a:solidFill>
                <a:latin typeface="Ovo"/>
                <a:ea typeface="Ovo"/>
                <a:cs typeface="Ovo"/>
                <a:sym typeface="Ovo"/>
              </a:rPr>
              <a:t>Anomaly detection involves identifying data points, patterns, or behaviors that are significantly different from the norm. These anomalies may or may not indicate malicious intent but often point to irregularities that warrant further investigation.</a:t>
            </a:r>
          </a:p>
          <a:p>
            <a:pPr algn="l">
              <a:lnSpc>
                <a:spcPts val="4737"/>
              </a:lnSpc>
            </a:pPr>
          </a:p>
          <a:p>
            <a:pPr algn="l">
              <a:lnSpc>
                <a:spcPts val="5545"/>
              </a:lnSpc>
            </a:pPr>
            <a:r>
              <a:rPr lang="en-US" sz="3431">
                <a:solidFill>
                  <a:srgbClr val="FFFFFF"/>
                </a:solidFill>
                <a:latin typeface="Ovo"/>
                <a:ea typeface="Ovo"/>
                <a:cs typeface="Ovo"/>
                <a:sym typeface="Ovo"/>
              </a:rPr>
              <a:t>Examples of Anomalies in Information Systems:</a:t>
            </a:r>
          </a:p>
          <a:p>
            <a:pPr algn="l" marL="740948" indent="-370474" lvl="1">
              <a:lnSpc>
                <a:spcPts val="5545"/>
              </a:lnSpc>
              <a:buFont typeface="Arial"/>
              <a:buChar char="•"/>
            </a:pPr>
            <a:r>
              <a:rPr lang="en-US" sz="3431">
                <a:solidFill>
                  <a:srgbClr val="FFFFFF"/>
                </a:solidFill>
                <a:latin typeface="Ovo"/>
                <a:ea typeface="Ovo"/>
                <a:cs typeface="Ovo"/>
                <a:sym typeface="Ovo"/>
              </a:rPr>
              <a:t>Unusual login times or locations (e.g., a login from a different country).</a:t>
            </a:r>
          </a:p>
          <a:p>
            <a:pPr algn="l" marL="740948" indent="-370474" lvl="1">
              <a:lnSpc>
                <a:spcPts val="5545"/>
              </a:lnSpc>
              <a:buFont typeface="Arial"/>
              <a:buChar char="•"/>
            </a:pPr>
            <a:r>
              <a:rPr lang="en-US" sz="3431">
                <a:solidFill>
                  <a:srgbClr val="FFFFFF"/>
                </a:solidFill>
                <a:latin typeface="Ovo"/>
                <a:ea typeface="Ovo"/>
                <a:cs typeface="Ovo"/>
                <a:sym typeface="Ovo"/>
              </a:rPr>
              <a:t>A sudden spike in data traffic or usage.</a:t>
            </a:r>
          </a:p>
          <a:p>
            <a:pPr algn="l" marL="740948" indent="-370474" lvl="1">
              <a:lnSpc>
                <a:spcPts val="5545"/>
              </a:lnSpc>
              <a:buFont typeface="Arial"/>
              <a:buChar char="•"/>
            </a:pPr>
            <a:r>
              <a:rPr lang="en-US" sz="3431">
                <a:solidFill>
                  <a:srgbClr val="FFFFFF"/>
                </a:solidFill>
                <a:latin typeface="Ovo"/>
                <a:ea typeface="Ovo"/>
                <a:cs typeface="Ovo"/>
                <a:sym typeface="Ovo"/>
              </a:rPr>
              <a:t>Accessing sensitive data not typically used by a particular user.</a:t>
            </a:r>
          </a:p>
          <a:p>
            <a:pPr algn="l" marL="740948" indent="-370474" lvl="1">
              <a:lnSpc>
                <a:spcPts val="5545"/>
              </a:lnSpc>
              <a:buFont typeface="Arial"/>
              <a:buChar char="•"/>
            </a:pPr>
            <a:r>
              <a:rPr lang="en-US" sz="3431">
                <a:solidFill>
                  <a:srgbClr val="FFFFFF"/>
                </a:solidFill>
                <a:latin typeface="Ovo"/>
                <a:ea typeface="Ovo"/>
                <a:cs typeface="Ovo"/>
                <a:sym typeface="Ovo"/>
              </a:rPr>
              <a:t>Atypical system errors or performance lags.</a:t>
            </a:r>
          </a:p>
          <a:p>
            <a:pPr algn="l">
              <a:lnSpc>
                <a:spcPts val="5545"/>
              </a:lnSpc>
            </a:pPr>
          </a:p>
          <a:p>
            <a:pPr algn="l">
              <a:lnSpc>
                <a:spcPts val="5545"/>
              </a:lnSpc>
            </a:pPr>
          </a:p>
          <a:p>
            <a:pPr algn="l">
              <a:lnSpc>
                <a:spcPts val="5545"/>
              </a:lnSpc>
            </a:pPr>
          </a:p>
        </p:txBody>
      </p:sp>
    </p:spTree>
  </p:cSld>
  <p:clrMapOvr>
    <a:masterClrMapping/>
  </p:clrMapOvr>
</p:sld>
</file>

<file path=ppt/slides/slide61.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TextBox 12" id="12"/>
          <p:cNvSpPr txBox="true"/>
          <p:nvPr/>
        </p:nvSpPr>
        <p:spPr>
          <a:xfrm rot="0">
            <a:off x="1751238" y="351604"/>
            <a:ext cx="14306797"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ANAMOLY AND FRAUD DETECTION</a:t>
            </a:r>
          </a:p>
        </p:txBody>
      </p:sp>
      <p:sp>
        <p:nvSpPr>
          <p:cNvPr name="TextBox 13" id="13"/>
          <p:cNvSpPr txBox="true"/>
          <p:nvPr/>
        </p:nvSpPr>
        <p:spPr>
          <a:xfrm rot="0">
            <a:off x="1028700" y="1739732"/>
            <a:ext cx="16633273" cy="8547268"/>
          </a:xfrm>
          <a:prstGeom prst="rect">
            <a:avLst/>
          </a:prstGeom>
        </p:spPr>
        <p:txBody>
          <a:bodyPr anchor="t" rtlCol="false" tIns="0" lIns="0" bIns="0" rIns="0">
            <a:spAutoFit/>
          </a:bodyPr>
          <a:lstStyle/>
          <a:p>
            <a:pPr algn="l">
              <a:lnSpc>
                <a:spcPts val="4737"/>
              </a:lnSpc>
            </a:pPr>
            <a:r>
              <a:rPr lang="en-US" sz="2931">
                <a:solidFill>
                  <a:srgbClr val="FFFFFF"/>
                </a:solidFill>
                <a:latin typeface="Ovo"/>
                <a:ea typeface="Ovo"/>
                <a:cs typeface="Ovo"/>
                <a:sym typeface="Ovo"/>
              </a:rPr>
              <a:t>Techniques Used for Anomaly Detection:</a:t>
            </a:r>
          </a:p>
          <a:p>
            <a:pPr algn="l" marL="633000" indent="-316500" lvl="1">
              <a:lnSpc>
                <a:spcPts val="4737"/>
              </a:lnSpc>
              <a:buFont typeface="Arial"/>
              <a:buChar char="•"/>
            </a:pPr>
            <a:r>
              <a:rPr lang="en-US" sz="2931">
                <a:solidFill>
                  <a:srgbClr val="FFFFFF"/>
                </a:solidFill>
                <a:latin typeface="Ovo"/>
                <a:ea typeface="Ovo"/>
                <a:cs typeface="Ovo"/>
                <a:sym typeface="Ovo"/>
              </a:rPr>
              <a:t>Statistical Methods: Setting thresholds for normal behavior (e.g., z-scores, mean/variance analysis).</a:t>
            </a:r>
          </a:p>
          <a:p>
            <a:pPr algn="l" marL="633000" indent="-316500" lvl="1">
              <a:lnSpc>
                <a:spcPts val="4737"/>
              </a:lnSpc>
              <a:buFont typeface="Arial"/>
              <a:buChar char="•"/>
            </a:pPr>
            <a:r>
              <a:rPr lang="en-US" sz="2931">
                <a:solidFill>
                  <a:srgbClr val="FFFFFF"/>
                </a:solidFill>
                <a:latin typeface="Ovo"/>
                <a:ea typeface="Ovo"/>
                <a:cs typeface="Ovo"/>
                <a:sym typeface="Ovo"/>
              </a:rPr>
              <a:t>Machine Learning Models:</a:t>
            </a:r>
          </a:p>
          <a:p>
            <a:pPr algn="l" marL="1266001" indent="-422000" lvl="2">
              <a:lnSpc>
                <a:spcPts val="4737"/>
              </a:lnSpc>
              <a:buFont typeface="Arial"/>
              <a:buChar char="⚬"/>
            </a:pPr>
            <a:r>
              <a:rPr lang="en-US" sz="2931">
                <a:solidFill>
                  <a:srgbClr val="FFFFFF"/>
                </a:solidFill>
                <a:latin typeface="Ovo"/>
                <a:ea typeface="Ovo"/>
                <a:cs typeface="Ovo"/>
                <a:sym typeface="Ovo"/>
              </a:rPr>
              <a:t>Unsupervised Learning: Algorithms like k-means, DBSCAN, or autoencoders identify patterns without labeled data.</a:t>
            </a:r>
          </a:p>
          <a:p>
            <a:pPr algn="l" marL="1266001" indent="-422000" lvl="2">
              <a:lnSpc>
                <a:spcPts val="4737"/>
              </a:lnSpc>
              <a:buFont typeface="Arial"/>
              <a:buChar char="⚬"/>
            </a:pPr>
            <a:r>
              <a:rPr lang="en-US" sz="2931">
                <a:solidFill>
                  <a:srgbClr val="FFFFFF"/>
                </a:solidFill>
                <a:latin typeface="Ovo"/>
                <a:ea typeface="Ovo"/>
                <a:cs typeface="Ovo"/>
                <a:sym typeface="Ovo"/>
              </a:rPr>
              <a:t>Supervised Learning: Classification models trained on labeled datasets of normal and anomalous behaviors.</a:t>
            </a:r>
          </a:p>
          <a:p>
            <a:pPr algn="l" marL="633000" indent="-316500" lvl="1">
              <a:lnSpc>
                <a:spcPts val="4737"/>
              </a:lnSpc>
              <a:buFont typeface="Arial"/>
              <a:buChar char="•"/>
            </a:pPr>
            <a:r>
              <a:rPr lang="en-US" sz="2931">
                <a:solidFill>
                  <a:srgbClr val="FFFFFF"/>
                </a:solidFill>
                <a:latin typeface="Ovo"/>
                <a:ea typeface="Ovo"/>
                <a:cs typeface="Ovo"/>
                <a:sym typeface="Ovo"/>
              </a:rPr>
              <a:t>Rule-Based Systems: Using predefined rules for detecting anomalies.</a:t>
            </a:r>
          </a:p>
          <a:p>
            <a:pPr algn="l" marL="633000" indent="-316500" lvl="1">
              <a:lnSpc>
                <a:spcPts val="4737"/>
              </a:lnSpc>
              <a:buFont typeface="Arial"/>
              <a:buChar char="•"/>
            </a:pPr>
            <a:r>
              <a:rPr lang="en-US" sz="2931">
                <a:solidFill>
                  <a:srgbClr val="FFFFFF"/>
                </a:solidFill>
                <a:latin typeface="Ovo"/>
                <a:ea typeface="Ovo"/>
                <a:cs typeface="Ovo"/>
                <a:sym typeface="Ovo"/>
              </a:rPr>
              <a:t>Time Series Analysis: Observing irregularities over time in system performance metrics or behavior logs.</a:t>
            </a:r>
          </a:p>
          <a:p>
            <a:pPr algn="l">
              <a:lnSpc>
                <a:spcPts val="4737"/>
              </a:lnSpc>
            </a:pPr>
          </a:p>
          <a:p>
            <a:pPr algn="l">
              <a:lnSpc>
                <a:spcPts val="5545"/>
              </a:lnSpc>
            </a:pPr>
          </a:p>
          <a:p>
            <a:pPr algn="l">
              <a:lnSpc>
                <a:spcPts val="5545"/>
              </a:lnSpc>
            </a:pPr>
          </a:p>
        </p:txBody>
      </p:sp>
    </p:spTree>
  </p:cSld>
  <p:clrMapOvr>
    <a:masterClrMapping/>
  </p:clrMapOvr>
</p:sld>
</file>

<file path=ppt/slides/slide62.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TextBox 12" id="12"/>
          <p:cNvSpPr txBox="true"/>
          <p:nvPr/>
        </p:nvSpPr>
        <p:spPr>
          <a:xfrm rot="0">
            <a:off x="1751238" y="351604"/>
            <a:ext cx="14306797"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ANAMOLY AND FRAUD DETECTION</a:t>
            </a:r>
          </a:p>
        </p:txBody>
      </p:sp>
      <p:sp>
        <p:nvSpPr>
          <p:cNvPr name="TextBox 13" id="13"/>
          <p:cNvSpPr txBox="true"/>
          <p:nvPr/>
        </p:nvSpPr>
        <p:spPr>
          <a:xfrm rot="0">
            <a:off x="1553860" y="1589281"/>
            <a:ext cx="16108113" cy="5775581"/>
          </a:xfrm>
          <a:prstGeom prst="rect">
            <a:avLst/>
          </a:prstGeom>
        </p:spPr>
        <p:txBody>
          <a:bodyPr anchor="t" rtlCol="false" tIns="0" lIns="0" bIns="0" rIns="0">
            <a:spAutoFit/>
          </a:bodyPr>
          <a:lstStyle/>
          <a:p>
            <a:pPr algn="l">
              <a:lnSpc>
                <a:spcPts val="4588"/>
              </a:lnSpc>
            </a:pPr>
            <a:r>
              <a:rPr lang="en-US" sz="2839">
                <a:solidFill>
                  <a:srgbClr val="FFFFFF"/>
                </a:solidFill>
                <a:latin typeface="Ovo"/>
                <a:ea typeface="Ovo"/>
                <a:cs typeface="Ovo"/>
                <a:sym typeface="Ovo"/>
              </a:rPr>
              <a:t>Fraud detection focuses on identifying deliberate actions intended to deceive or exploit a system for personal gain. It is a subset of anomaly detection but specifically targets activities considered malicious and fraudulent.</a:t>
            </a:r>
          </a:p>
          <a:p>
            <a:pPr algn="l">
              <a:lnSpc>
                <a:spcPts val="4588"/>
              </a:lnSpc>
            </a:pPr>
            <a:r>
              <a:rPr lang="en-US" sz="2839">
                <a:solidFill>
                  <a:srgbClr val="FFFFFF"/>
                </a:solidFill>
                <a:latin typeface="Ovo"/>
                <a:ea typeface="Ovo"/>
                <a:cs typeface="Ovo"/>
                <a:sym typeface="Ovo"/>
              </a:rPr>
              <a:t>Examples of Fraud in Information Systems:</a:t>
            </a:r>
          </a:p>
          <a:p>
            <a:pPr algn="l" marL="613015" indent="-306507" lvl="1">
              <a:lnSpc>
                <a:spcPts val="4588"/>
              </a:lnSpc>
              <a:buFont typeface="Arial"/>
              <a:buChar char="•"/>
            </a:pPr>
            <a:r>
              <a:rPr lang="en-US" sz="2839">
                <a:solidFill>
                  <a:srgbClr val="FFFFFF"/>
                </a:solidFill>
                <a:latin typeface="Ovo"/>
                <a:ea typeface="Ovo"/>
                <a:cs typeface="Ovo"/>
                <a:sym typeface="Ovo"/>
              </a:rPr>
              <a:t>Unauthorized transactions in a banking application.</a:t>
            </a:r>
          </a:p>
          <a:p>
            <a:pPr algn="l" marL="613015" indent="-306507" lvl="1">
              <a:lnSpc>
                <a:spcPts val="4588"/>
              </a:lnSpc>
              <a:buFont typeface="Arial"/>
              <a:buChar char="•"/>
            </a:pPr>
            <a:r>
              <a:rPr lang="en-US" sz="2839">
                <a:solidFill>
                  <a:srgbClr val="FFFFFF"/>
                </a:solidFill>
                <a:latin typeface="Ovo"/>
                <a:ea typeface="Ovo"/>
                <a:cs typeface="Ovo"/>
                <a:sym typeface="Ovo"/>
              </a:rPr>
              <a:t>Credit card fraud (e.g., using stolen cards or creating fake ones).</a:t>
            </a:r>
          </a:p>
          <a:p>
            <a:pPr algn="l" marL="613015" indent="-306507" lvl="1">
              <a:lnSpc>
                <a:spcPts val="4588"/>
              </a:lnSpc>
              <a:buFont typeface="Arial"/>
              <a:buChar char="•"/>
            </a:pPr>
            <a:r>
              <a:rPr lang="en-US" sz="2839">
                <a:solidFill>
                  <a:srgbClr val="FFFFFF"/>
                </a:solidFill>
                <a:latin typeface="Ovo"/>
                <a:ea typeface="Ovo"/>
                <a:cs typeface="Ovo"/>
                <a:sym typeface="Ovo"/>
              </a:rPr>
              <a:t>Falsified identity during online registrations.</a:t>
            </a:r>
          </a:p>
          <a:p>
            <a:pPr algn="l" marL="613015" indent="-306507" lvl="1">
              <a:lnSpc>
                <a:spcPts val="4588"/>
              </a:lnSpc>
              <a:buFont typeface="Arial"/>
              <a:buChar char="•"/>
            </a:pPr>
            <a:r>
              <a:rPr lang="en-US" sz="2839">
                <a:solidFill>
                  <a:srgbClr val="FFFFFF"/>
                </a:solidFill>
                <a:latin typeface="Ovo"/>
                <a:ea typeface="Ovo"/>
                <a:cs typeface="Ovo"/>
                <a:sym typeface="Ovo"/>
              </a:rPr>
              <a:t>Data breaches or theft of intellectual property.</a:t>
            </a:r>
          </a:p>
          <a:p>
            <a:pPr algn="l" marL="613015" indent="-306507" lvl="1">
              <a:lnSpc>
                <a:spcPts val="4588"/>
              </a:lnSpc>
              <a:buFont typeface="Arial"/>
              <a:buChar char="•"/>
            </a:pPr>
            <a:r>
              <a:rPr lang="en-US" sz="2839">
                <a:solidFill>
                  <a:srgbClr val="FFFFFF"/>
                </a:solidFill>
                <a:latin typeface="Ovo"/>
                <a:ea typeface="Ovo"/>
                <a:cs typeface="Ovo"/>
                <a:sym typeface="Ovo"/>
              </a:rPr>
              <a:t>Click fraud in online advertising.</a:t>
            </a:r>
          </a:p>
          <a:p>
            <a:pPr algn="l">
              <a:lnSpc>
                <a:spcPts val="4588"/>
              </a:lnSpc>
            </a:pPr>
          </a:p>
        </p:txBody>
      </p:sp>
    </p:spTree>
  </p:cSld>
  <p:clrMapOvr>
    <a:masterClrMapping/>
  </p:clrMapOvr>
</p:sld>
</file>

<file path=ppt/slides/slide63.xml><?xml version="1.0" encoding="utf-8"?>
<p:sld xmlns:p="http://schemas.openxmlformats.org/presentationml/2006/main" xmlns:a="http://schemas.openxmlformats.org/drawingml/2006/main">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9339021"/>
            <a:ext cx="16230600"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10800000">
            <a:off x="9144000" y="9310688"/>
            <a:ext cx="8115300" cy="47625"/>
            <a:chOff x="0" y="0"/>
            <a:chExt cx="2137363" cy="12543"/>
          </a:xfrm>
        </p:grpSpPr>
        <p:sp>
          <p:nvSpPr>
            <p:cNvPr name="Freeform 4" id="4"/>
            <p:cNvSpPr/>
            <p:nvPr/>
          </p:nvSpPr>
          <p:spPr>
            <a:xfrm flipH="false" flipV="false" rot="0">
              <a:off x="0" y="0"/>
              <a:ext cx="2137363" cy="12543"/>
            </a:xfrm>
            <a:custGeom>
              <a:avLst/>
              <a:gdLst/>
              <a:ahLst/>
              <a:cxnLst/>
              <a:rect r="r" b="b" t="t" l="l"/>
              <a:pathLst>
                <a:path h="12543" w="2137363">
                  <a:moveTo>
                    <a:pt x="6272" y="0"/>
                  </a:moveTo>
                  <a:lnTo>
                    <a:pt x="2131091" y="0"/>
                  </a:lnTo>
                  <a:cubicBezTo>
                    <a:pt x="2132755" y="0"/>
                    <a:pt x="2134350" y="661"/>
                    <a:pt x="2135526" y="1837"/>
                  </a:cubicBezTo>
                  <a:cubicBezTo>
                    <a:pt x="2136702" y="3013"/>
                    <a:pt x="2137363" y="4608"/>
                    <a:pt x="2137363" y="6272"/>
                  </a:cubicBezTo>
                  <a:lnTo>
                    <a:pt x="2137363" y="6272"/>
                  </a:lnTo>
                  <a:cubicBezTo>
                    <a:pt x="2137363" y="7935"/>
                    <a:pt x="2136702" y="9530"/>
                    <a:pt x="2135526" y="10706"/>
                  </a:cubicBezTo>
                  <a:cubicBezTo>
                    <a:pt x="2134350" y="11882"/>
                    <a:pt x="2132755" y="12543"/>
                    <a:pt x="2131091"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FFFF"/>
            </a:solidFill>
          </p:spPr>
        </p:sp>
        <p:sp>
          <p:nvSpPr>
            <p:cNvPr name="TextBox 5" id="5"/>
            <p:cNvSpPr txBox="true"/>
            <p:nvPr/>
          </p:nvSpPr>
          <p:spPr>
            <a:xfrm>
              <a:off x="0" y="-57150"/>
              <a:ext cx="2137363" cy="69693"/>
            </a:xfrm>
            <a:prstGeom prst="rect">
              <a:avLst/>
            </a:prstGeom>
          </p:spPr>
          <p:txBody>
            <a:bodyPr anchor="ctr" rtlCol="false" tIns="50800" lIns="50800" bIns="50800" rIns="50800"/>
            <a:lstStyle/>
            <a:p>
              <a:pPr algn="ctr">
                <a:lnSpc>
                  <a:spcPts val="3610"/>
                </a:lnSpc>
              </a:pPr>
            </a:p>
          </p:txBody>
        </p:sp>
      </p:grpSp>
      <p:grpSp>
        <p:nvGrpSpPr>
          <p:cNvPr name="Group 6" id="6"/>
          <p:cNvGrpSpPr/>
          <p:nvPr/>
        </p:nvGrpSpPr>
        <p:grpSpPr>
          <a:xfrm rot="0">
            <a:off x="11890923" y="9240216"/>
            <a:ext cx="188568" cy="1885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grpSp>
        <p:nvGrpSpPr>
          <p:cNvPr name="Group 9" id="9"/>
          <p:cNvGrpSpPr/>
          <p:nvPr/>
        </p:nvGrpSpPr>
        <p:grpSpPr>
          <a:xfrm rot="0">
            <a:off x="14860905" y="9240216"/>
            <a:ext cx="188568" cy="18856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10"/>
                </a:lnSpc>
              </a:pPr>
            </a:p>
          </p:txBody>
        </p:sp>
      </p:grpSp>
      <p:sp>
        <p:nvSpPr>
          <p:cNvPr name="TextBox 12" id="12"/>
          <p:cNvSpPr txBox="true"/>
          <p:nvPr/>
        </p:nvSpPr>
        <p:spPr>
          <a:xfrm rot="0">
            <a:off x="1751238" y="351604"/>
            <a:ext cx="14306797" cy="941241"/>
          </a:xfrm>
          <a:prstGeom prst="rect">
            <a:avLst/>
          </a:prstGeom>
        </p:spPr>
        <p:txBody>
          <a:bodyPr anchor="t" rtlCol="false" tIns="0" lIns="0" bIns="0" rIns="0">
            <a:spAutoFit/>
          </a:bodyPr>
          <a:lstStyle/>
          <a:p>
            <a:pPr algn="l">
              <a:lnSpc>
                <a:spcPts val="7300"/>
              </a:lnSpc>
            </a:pPr>
            <a:r>
              <a:rPr lang="en-US" sz="6134">
                <a:solidFill>
                  <a:srgbClr val="FFFFFF"/>
                </a:solidFill>
                <a:latin typeface="Ovo"/>
                <a:ea typeface="Ovo"/>
                <a:cs typeface="Ovo"/>
                <a:sym typeface="Ovo"/>
              </a:rPr>
              <a:t>ANAMOLY AND FRAUD DETECTION</a:t>
            </a:r>
          </a:p>
        </p:txBody>
      </p:sp>
      <p:sp>
        <p:nvSpPr>
          <p:cNvPr name="TextBox 13" id="13"/>
          <p:cNvSpPr txBox="true"/>
          <p:nvPr/>
        </p:nvSpPr>
        <p:spPr>
          <a:xfrm rot="0">
            <a:off x="1332366" y="1761554"/>
            <a:ext cx="16108113" cy="6937839"/>
          </a:xfrm>
          <a:prstGeom prst="rect">
            <a:avLst/>
          </a:prstGeom>
        </p:spPr>
        <p:txBody>
          <a:bodyPr anchor="t" rtlCol="false" tIns="0" lIns="0" bIns="0" rIns="0">
            <a:spAutoFit/>
          </a:bodyPr>
          <a:lstStyle/>
          <a:p>
            <a:pPr algn="l">
              <a:lnSpc>
                <a:spcPts val="4588"/>
              </a:lnSpc>
            </a:pPr>
            <a:r>
              <a:rPr lang="en-US" sz="2839">
                <a:solidFill>
                  <a:srgbClr val="FFFFFF"/>
                </a:solidFill>
                <a:latin typeface="Ovo"/>
                <a:ea typeface="Ovo"/>
                <a:cs typeface="Ovo"/>
                <a:sym typeface="Ovo"/>
              </a:rPr>
              <a:t>Techniques Used for Fraud Detection:</a:t>
            </a:r>
          </a:p>
          <a:p>
            <a:pPr algn="l" marL="613015" indent="-306507" lvl="1">
              <a:lnSpc>
                <a:spcPts val="4588"/>
              </a:lnSpc>
              <a:buFont typeface="Arial"/>
              <a:buChar char="•"/>
            </a:pPr>
            <a:r>
              <a:rPr lang="en-US" sz="2839">
                <a:solidFill>
                  <a:srgbClr val="FFFFFF"/>
                </a:solidFill>
                <a:latin typeface="Ovo"/>
                <a:ea typeface="Ovo"/>
                <a:cs typeface="Ovo"/>
                <a:sym typeface="Ovo"/>
              </a:rPr>
              <a:t>Behavioral Analysis: Monitoring user behavior to detect inconsistencies (e.g., different typing speeds, mouse movements).</a:t>
            </a:r>
          </a:p>
          <a:p>
            <a:pPr algn="l" marL="613015" indent="-306507" lvl="1">
              <a:lnSpc>
                <a:spcPts val="4588"/>
              </a:lnSpc>
              <a:buFont typeface="Arial"/>
              <a:buChar char="•"/>
            </a:pPr>
            <a:r>
              <a:rPr lang="en-US" sz="2839">
                <a:solidFill>
                  <a:srgbClr val="FFFFFF"/>
                </a:solidFill>
                <a:latin typeface="Ovo"/>
                <a:ea typeface="Ovo"/>
                <a:cs typeface="Ovo"/>
                <a:sym typeface="Ovo"/>
              </a:rPr>
              <a:t>Machine Learning Models:</a:t>
            </a:r>
          </a:p>
          <a:p>
            <a:pPr algn="l" marL="1226030" indent="-408677" lvl="2">
              <a:lnSpc>
                <a:spcPts val="4588"/>
              </a:lnSpc>
              <a:buFont typeface="Arial"/>
              <a:buChar char="⚬"/>
            </a:pPr>
            <a:r>
              <a:rPr lang="en-US" sz="2839">
                <a:solidFill>
                  <a:srgbClr val="FFFFFF"/>
                </a:solidFill>
                <a:latin typeface="Ovo"/>
                <a:ea typeface="Ovo"/>
                <a:cs typeface="Ovo"/>
                <a:sym typeface="Ovo"/>
              </a:rPr>
              <a:t>Decision trees, neural networks, or ensemble models (like Random Forest) trained on labeled fraud datasets.</a:t>
            </a:r>
          </a:p>
          <a:p>
            <a:pPr algn="l" marL="613015" indent="-306507" lvl="1">
              <a:lnSpc>
                <a:spcPts val="4588"/>
              </a:lnSpc>
              <a:buFont typeface="Arial"/>
              <a:buChar char="•"/>
            </a:pPr>
            <a:r>
              <a:rPr lang="en-US" sz="2839">
                <a:solidFill>
                  <a:srgbClr val="FFFFFF"/>
                </a:solidFill>
                <a:latin typeface="Ovo"/>
                <a:ea typeface="Ovo"/>
                <a:cs typeface="Ovo"/>
                <a:sym typeface="Ovo"/>
              </a:rPr>
              <a:t>Graph Analysis: Analyzing relationships and connections to identify suspicious activity, such as account takeover attempts.</a:t>
            </a:r>
          </a:p>
          <a:p>
            <a:pPr algn="l" marL="613015" indent="-306507" lvl="1">
              <a:lnSpc>
                <a:spcPts val="4588"/>
              </a:lnSpc>
              <a:buFont typeface="Arial"/>
              <a:buChar char="•"/>
            </a:pPr>
            <a:r>
              <a:rPr lang="en-US" sz="2839">
                <a:solidFill>
                  <a:srgbClr val="FFFFFF"/>
                </a:solidFill>
                <a:latin typeface="Ovo"/>
                <a:ea typeface="Ovo"/>
                <a:cs typeface="Ovo"/>
                <a:sym typeface="Ovo"/>
              </a:rPr>
              <a:t>Pattern Matching: Comparing activities against known fraud signatures or blacklisted behavior.</a:t>
            </a:r>
          </a:p>
          <a:p>
            <a:pPr algn="l" marL="613015" indent="-306507" lvl="1">
              <a:lnSpc>
                <a:spcPts val="4588"/>
              </a:lnSpc>
              <a:buFont typeface="Arial"/>
              <a:buChar char="•"/>
            </a:pPr>
            <a:r>
              <a:rPr lang="en-US" sz="2839">
                <a:solidFill>
                  <a:srgbClr val="FFFFFF"/>
                </a:solidFill>
                <a:latin typeface="Ovo"/>
                <a:ea typeface="Ovo"/>
                <a:cs typeface="Ovo"/>
                <a:sym typeface="Ovo"/>
              </a:rPr>
              <a:t>Real-Time Detection: Employing systems to flag fraudulent activities as they occur, like monitoring transactions in banking.</a:t>
            </a:r>
          </a:p>
          <a:p>
            <a:pPr algn="l">
              <a:lnSpc>
                <a:spcPts val="4588"/>
              </a:lnSpc>
            </a:pP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D1C54">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5550586" y="2446540"/>
            <a:ext cx="7186829" cy="5393920"/>
          </a:xfrm>
          <a:custGeom>
            <a:avLst/>
            <a:gdLst/>
            <a:ahLst/>
            <a:cxnLst/>
            <a:rect r="r" b="b" t="t" l="l"/>
            <a:pathLst>
              <a:path h="5393920" w="7186829">
                <a:moveTo>
                  <a:pt x="0" y="0"/>
                </a:moveTo>
                <a:lnTo>
                  <a:pt x="7186828" y="0"/>
                </a:lnTo>
                <a:lnTo>
                  <a:pt x="7186828" y="5393920"/>
                </a:lnTo>
                <a:lnTo>
                  <a:pt x="0" y="5393920"/>
                </a:lnTo>
                <a:lnTo>
                  <a:pt x="0" y="0"/>
                </a:lnTo>
                <a:close/>
              </a:path>
            </a:pathLst>
          </a:custGeom>
          <a:blipFill>
            <a:blip r:embed="rId2"/>
            <a:stretch>
              <a:fillRect l="0" t="0" r="0" b="0"/>
            </a:stretch>
          </a:blipFill>
        </p:spPr>
      </p:sp>
      <p:sp>
        <p:nvSpPr>
          <p:cNvPr name="Freeform 3" id="3"/>
          <p:cNvSpPr/>
          <p:nvPr/>
        </p:nvSpPr>
        <p:spPr>
          <a:xfrm flipH="false" flipV="false" rot="0">
            <a:off x="0" y="-119673"/>
            <a:ext cx="18288000" cy="10888763"/>
          </a:xfrm>
          <a:custGeom>
            <a:avLst/>
            <a:gdLst/>
            <a:ahLst/>
            <a:cxnLst/>
            <a:rect r="r" b="b" t="t" l="l"/>
            <a:pathLst>
              <a:path h="10888763" w="18288000">
                <a:moveTo>
                  <a:pt x="0" y="0"/>
                </a:moveTo>
                <a:lnTo>
                  <a:pt x="18288000" y="0"/>
                </a:lnTo>
                <a:lnTo>
                  <a:pt x="18288000" y="10888763"/>
                </a:lnTo>
                <a:lnTo>
                  <a:pt x="0" y="10888763"/>
                </a:lnTo>
                <a:lnTo>
                  <a:pt x="0" y="0"/>
                </a:lnTo>
                <a:close/>
              </a:path>
            </a:pathLst>
          </a:custGeom>
          <a:blipFill>
            <a:blip r:embed="rId3"/>
            <a:stretch>
              <a:fillRect l="0" t="-1664" r="0" b="-1664"/>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DAGXwoXC_SQ</dc:identifier>
  <dcterms:modified xsi:type="dcterms:W3CDTF">2011-08-01T06:04:30Z</dcterms:modified>
  <cp:revision>1</cp:revision>
  <dc:title>Decision Support &amp; Intelligent System</dc:title>
</cp:coreProperties>
</file>